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80"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7" r:id="rId22"/>
    <p:sldId id="278" r:id="rId23"/>
    <p:sldId id="279" r:id="rId24"/>
    <p:sldId id="275" r:id="rId25"/>
    <p:sldId id="276"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534207F-BE4C-41C1-B782-63F8924CC7CB}">
          <p14:sldIdLst>
            <p14:sldId id="256"/>
            <p14:sldId id="257"/>
            <p14:sldId id="258"/>
            <p14:sldId id="259"/>
            <p14:sldId id="280"/>
            <p14:sldId id="260"/>
            <p14:sldId id="261"/>
            <p14:sldId id="262"/>
            <p14:sldId id="263"/>
            <p14:sldId id="264"/>
            <p14:sldId id="265"/>
            <p14:sldId id="266"/>
            <p14:sldId id="267"/>
            <p14:sldId id="268"/>
            <p14:sldId id="269"/>
            <p14:sldId id="270"/>
            <p14:sldId id="271"/>
            <p14:sldId id="272"/>
            <p14:sldId id="273"/>
            <p14:sldId id="274"/>
            <p14:sldId id="277"/>
            <p14:sldId id="278"/>
          </p14:sldIdLst>
        </p14:section>
        <p14:section name="Defender for Cloud Detections" id="{B8BEFA3E-B265-4E93-A1A0-002367FE8B82}">
          <p14:sldIdLst>
            <p14:sldId id="279"/>
            <p14:sldId id="275"/>
            <p14:sldId id="276"/>
            <p14:sldId id="281"/>
            <p14:sldId id="282"/>
            <p14:sldId id="283"/>
            <p14:sldId id="284"/>
          </p14:sldIdLst>
        </p14:section>
        <p14:section name="BLUE TEAM (SOC) - DETECTION &amp; RESPONSE WORKFLOWS" id="{766A257B-F844-41DB-B983-5850B16EA476}">
          <p14:sldIdLst>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190" autoAdjust="0"/>
    <p:restoredTop sz="94660"/>
  </p:normalViewPr>
  <p:slideViewPr>
    <p:cSldViewPr snapToGrid="0">
      <p:cViewPr varScale="1">
        <p:scale>
          <a:sx n="62" d="100"/>
          <a:sy n="62" d="100"/>
        </p:scale>
        <p:origin x="47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deep j0352" userId="3443e0e081d049d0" providerId="LiveId" clId="{053DA97C-7BD3-428F-8ABF-39E64F20E07B}"/>
    <pc:docChg chg="undo custSel addSld modSld">
      <pc:chgData name="sandeep j0352" userId="3443e0e081d049d0" providerId="LiveId" clId="{053DA97C-7BD3-428F-8ABF-39E64F20E07B}" dt="2025-03-27T18:00:52.344" v="844" actId="20577"/>
      <pc:docMkLst>
        <pc:docMk/>
      </pc:docMkLst>
      <pc:sldChg chg="modSp mod">
        <pc:chgData name="sandeep j0352" userId="3443e0e081d049d0" providerId="LiveId" clId="{053DA97C-7BD3-428F-8ABF-39E64F20E07B}" dt="2025-03-27T17:37:39.468" v="17" actId="20577"/>
        <pc:sldMkLst>
          <pc:docMk/>
          <pc:sldMk cId="17184099" sldId="256"/>
        </pc:sldMkLst>
        <pc:spChg chg="mod">
          <ac:chgData name="sandeep j0352" userId="3443e0e081d049d0" providerId="LiveId" clId="{053DA97C-7BD3-428F-8ABF-39E64F20E07B}" dt="2025-03-27T17:37:39.468" v="17" actId="20577"/>
          <ac:spMkLst>
            <pc:docMk/>
            <pc:sldMk cId="17184099" sldId="256"/>
            <ac:spMk id="3" creationId="{26B42C0A-471B-5E5B-E679-938751B35376}"/>
          </ac:spMkLst>
        </pc:spChg>
      </pc:sldChg>
      <pc:sldChg chg="addSp delSp modSp new mod">
        <pc:chgData name="sandeep j0352" userId="3443e0e081d049d0" providerId="LiveId" clId="{053DA97C-7BD3-428F-8ABF-39E64F20E07B}" dt="2025-03-27T18:00:52.344" v="844" actId="20577"/>
        <pc:sldMkLst>
          <pc:docMk/>
          <pc:sldMk cId="436321650" sldId="257"/>
        </pc:sldMkLst>
        <pc:spChg chg="del">
          <ac:chgData name="sandeep j0352" userId="3443e0e081d049d0" providerId="LiveId" clId="{053DA97C-7BD3-428F-8ABF-39E64F20E07B}" dt="2025-03-27T17:37:45.700" v="19" actId="478"/>
          <ac:spMkLst>
            <pc:docMk/>
            <pc:sldMk cId="436321650" sldId="257"/>
            <ac:spMk id="2" creationId="{EE51C1F9-6DD0-2719-6FA5-0A22F470E01B}"/>
          </ac:spMkLst>
        </pc:spChg>
        <pc:spChg chg="del">
          <ac:chgData name="sandeep j0352" userId="3443e0e081d049d0" providerId="LiveId" clId="{053DA97C-7BD3-428F-8ABF-39E64F20E07B}" dt="2025-03-27T17:37:46.690" v="20" actId="478"/>
          <ac:spMkLst>
            <pc:docMk/>
            <pc:sldMk cId="436321650" sldId="257"/>
            <ac:spMk id="3" creationId="{91E09BF7-CA7F-3753-647F-365457C3E9FC}"/>
          </ac:spMkLst>
        </pc:spChg>
        <pc:spChg chg="add del">
          <ac:chgData name="sandeep j0352" userId="3443e0e081d049d0" providerId="LiveId" clId="{053DA97C-7BD3-428F-8ABF-39E64F20E07B}" dt="2025-03-27T17:39:17.692" v="22" actId="22"/>
          <ac:spMkLst>
            <pc:docMk/>
            <pc:sldMk cId="436321650" sldId="257"/>
            <ac:spMk id="5" creationId="{B5E4826A-9BC6-06B7-40D2-B658B79323EA}"/>
          </ac:spMkLst>
        </pc:spChg>
        <pc:spChg chg="add mod">
          <ac:chgData name="sandeep j0352" userId="3443e0e081d049d0" providerId="LiveId" clId="{053DA97C-7BD3-428F-8ABF-39E64F20E07B}" dt="2025-03-27T17:41:59.415" v="90" actId="1076"/>
          <ac:spMkLst>
            <pc:docMk/>
            <pc:sldMk cId="436321650" sldId="257"/>
            <ac:spMk id="6" creationId="{4230ACAC-5B2A-0956-9559-CAFE8E1E1A44}"/>
          </ac:spMkLst>
        </pc:spChg>
        <pc:spChg chg="add del mod">
          <ac:chgData name="sandeep j0352" userId="3443e0e081d049d0" providerId="LiveId" clId="{053DA97C-7BD3-428F-8ABF-39E64F20E07B}" dt="2025-03-27T17:44:40.064" v="188" actId="478"/>
          <ac:spMkLst>
            <pc:docMk/>
            <pc:sldMk cId="436321650" sldId="257"/>
            <ac:spMk id="9" creationId="{EECA03AA-E562-E6A9-52DA-783FB291CC2E}"/>
          </ac:spMkLst>
        </pc:spChg>
        <pc:spChg chg="add del mod">
          <ac:chgData name="sandeep j0352" userId="3443e0e081d049d0" providerId="LiveId" clId="{053DA97C-7BD3-428F-8ABF-39E64F20E07B}" dt="2025-03-27T17:44:38.039" v="185" actId="478"/>
          <ac:spMkLst>
            <pc:docMk/>
            <pc:sldMk cId="436321650" sldId="257"/>
            <ac:spMk id="10" creationId="{120C6D2E-471F-4E1D-C28E-C7B578B2264B}"/>
          </ac:spMkLst>
        </pc:spChg>
        <pc:spChg chg="mod">
          <ac:chgData name="sandeep j0352" userId="3443e0e081d049d0" providerId="LiveId" clId="{053DA97C-7BD3-428F-8ABF-39E64F20E07B}" dt="2025-03-27T17:50:35.426" v="208" actId="1036"/>
          <ac:spMkLst>
            <pc:docMk/>
            <pc:sldMk cId="436321650" sldId="257"/>
            <ac:spMk id="11" creationId="{5410ADEE-9049-9F4B-64E8-F26AF293BCD7}"/>
          </ac:spMkLst>
        </pc:spChg>
        <pc:spChg chg="add mod">
          <ac:chgData name="sandeep j0352" userId="3443e0e081d049d0" providerId="LiveId" clId="{053DA97C-7BD3-428F-8ABF-39E64F20E07B}" dt="2025-03-27T17:50:35.426" v="208" actId="1036"/>
          <ac:spMkLst>
            <pc:docMk/>
            <pc:sldMk cId="436321650" sldId="257"/>
            <ac:spMk id="12" creationId="{52751B79-87F8-A8DF-6AD5-63F440F06FE9}"/>
          </ac:spMkLst>
        </pc:spChg>
        <pc:spChg chg="add mod">
          <ac:chgData name="sandeep j0352" userId="3443e0e081d049d0" providerId="LiveId" clId="{053DA97C-7BD3-428F-8ABF-39E64F20E07B}" dt="2025-03-27T17:50:35.426" v="208" actId="1036"/>
          <ac:spMkLst>
            <pc:docMk/>
            <pc:sldMk cId="436321650" sldId="257"/>
            <ac:spMk id="13" creationId="{4EA811B4-7302-B81C-0B6A-9379E841C923}"/>
          </ac:spMkLst>
        </pc:spChg>
        <pc:spChg chg="del">
          <ac:chgData name="sandeep j0352" userId="3443e0e081d049d0" providerId="LiveId" clId="{053DA97C-7BD3-428F-8ABF-39E64F20E07B}" dt="2025-03-27T17:44:32.879" v="181" actId="478"/>
          <ac:spMkLst>
            <pc:docMk/>
            <pc:sldMk cId="436321650" sldId="257"/>
            <ac:spMk id="14" creationId="{0E47C0AC-C1AE-C767-2543-B324F7362487}"/>
          </ac:spMkLst>
        </pc:spChg>
        <pc:spChg chg="add del mod">
          <ac:chgData name="sandeep j0352" userId="3443e0e081d049d0" providerId="LiveId" clId="{053DA97C-7BD3-428F-8ABF-39E64F20E07B}" dt="2025-03-27T17:44:34.585" v="182" actId="478"/>
          <ac:spMkLst>
            <pc:docMk/>
            <pc:sldMk cId="436321650" sldId="257"/>
            <ac:spMk id="15" creationId="{E6B43ED6-19F8-5549-886C-1E7518470B93}"/>
          </ac:spMkLst>
        </pc:spChg>
        <pc:spChg chg="add mod">
          <ac:chgData name="sandeep j0352" userId="3443e0e081d049d0" providerId="LiveId" clId="{053DA97C-7BD3-428F-8ABF-39E64F20E07B}" dt="2025-03-27T17:50:35.426" v="208" actId="1036"/>
          <ac:spMkLst>
            <pc:docMk/>
            <pc:sldMk cId="436321650" sldId="257"/>
            <ac:spMk id="16" creationId="{C5378539-3067-4837-34CF-D4F24D754BFB}"/>
          </ac:spMkLst>
        </pc:spChg>
        <pc:spChg chg="add del mod">
          <ac:chgData name="sandeep j0352" userId="3443e0e081d049d0" providerId="LiveId" clId="{053DA97C-7BD3-428F-8ABF-39E64F20E07B}" dt="2025-03-27T17:44:41.416" v="189" actId="478"/>
          <ac:spMkLst>
            <pc:docMk/>
            <pc:sldMk cId="436321650" sldId="257"/>
            <ac:spMk id="21" creationId="{EF5F4508-E45F-D085-02A3-A4551B678648}"/>
          </ac:spMkLst>
        </pc:spChg>
        <pc:spChg chg="del mod">
          <ac:chgData name="sandeep j0352" userId="3443e0e081d049d0" providerId="LiveId" clId="{053DA97C-7BD3-428F-8ABF-39E64F20E07B}" dt="2025-03-27T17:44:35.779" v="183" actId="478"/>
          <ac:spMkLst>
            <pc:docMk/>
            <pc:sldMk cId="436321650" sldId="257"/>
            <ac:spMk id="22" creationId="{24A6B4C3-2E4D-9060-7B51-36B5B556F957}"/>
          </ac:spMkLst>
        </pc:spChg>
        <pc:spChg chg="del">
          <ac:chgData name="sandeep j0352" userId="3443e0e081d049d0" providerId="LiveId" clId="{053DA97C-7BD3-428F-8ABF-39E64F20E07B}" dt="2025-03-27T17:40:32.822" v="27" actId="478"/>
          <ac:spMkLst>
            <pc:docMk/>
            <pc:sldMk cId="436321650" sldId="257"/>
            <ac:spMk id="26" creationId="{43A34901-55D4-DC8B-B70A-A9EAE42E18C7}"/>
          </ac:spMkLst>
        </pc:spChg>
        <pc:spChg chg="add del mod">
          <ac:chgData name="sandeep j0352" userId="3443e0e081d049d0" providerId="LiveId" clId="{053DA97C-7BD3-428F-8ABF-39E64F20E07B}" dt="2025-03-27T17:42:06.530" v="95" actId="478"/>
          <ac:spMkLst>
            <pc:docMk/>
            <pc:sldMk cId="436321650" sldId="257"/>
            <ac:spMk id="27" creationId="{66FCB314-60A2-FB11-B9AF-88979675E3D0}"/>
          </ac:spMkLst>
        </pc:spChg>
        <pc:spChg chg="add del mod">
          <ac:chgData name="sandeep j0352" userId="3443e0e081d049d0" providerId="LiveId" clId="{053DA97C-7BD3-428F-8ABF-39E64F20E07B}" dt="2025-03-27T17:42:05.256" v="94" actId="478"/>
          <ac:spMkLst>
            <pc:docMk/>
            <pc:sldMk cId="436321650" sldId="257"/>
            <ac:spMk id="28" creationId="{128F8B74-48E8-BBF7-4E05-678EE207438B}"/>
          </ac:spMkLst>
        </pc:spChg>
        <pc:spChg chg="del mod">
          <ac:chgData name="sandeep j0352" userId="3443e0e081d049d0" providerId="LiveId" clId="{053DA97C-7BD3-428F-8ABF-39E64F20E07B}" dt="2025-03-27T17:40:26.703" v="25" actId="478"/>
          <ac:spMkLst>
            <pc:docMk/>
            <pc:sldMk cId="436321650" sldId="257"/>
            <ac:spMk id="29" creationId="{B0447B01-E269-59F0-CF1F-A8DB407B1DED}"/>
          </ac:spMkLst>
        </pc:spChg>
        <pc:spChg chg="mod">
          <ac:chgData name="sandeep j0352" userId="3443e0e081d049d0" providerId="LiveId" clId="{053DA97C-7BD3-428F-8ABF-39E64F20E07B}" dt="2025-03-27T17:50:35.426" v="208" actId="1036"/>
          <ac:spMkLst>
            <pc:docMk/>
            <pc:sldMk cId="436321650" sldId="257"/>
            <ac:spMk id="30" creationId="{D84E9131-CD3C-3190-75F1-13894287E9BA}"/>
          </ac:spMkLst>
        </pc:spChg>
        <pc:spChg chg="mod">
          <ac:chgData name="sandeep j0352" userId="3443e0e081d049d0" providerId="LiveId" clId="{053DA97C-7BD3-428F-8ABF-39E64F20E07B}" dt="2025-03-27T17:50:35.426" v="208" actId="1036"/>
          <ac:spMkLst>
            <pc:docMk/>
            <pc:sldMk cId="436321650" sldId="257"/>
            <ac:spMk id="31" creationId="{46C08890-B983-36B4-E759-9F1FBCA88EED}"/>
          </ac:spMkLst>
        </pc:spChg>
        <pc:spChg chg="add mod">
          <ac:chgData name="sandeep j0352" userId="3443e0e081d049d0" providerId="LiveId" clId="{053DA97C-7BD3-428F-8ABF-39E64F20E07B}" dt="2025-03-27T17:51:39.874" v="318" actId="14100"/>
          <ac:spMkLst>
            <pc:docMk/>
            <pc:sldMk cId="436321650" sldId="257"/>
            <ac:spMk id="49" creationId="{376AB10F-21CD-0350-9796-987029D27346}"/>
          </ac:spMkLst>
        </pc:spChg>
        <pc:spChg chg="add mod">
          <ac:chgData name="sandeep j0352" userId="3443e0e081d049d0" providerId="LiveId" clId="{053DA97C-7BD3-428F-8ABF-39E64F20E07B}" dt="2025-03-27T17:58:59.087" v="545" actId="20577"/>
          <ac:spMkLst>
            <pc:docMk/>
            <pc:sldMk cId="436321650" sldId="257"/>
            <ac:spMk id="50" creationId="{605EB557-8E7B-1419-A417-CAA6DBD967BE}"/>
          </ac:spMkLst>
        </pc:spChg>
        <pc:spChg chg="add mod">
          <ac:chgData name="sandeep j0352" userId="3443e0e081d049d0" providerId="LiveId" clId="{053DA97C-7BD3-428F-8ABF-39E64F20E07B}" dt="2025-03-27T18:00:52.344" v="844" actId="20577"/>
          <ac:spMkLst>
            <pc:docMk/>
            <pc:sldMk cId="436321650" sldId="257"/>
            <ac:spMk id="51" creationId="{B590645C-1AD3-AEB1-B551-B30188250856}"/>
          </ac:spMkLst>
        </pc:spChg>
        <pc:picChg chg="del">
          <ac:chgData name="sandeep j0352" userId="3443e0e081d049d0" providerId="LiveId" clId="{053DA97C-7BD3-428F-8ABF-39E64F20E07B}" dt="2025-03-27T17:44:36.958" v="184" actId="478"/>
          <ac:picMkLst>
            <pc:docMk/>
            <pc:sldMk cId="436321650" sldId="257"/>
            <ac:picMk id="7" creationId="{DAD5EC02-1A4C-7F90-8134-D9217F284524}"/>
          </ac:picMkLst>
        </pc:picChg>
        <pc:picChg chg="del">
          <ac:chgData name="sandeep j0352" userId="3443e0e081d049d0" providerId="LiveId" clId="{053DA97C-7BD3-428F-8ABF-39E64F20E07B}" dt="2025-03-27T17:44:38.769" v="186" actId="478"/>
          <ac:picMkLst>
            <pc:docMk/>
            <pc:sldMk cId="436321650" sldId="257"/>
            <ac:picMk id="8" creationId="{87476BC0-40B0-9E3A-0660-53AE7A11E3BA}"/>
          </ac:picMkLst>
        </pc:picChg>
        <pc:picChg chg="mod">
          <ac:chgData name="sandeep j0352" userId="3443e0e081d049d0" providerId="LiveId" clId="{053DA97C-7BD3-428F-8ABF-39E64F20E07B}" dt="2025-03-27T17:50:39.292" v="209" actId="1076"/>
          <ac:picMkLst>
            <pc:docMk/>
            <pc:sldMk cId="436321650" sldId="257"/>
            <ac:picMk id="23" creationId="{E72628E4-ACD1-8A70-CEB2-C20CFF2492B8}"/>
          </ac:picMkLst>
        </pc:picChg>
        <pc:picChg chg="del">
          <ac:chgData name="sandeep j0352" userId="3443e0e081d049d0" providerId="LiveId" clId="{053DA97C-7BD3-428F-8ABF-39E64F20E07B}" dt="2025-03-27T17:42:03.681" v="93" actId="478"/>
          <ac:picMkLst>
            <pc:docMk/>
            <pc:sldMk cId="436321650" sldId="257"/>
            <ac:picMk id="24" creationId="{7ABB0EF9-53E7-5AC3-1914-C231F80E7E96}"/>
          </ac:picMkLst>
        </pc:picChg>
        <pc:picChg chg="del">
          <ac:chgData name="sandeep j0352" userId="3443e0e081d049d0" providerId="LiveId" clId="{053DA97C-7BD3-428F-8ABF-39E64F20E07B}" dt="2025-03-27T17:42:01.975" v="91" actId="478"/>
          <ac:picMkLst>
            <pc:docMk/>
            <pc:sldMk cId="436321650" sldId="257"/>
            <ac:picMk id="25" creationId="{68B9DF51-3199-FFCE-B312-94B80EB3FBCC}"/>
          </ac:picMkLst>
        </pc:picChg>
        <pc:cxnChg chg="mod">
          <ac:chgData name="sandeep j0352" userId="3443e0e081d049d0" providerId="LiveId" clId="{053DA97C-7BD3-428F-8ABF-39E64F20E07B}" dt="2025-03-27T17:50:35.426" v="208" actId="1036"/>
          <ac:cxnSpMkLst>
            <pc:docMk/>
            <pc:sldMk cId="436321650" sldId="257"/>
            <ac:cxnSpMk id="17" creationId="{CD0E1858-F026-685A-455B-EB5A41EE5DA6}"/>
          </ac:cxnSpMkLst>
        </pc:cxnChg>
        <pc:cxnChg chg="mod">
          <ac:chgData name="sandeep j0352" userId="3443e0e081d049d0" providerId="LiveId" clId="{053DA97C-7BD3-428F-8ABF-39E64F20E07B}" dt="2025-03-27T17:50:35.426" v="208" actId="1036"/>
          <ac:cxnSpMkLst>
            <pc:docMk/>
            <pc:sldMk cId="436321650" sldId="257"/>
            <ac:cxnSpMk id="18" creationId="{CED98664-031D-F7EE-D430-74A02DE9F3B8}"/>
          </ac:cxnSpMkLst>
        </pc:cxnChg>
        <pc:cxnChg chg="mod">
          <ac:chgData name="sandeep j0352" userId="3443e0e081d049d0" providerId="LiveId" clId="{053DA97C-7BD3-428F-8ABF-39E64F20E07B}" dt="2025-03-27T17:44:07.836" v="171" actId="1076"/>
          <ac:cxnSpMkLst>
            <pc:docMk/>
            <pc:sldMk cId="436321650" sldId="257"/>
            <ac:cxnSpMk id="19" creationId="{2E704644-DC13-A3CF-B943-68BD7D7F9CE3}"/>
          </ac:cxnSpMkLst>
        </pc:cxnChg>
        <pc:cxnChg chg="mod">
          <ac:chgData name="sandeep j0352" userId="3443e0e081d049d0" providerId="LiveId" clId="{053DA97C-7BD3-428F-8ABF-39E64F20E07B}" dt="2025-03-27T17:50:35.426" v="208" actId="1036"/>
          <ac:cxnSpMkLst>
            <pc:docMk/>
            <pc:sldMk cId="436321650" sldId="257"/>
            <ac:cxnSpMk id="20" creationId="{2FAC5AD8-8351-C9F6-3665-F2E461140207}"/>
          </ac:cxnSpMkLst>
        </pc:cxnChg>
        <pc:cxnChg chg="add mod">
          <ac:chgData name="sandeep j0352" userId="3443e0e081d049d0" providerId="LiveId" clId="{053DA97C-7BD3-428F-8ABF-39E64F20E07B}" dt="2025-03-27T17:50:35.426" v="208" actId="1036"/>
          <ac:cxnSpMkLst>
            <pc:docMk/>
            <pc:sldMk cId="436321650" sldId="257"/>
            <ac:cxnSpMk id="46" creationId="{99D12AD4-9A9D-99FD-CC27-F46B8B6C7D7B}"/>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D7C0B-1F23-A92F-1FD5-124CBBF5CD0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6D0B612-549E-8043-2C35-C7B56383A6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0485F16-1F81-4E21-6A3D-5D8DAD9198D7}"/>
              </a:ext>
            </a:extLst>
          </p:cNvPr>
          <p:cNvSpPr>
            <a:spLocks noGrp="1"/>
          </p:cNvSpPr>
          <p:nvPr>
            <p:ph type="dt" sz="half" idx="10"/>
          </p:nvPr>
        </p:nvSpPr>
        <p:spPr/>
        <p:txBody>
          <a:bodyPr/>
          <a:lstStyle/>
          <a:p>
            <a:fld id="{0999FC94-A640-4849-A27D-090DA04AC900}" type="datetimeFigureOut">
              <a:rPr lang="en-IN" smtClean="0"/>
              <a:t>03-03-2026</a:t>
            </a:fld>
            <a:endParaRPr lang="en-IN"/>
          </a:p>
        </p:txBody>
      </p:sp>
      <p:sp>
        <p:nvSpPr>
          <p:cNvPr id="5" name="Footer Placeholder 4">
            <a:extLst>
              <a:ext uri="{FF2B5EF4-FFF2-40B4-BE49-F238E27FC236}">
                <a16:creationId xmlns:a16="http://schemas.microsoft.com/office/drawing/2014/main" id="{33D372C5-3072-A6DF-D7E4-6FDCF0B779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BAAC9E-2173-4A0F-DF2D-9D922FDEC623}"/>
              </a:ext>
            </a:extLst>
          </p:cNvPr>
          <p:cNvSpPr>
            <a:spLocks noGrp="1"/>
          </p:cNvSpPr>
          <p:nvPr>
            <p:ph type="sldNum" sz="quarter" idx="12"/>
          </p:nvPr>
        </p:nvSpPr>
        <p:spPr/>
        <p:txBody>
          <a:bodyPr/>
          <a:lstStyle/>
          <a:p>
            <a:fld id="{FA80D5EA-0BB1-462C-87E0-8F33E88494E0}" type="slidenum">
              <a:rPr lang="en-IN" smtClean="0"/>
              <a:t>‹#›</a:t>
            </a:fld>
            <a:endParaRPr lang="en-IN"/>
          </a:p>
        </p:txBody>
      </p:sp>
    </p:spTree>
    <p:extLst>
      <p:ext uri="{BB962C8B-B14F-4D97-AF65-F5344CB8AC3E}">
        <p14:creationId xmlns:p14="http://schemas.microsoft.com/office/powerpoint/2010/main" val="37333711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173CD-F588-553D-9ABC-DFC71D13DA4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8CE2453-F57C-0070-BAAE-9566E049E2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439D32-A1FC-627D-03F3-44A74C033F87}"/>
              </a:ext>
            </a:extLst>
          </p:cNvPr>
          <p:cNvSpPr>
            <a:spLocks noGrp="1"/>
          </p:cNvSpPr>
          <p:nvPr>
            <p:ph type="dt" sz="half" idx="10"/>
          </p:nvPr>
        </p:nvSpPr>
        <p:spPr/>
        <p:txBody>
          <a:bodyPr/>
          <a:lstStyle/>
          <a:p>
            <a:fld id="{0999FC94-A640-4849-A27D-090DA04AC900}" type="datetimeFigureOut">
              <a:rPr lang="en-IN" smtClean="0"/>
              <a:t>03-03-2026</a:t>
            </a:fld>
            <a:endParaRPr lang="en-IN"/>
          </a:p>
        </p:txBody>
      </p:sp>
      <p:sp>
        <p:nvSpPr>
          <p:cNvPr id="5" name="Footer Placeholder 4">
            <a:extLst>
              <a:ext uri="{FF2B5EF4-FFF2-40B4-BE49-F238E27FC236}">
                <a16:creationId xmlns:a16="http://schemas.microsoft.com/office/drawing/2014/main" id="{67F323F3-9156-7F34-D6E9-E3322995E0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7B083C-A673-E4C2-CAE0-75BAAF30BCC6}"/>
              </a:ext>
            </a:extLst>
          </p:cNvPr>
          <p:cNvSpPr>
            <a:spLocks noGrp="1"/>
          </p:cNvSpPr>
          <p:nvPr>
            <p:ph type="sldNum" sz="quarter" idx="12"/>
          </p:nvPr>
        </p:nvSpPr>
        <p:spPr/>
        <p:txBody>
          <a:bodyPr/>
          <a:lstStyle/>
          <a:p>
            <a:fld id="{FA80D5EA-0BB1-462C-87E0-8F33E88494E0}" type="slidenum">
              <a:rPr lang="en-IN" smtClean="0"/>
              <a:t>‹#›</a:t>
            </a:fld>
            <a:endParaRPr lang="en-IN"/>
          </a:p>
        </p:txBody>
      </p:sp>
    </p:spTree>
    <p:extLst>
      <p:ext uri="{BB962C8B-B14F-4D97-AF65-F5344CB8AC3E}">
        <p14:creationId xmlns:p14="http://schemas.microsoft.com/office/powerpoint/2010/main" val="147879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FCAAE-59C5-AD6D-13B5-61C794BE8C7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51FE559-A701-6ACA-901F-44903DFA930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2AD108-E468-637D-728F-4F02C978B840}"/>
              </a:ext>
            </a:extLst>
          </p:cNvPr>
          <p:cNvSpPr>
            <a:spLocks noGrp="1"/>
          </p:cNvSpPr>
          <p:nvPr>
            <p:ph type="dt" sz="half" idx="10"/>
          </p:nvPr>
        </p:nvSpPr>
        <p:spPr/>
        <p:txBody>
          <a:bodyPr/>
          <a:lstStyle/>
          <a:p>
            <a:fld id="{0999FC94-A640-4849-A27D-090DA04AC900}" type="datetimeFigureOut">
              <a:rPr lang="en-IN" smtClean="0"/>
              <a:t>03-03-2026</a:t>
            </a:fld>
            <a:endParaRPr lang="en-IN"/>
          </a:p>
        </p:txBody>
      </p:sp>
      <p:sp>
        <p:nvSpPr>
          <p:cNvPr id="5" name="Footer Placeholder 4">
            <a:extLst>
              <a:ext uri="{FF2B5EF4-FFF2-40B4-BE49-F238E27FC236}">
                <a16:creationId xmlns:a16="http://schemas.microsoft.com/office/drawing/2014/main" id="{A1658B8F-2C6A-3BF9-0998-A3E544E6A1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C7D3F8-9036-3984-627D-B55FAFE6744D}"/>
              </a:ext>
            </a:extLst>
          </p:cNvPr>
          <p:cNvSpPr>
            <a:spLocks noGrp="1"/>
          </p:cNvSpPr>
          <p:nvPr>
            <p:ph type="sldNum" sz="quarter" idx="12"/>
          </p:nvPr>
        </p:nvSpPr>
        <p:spPr/>
        <p:txBody>
          <a:bodyPr/>
          <a:lstStyle/>
          <a:p>
            <a:fld id="{FA80D5EA-0BB1-462C-87E0-8F33E88494E0}" type="slidenum">
              <a:rPr lang="en-IN" smtClean="0"/>
              <a:t>‹#›</a:t>
            </a:fld>
            <a:endParaRPr lang="en-IN"/>
          </a:p>
        </p:txBody>
      </p:sp>
    </p:spTree>
    <p:extLst>
      <p:ext uri="{BB962C8B-B14F-4D97-AF65-F5344CB8AC3E}">
        <p14:creationId xmlns:p14="http://schemas.microsoft.com/office/powerpoint/2010/main" val="21163601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395A4-4F41-9911-5418-B9CFD4DF873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6E841A4-944E-F1A4-E75D-FC9C3B1CF94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9D9ECB5-969F-2333-52A5-C2758FB345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C168E87-12A8-396C-169D-AC785BA99CEF}"/>
              </a:ext>
            </a:extLst>
          </p:cNvPr>
          <p:cNvSpPr>
            <a:spLocks noGrp="1"/>
          </p:cNvSpPr>
          <p:nvPr>
            <p:ph type="dt" sz="half" idx="10"/>
          </p:nvPr>
        </p:nvSpPr>
        <p:spPr/>
        <p:txBody>
          <a:bodyPr/>
          <a:lstStyle/>
          <a:p>
            <a:fld id="{0999FC94-A640-4849-A27D-090DA04AC900}" type="datetimeFigureOut">
              <a:rPr lang="en-IN" smtClean="0"/>
              <a:t>03-03-2026</a:t>
            </a:fld>
            <a:endParaRPr lang="en-IN"/>
          </a:p>
        </p:txBody>
      </p:sp>
      <p:sp>
        <p:nvSpPr>
          <p:cNvPr id="6" name="Footer Placeholder 5">
            <a:extLst>
              <a:ext uri="{FF2B5EF4-FFF2-40B4-BE49-F238E27FC236}">
                <a16:creationId xmlns:a16="http://schemas.microsoft.com/office/drawing/2014/main" id="{DDF26627-895D-CFE6-2BDE-79634B2CB30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A62C052-D5A9-010A-0693-1635222DE416}"/>
              </a:ext>
            </a:extLst>
          </p:cNvPr>
          <p:cNvSpPr>
            <a:spLocks noGrp="1"/>
          </p:cNvSpPr>
          <p:nvPr>
            <p:ph type="sldNum" sz="quarter" idx="12"/>
          </p:nvPr>
        </p:nvSpPr>
        <p:spPr/>
        <p:txBody>
          <a:bodyPr/>
          <a:lstStyle/>
          <a:p>
            <a:fld id="{FA80D5EA-0BB1-462C-87E0-8F33E88494E0}" type="slidenum">
              <a:rPr lang="en-IN" smtClean="0"/>
              <a:t>‹#›</a:t>
            </a:fld>
            <a:endParaRPr lang="en-IN"/>
          </a:p>
        </p:txBody>
      </p:sp>
    </p:spTree>
    <p:extLst>
      <p:ext uri="{BB962C8B-B14F-4D97-AF65-F5344CB8AC3E}">
        <p14:creationId xmlns:p14="http://schemas.microsoft.com/office/powerpoint/2010/main" val="16439733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7FB9D-BF8A-ECD8-984D-D720A2394BB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E040DD-F6D2-96D3-C44D-5864A68DC7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1D944DE-4781-02ED-3C4C-D5A6E33A2B2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62D9251-4C29-298A-A5EF-25E50EB1525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CD736B-5398-5136-C426-9EBAD1131EB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FB9BA93-0E7E-4FCA-6ACF-DF8AE3954174}"/>
              </a:ext>
            </a:extLst>
          </p:cNvPr>
          <p:cNvSpPr>
            <a:spLocks noGrp="1"/>
          </p:cNvSpPr>
          <p:nvPr>
            <p:ph type="dt" sz="half" idx="10"/>
          </p:nvPr>
        </p:nvSpPr>
        <p:spPr/>
        <p:txBody>
          <a:bodyPr/>
          <a:lstStyle/>
          <a:p>
            <a:fld id="{0999FC94-A640-4849-A27D-090DA04AC900}" type="datetimeFigureOut">
              <a:rPr lang="en-IN" smtClean="0"/>
              <a:t>03-03-2026</a:t>
            </a:fld>
            <a:endParaRPr lang="en-IN"/>
          </a:p>
        </p:txBody>
      </p:sp>
      <p:sp>
        <p:nvSpPr>
          <p:cNvPr id="8" name="Footer Placeholder 7">
            <a:extLst>
              <a:ext uri="{FF2B5EF4-FFF2-40B4-BE49-F238E27FC236}">
                <a16:creationId xmlns:a16="http://schemas.microsoft.com/office/drawing/2014/main" id="{51F90493-F36C-9BEA-0C81-BF50A265638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6190BA5-7D5D-2112-97E2-181701139332}"/>
              </a:ext>
            </a:extLst>
          </p:cNvPr>
          <p:cNvSpPr>
            <a:spLocks noGrp="1"/>
          </p:cNvSpPr>
          <p:nvPr>
            <p:ph type="sldNum" sz="quarter" idx="12"/>
          </p:nvPr>
        </p:nvSpPr>
        <p:spPr/>
        <p:txBody>
          <a:bodyPr/>
          <a:lstStyle/>
          <a:p>
            <a:fld id="{FA80D5EA-0BB1-462C-87E0-8F33E88494E0}" type="slidenum">
              <a:rPr lang="en-IN" smtClean="0"/>
              <a:t>‹#›</a:t>
            </a:fld>
            <a:endParaRPr lang="en-IN"/>
          </a:p>
        </p:txBody>
      </p:sp>
    </p:spTree>
    <p:extLst>
      <p:ext uri="{BB962C8B-B14F-4D97-AF65-F5344CB8AC3E}">
        <p14:creationId xmlns:p14="http://schemas.microsoft.com/office/powerpoint/2010/main" val="7267049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BC400-59EF-3DED-6A50-116DCE37C57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C55D9AD-A87F-7639-D0EB-F2C2A4DDFEBB}"/>
              </a:ext>
            </a:extLst>
          </p:cNvPr>
          <p:cNvSpPr>
            <a:spLocks noGrp="1"/>
          </p:cNvSpPr>
          <p:nvPr>
            <p:ph type="dt" sz="half" idx="10"/>
          </p:nvPr>
        </p:nvSpPr>
        <p:spPr/>
        <p:txBody>
          <a:bodyPr/>
          <a:lstStyle/>
          <a:p>
            <a:fld id="{0999FC94-A640-4849-A27D-090DA04AC900}" type="datetimeFigureOut">
              <a:rPr lang="en-IN" smtClean="0"/>
              <a:t>03-03-2026</a:t>
            </a:fld>
            <a:endParaRPr lang="en-IN"/>
          </a:p>
        </p:txBody>
      </p:sp>
      <p:sp>
        <p:nvSpPr>
          <p:cNvPr id="4" name="Footer Placeholder 3">
            <a:extLst>
              <a:ext uri="{FF2B5EF4-FFF2-40B4-BE49-F238E27FC236}">
                <a16:creationId xmlns:a16="http://schemas.microsoft.com/office/drawing/2014/main" id="{82EFE5D5-8BAE-D330-C377-CD929A322B8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4976648-DA91-DED8-BB1D-B30306DF34A1}"/>
              </a:ext>
            </a:extLst>
          </p:cNvPr>
          <p:cNvSpPr>
            <a:spLocks noGrp="1"/>
          </p:cNvSpPr>
          <p:nvPr>
            <p:ph type="sldNum" sz="quarter" idx="12"/>
          </p:nvPr>
        </p:nvSpPr>
        <p:spPr/>
        <p:txBody>
          <a:bodyPr/>
          <a:lstStyle/>
          <a:p>
            <a:fld id="{FA80D5EA-0BB1-462C-87E0-8F33E88494E0}" type="slidenum">
              <a:rPr lang="en-IN" smtClean="0"/>
              <a:t>‹#›</a:t>
            </a:fld>
            <a:endParaRPr lang="en-IN"/>
          </a:p>
        </p:txBody>
      </p:sp>
    </p:spTree>
    <p:extLst>
      <p:ext uri="{BB962C8B-B14F-4D97-AF65-F5344CB8AC3E}">
        <p14:creationId xmlns:p14="http://schemas.microsoft.com/office/powerpoint/2010/main" val="3583429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D3F821-458D-4C60-BAE9-FC587475D20D}"/>
              </a:ext>
            </a:extLst>
          </p:cNvPr>
          <p:cNvSpPr>
            <a:spLocks noGrp="1"/>
          </p:cNvSpPr>
          <p:nvPr>
            <p:ph type="dt" sz="half" idx="10"/>
          </p:nvPr>
        </p:nvSpPr>
        <p:spPr/>
        <p:txBody>
          <a:bodyPr/>
          <a:lstStyle/>
          <a:p>
            <a:fld id="{0999FC94-A640-4849-A27D-090DA04AC900}" type="datetimeFigureOut">
              <a:rPr lang="en-IN" smtClean="0"/>
              <a:t>03-03-2026</a:t>
            </a:fld>
            <a:endParaRPr lang="en-IN"/>
          </a:p>
        </p:txBody>
      </p:sp>
      <p:sp>
        <p:nvSpPr>
          <p:cNvPr id="3" name="Footer Placeholder 2">
            <a:extLst>
              <a:ext uri="{FF2B5EF4-FFF2-40B4-BE49-F238E27FC236}">
                <a16:creationId xmlns:a16="http://schemas.microsoft.com/office/drawing/2014/main" id="{C0548397-AFD3-49F0-44E9-BD6D45134AF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1E0231B-E10D-98F0-6A72-32FB8D207731}"/>
              </a:ext>
            </a:extLst>
          </p:cNvPr>
          <p:cNvSpPr>
            <a:spLocks noGrp="1"/>
          </p:cNvSpPr>
          <p:nvPr>
            <p:ph type="sldNum" sz="quarter" idx="12"/>
          </p:nvPr>
        </p:nvSpPr>
        <p:spPr/>
        <p:txBody>
          <a:bodyPr/>
          <a:lstStyle/>
          <a:p>
            <a:fld id="{FA80D5EA-0BB1-462C-87E0-8F33E88494E0}" type="slidenum">
              <a:rPr lang="en-IN" smtClean="0"/>
              <a:t>‹#›</a:t>
            </a:fld>
            <a:endParaRPr lang="en-IN"/>
          </a:p>
        </p:txBody>
      </p:sp>
    </p:spTree>
    <p:extLst>
      <p:ext uri="{BB962C8B-B14F-4D97-AF65-F5344CB8AC3E}">
        <p14:creationId xmlns:p14="http://schemas.microsoft.com/office/powerpoint/2010/main" val="31105331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34698-75A9-4A46-BBFF-BF54CA5B1A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552922B-E2BA-A0B6-197D-B3C3CA2162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A0BFA40-D32A-1836-1C37-94A65F444F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546E39-DDE9-859C-52E9-7DDF77C2C065}"/>
              </a:ext>
            </a:extLst>
          </p:cNvPr>
          <p:cNvSpPr>
            <a:spLocks noGrp="1"/>
          </p:cNvSpPr>
          <p:nvPr>
            <p:ph type="dt" sz="half" idx="10"/>
          </p:nvPr>
        </p:nvSpPr>
        <p:spPr/>
        <p:txBody>
          <a:bodyPr/>
          <a:lstStyle/>
          <a:p>
            <a:fld id="{0999FC94-A640-4849-A27D-090DA04AC900}" type="datetimeFigureOut">
              <a:rPr lang="en-IN" smtClean="0"/>
              <a:t>03-03-2026</a:t>
            </a:fld>
            <a:endParaRPr lang="en-IN"/>
          </a:p>
        </p:txBody>
      </p:sp>
      <p:sp>
        <p:nvSpPr>
          <p:cNvPr id="6" name="Footer Placeholder 5">
            <a:extLst>
              <a:ext uri="{FF2B5EF4-FFF2-40B4-BE49-F238E27FC236}">
                <a16:creationId xmlns:a16="http://schemas.microsoft.com/office/drawing/2014/main" id="{09F7FE02-A426-C416-F3E6-C8B0BCEC018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A299336-DD71-5383-0080-7BBDE56B7CA5}"/>
              </a:ext>
            </a:extLst>
          </p:cNvPr>
          <p:cNvSpPr>
            <a:spLocks noGrp="1"/>
          </p:cNvSpPr>
          <p:nvPr>
            <p:ph type="sldNum" sz="quarter" idx="12"/>
          </p:nvPr>
        </p:nvSpPr>
        <p:spPr/>
        <p:txBody>
          <a:bodyPr/>
          <a:lstStyle/>
          <a:p>
            <a:fld id="{FA80D5EA-0BB1-462C-87E0-8F33E88494E0}" type="slidenum">
              <a:rPr lang="en-IN" smtClean="0"/>
              <a:t>‹#›</a:t>
            </a:fld>
            <a:endParaRPr lang="en-IN"/>
          </a:p>
        </p:txBody>
      </p:sp>
    </p:spTree>
    <p:extLst>
      <p:ext uri="{BB962C8B-B14F-4D97-AF65-F5344CB8AC3E}">
        <p14:creationId xmlns:p14="http://schemas.microsoft.com/office/powerpoint/2010/main" val="31558009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2F8BA-B9D9-C40B-0C3A-46048F80AC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43C2705-1A01-418C-308F-42F9097952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CD11439-9950-C4D6-2AF6-40282E7C4B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08C6C4-888D-353D-5F0D-CA6FC675A07B}"/>
              </a:ext>
            </a:extLst>
          </p:cNvPr>
          <p:cNvSpPr>
            <a:spLocks noGrp="1"/>
          </p:cNvSpPr>
          <p:nvPr>
            <p:ph type="dt" sz="half" idx="10"/>
          </p:nvPr>
        </p:nvSpPr>
        <p:spPr/>
        <p:txBody>
          <a:bodyPr/>
          <a:lstStyle/>
          <a:p>
            <a:fld id="{0999FC94-A640-4849-A27D-090DA04AC900}" type="datetimeFigureOut">
              <a:rPr lang="en-IN" smtClean="0"/>
              <a:t>03-03-2026</a:t>
            </a:fld>
            <a:endParaRPr lang="en-IN"/>
          </a:p>
        </p:txBody>
      </p:sp>
      <p:sp>
        <p:nvSpPr>
          <p:cNvPr id="6" name="Footer Placeholder 5">
            <a:extLst>
              <a:ext uri="{FF2B5EF4-FFF2-40B4-BE49-F238E27FC236}">
                <a16:creationId xmlns:a16="http://schemas.microsoft.com/office/drawing/2014/main" id="{334FC599-4080-9153-A8A6-2C63F15DACA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92B45ED-1ABA-37BF-03C0-C693D22F400A}"/>
              </a:ext>
            </a:extLst>
          </p:cNvPr>
          <p:cNvSpPr>
            <a:spLocks noGrp="1"/>
          </p:cNvSpPr>
          <p:nvPr>
            <p:ph type="sldNum" sz="quarter" idx="12"/>
          </p:nvPr>
        </p:nvSpPr>
        <p:spPr/>
        <p:txBody>
          <a:bodyPr/>
          <a:lstStyle/>
          <a:p>
            <a:fld id="{FA80D5EA-0BB1-462C-87E0-8F33E88494E0}" type="slidenum">
              <a:rPr lang="en-IN" smtClean="0"/>
              <a:t>‹#›</a:t>
            </a:fld>
            <a:endParaRPr lang="en-IN"/>
          </a:p>
        </p:txBody>
      </p:sp>
    </p:spTree>
    <p:extLst>
      <p:ext uri="{BB962C8B-B14F-4D97-AF65-F5344CB8AC3E}">
        <p14:creationId xmlns:p14="http://schemas.microsoft.com/office/powerpoint/2010/main" val="1565711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1A006-00EA-5173-05A5-007277C3585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9311AEC-4E65-2BCF-4D82-3CDE64AAFD4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5A8E20-6961-5342-94A2-C472DEECC609}"/>
              </a:ext>
            </a:extLst>
          </p:cNvPr>
          <p:cNvSpPr>
            <a:spLocks noGrp="1"/>
          </p:cNvSpPr>
          <p:nvPr>
            <p:ph type="dt" sz="half" idx="10"/>
          </p:nvPr>
        </p:nvSpPr>
        <p:spPr/>
        <p:txBody>
          <a:bodyPr/>
          <a:lstStyle/>
          <a:p>
            <a:fld id="{0999FC94-A640-4849-A27D-090DA04AC900}" type="datetimeFigureOut">
              <a:rPr lang="en-IN" smtClean="0"/>
              <a:t>03-03-2026</a:t>
            </a:fld>
            <a:endParaRPr lang="en-IN"/>
          </a:p>
        </p:txBody>
      </p:sp>
      <p:sp>
        <p:nvSpPr>
          <p:cNvPr id="5" name="Footer Placeholder 4">
            <a:extLst>
              <a:ext uri="{FF2B5EF4-FFF2-40B4-BE49-F238E27FC236}">
                <a16:creationId xmlns:a16="http://schemas.microsoft.com/office/drawing/2014/main" id="{A8DB49B8-DBA8-DA72-FABF-A58BDF6CD7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3764A7-48BF-4E36-B66B-F5DAA8A91A93}"/>
              </a:ext>
            </a:extLst>
          </p:cNvPr>
          <p:cNvSpPr>
            <a:spLocks noGrp="1"/>
          </p:cNvSpPr>
          <p:nvPr>
            <p:ph type="sldNum" sz="quarter" idx="12"/>
          </p:nvPr>
        </p:nvSpPr>
        <p:spPr/>
        <p:txBody>
          <a:bodyPr/>
          <a:lstStyle/>
          <a:p>
            <a:fld id="{FA80D5EA-0BB1-462C-87E0-8F33E88494E0}" type="slidenum">
              <a:rPr lang="en-IN" smtClean="0"/>
              <a:t>‹#›</a:t>
            </a:fld>
            <a:endParaRPr lang="en-IN"/>
          </a:p>
        </p:txBody>
      </p:sp>
    </p:spTree>
    <p:extLst>
      <p:ext uri="{BB962C8B-B14F-4D97-AF65-F5344CB8AC3E}">
        <p14:creationId xmlns:p14="http://schemas.microsoft.com/office/powerpoint/2010/main" val="904209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10B14C-E93C-2E10-DCE3-4BD5DFBCE88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51B9FEB-12EF-CA50-2BE8-174454F527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860D4E-4962-554A-EA86-92A0FB9310A3}"/>
              </a:ext>
            </a:extLst>
          </p:cNvPr>
          <p:cNvSpPr>
            <a:spLocks noGrp="1"/>
          </p:cNvSpPr>
          <p:nvPr>
            <p:ph type="dt" sz="half" idx="10"/>
          </p:nvPr>
        </p:nvSpPr>
        <p:spPr/>
        <p:txBody>
          <a:bodyPr/>
          <a:lstStyle/>
          <a:p>
            <a:fld id="{0999FC94-A640-4849-A27D-090DA04AC900}" type="datetimeFigureOut">
              <a:rPr lang="en-IN" smtClean="0"/>
              <a:t>03-03-2026</a:t>
            </a:fld>
            <a:endParaRPr lang="en-IN"/>
          </a:p>
        </p:txBody>
      </p:sp>
      <p:sp>
        <p:nvSpPr>
          <p:cNvPr id="5" name="Footer Placeholder 4">
            <a:extLst>
              <a:ext uri="{FF2B5EF4-FFF2-40B4-BE49-F238E27FC236}">
                <a16:creationId xmlns:a16="http://schemas.microsoft.com/office/drawing/2014/main" id="{0A79A200-CE5A-7679-1F0C-7732A92E4B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029CCF-C419-22C0-30B5-8C2C281F4BF1}"/>
              </a:ext>
            </a:extLst>
          </p:cNvPr>
          <p:cNvSpPr>
            <a:spLocks noGrp="1"/>
          </p:cNvSpPr>
          <p:nvPr>
            <p:ph type="sldNum" sz="quarter" idx="12"/>
          </p:nvPr>
        </p:nvSpPr>
        <p:spPr/>
        <p:txBody>
          <a:bodyPr/>
          <a:lstStyle/>
          <a:p>
            <a:fld id="{FA80D5EA-0BB1-462C-87E0-8F33E88494E0}" type="slidenum">
              <a:rPr lang="en-IN" smtClean="0"/>
              <a:t>‹#›</a:t>
            </a:fld>
            <a:endParaRPr lang="en-IN"/>
          </a:p>
        </p:txBody>
      </p:sp>
    </p:spTree>
    <p:extLst>
      <p:ext uri="{BB962C8B-B14F-4D97-AF65-F5344CB8AC3E}">
        <p14:creationId xmlns:p14="http://schemas.microsoft.com/office/powerpoint/2010/main" val="34604152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D1A694-5C7B-E5FF-1B13-D9F4A122F6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9BDAB0F-0AB2-6466-1B9D-B4F4A15069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17B66D-363B-DCE6-71C4-BC0FE62E37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99FC94-A640-4849-A27D-090DA04AC900}" type="datetimeFigureOut">
              <a:rPr lang="en-IN" smtClean="0"/>
              <a:t>03-03-2026</a:t>
            </a:fld>
            <a:endParaRPr lang="en-IN"/>
          </a:p>
        </p:txBody>
      </p:sp>
      <p:sp>
        <p:nvSpPr>
          <p:cNvPr id="5" name="Footer Placeholder 4">
            <a:extLst>
              <a:ext uri="{FF2B5EF4-FFF2-40B4-BE49-F238E27FC236}">
                <a16:creationId xmlns:a16="http://schemas.microsoft.com/office/drawing/2014/main" id="{27D5B03F-0A1D-728A-D5F0-4A4778BC13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8A25B73-AFD4-10C3-7643-166C13B3FC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80D5EA-0BB1-462C-87E0-8F33E88494E0}" type="slidenum">
              <a:rPr lang="en-IN" smtClean="0"/>
              <a:t>‹#›</a:t>
            </a:fld>
            <a:endParaRPr lang="en-IN"/>
          </a:p>
        </p:txBody>
      </p:sp>
    </p:spTree>
    <p:extLst>
      <p:ext uri="{BB962C8B-B14F-4D97-AF65-F5344CB8AC3E}">
        <p14:creationId xmlns:p14="http://schemas.microsoft.com/office/powerpoint/2010/main" val="14285874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malicioussite.com/malware.zip"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EBB08-8DCB-A54C-821F-1BCF16F9F2F3}"/>
              </a:ext>
            </a:extLst>
          </p:cNvPr>
          <p:cNvSpPr>
            <a:spLocks noGrp="1"/>
          </p:cNvSpPr>
          <p:nvPr>
            <p:ph type="ctrTitle"/>
          </p:nvPr>
        </p:nvSpPr>
        <p:spPr/>
        <p:txBody>
          <a:bodyPr/>
          <a:lstStyle/>
          <a:p>
            <a:r>
              <a:rPr lang="en-US" b="1" dirty="0">
                <a:latin typeface="Yu Gothic" panose="020B0400000000000000" pitchFamily="34" charset="-128"/>
                <a:ea typeface="Yu Gothic" panose="020B0400000000000000" pitchFamily="34" charset="-128"/>
              </a:rPr>
              <a:t>Internet facing Webapp</a:t>
            </a:r>
            <a:endParaRPr lang="en-IN" b="1" dirty="0">
              <a:latin typeface="Yu Gothic" panose="020B0400000000000000" pitchFamily="34" charset="-128"/>
              <a:ea typeface="Yu Gothic" panose="020B0400000000000000" pitchFamily="34" charset="-128"/>
            </a:endParaRPr>
          </a:p>
        </p:txBody>
      </p:sp>
      <p:sp>
        <p:nvSpPr>
          <p:cNvPr id="3" name="Subtitle 2">
            <a:extLst>
              <a:ext uri="{FF2B5EF4-FFF2-40B4-BE49-F238E27FC236}">
                <a16:creationId xmlns:a16="http://schemas.microsoft.com/office/drawing/2014/main" id="{26B42C0A-471B-5E5B-E679-938751B35376}"/>
              </a:ext>
            </a:extLst>
          </p:cNvPr>
          <p:cNvSpPr>
            <a:spLocks noGrp="1"/>
          </p:cNvSpPr>
          <p:nvPr>
            <p:ph type="subTitle" idx="1"/>
          </p:nvPr>
        </p:nvSpPr>
        <p:spPr>
          <a:xfrm>
            <a:off x="1524000" y="3602038"/>
            <a:ext cx="9144000" cy="733656"/>
          </a:xfrm>
        </p:spPr>
        <p:txBody>
          <a:bodyPr/>
          <a:lstStyle/>
          <a:p>
            <a:r>
              <a:rPr lang="en-US" dirty="0">
                <a:latin typeface="Yu Gothic" panose="020B0400000000000000" pitchFamily="34" charset="-128"/>
                <a:ea typeface="Yu Gothic" panose="020B0400000000000000" pitchFamily="34" charset="-128"/>
              </a:rPr>
              <a:t>Security Framework</a:t>
            </a:r>
            <a:endParaRPr lang="en-IN"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17184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230ACAC-5B2A-0956-9559-CAFE8E1E1A44}"/>
              </a:ext>
            </a:extLst>
          </p:cNvPr>
          <p:cNvSpPr>
            <a:spLocks noGrp="1"/>
          </p:cNvSpPr>
          <p:nvPr>
            <p:ph type="title"/>
          </p:nvPr>
        </p:nvSpPr>
        <p:spPr>
          <a:xfrm>
            <a:off x="104747" y="161716"/>
            <a:ext cx="11953974" cy="566134"/>
          </a:xfrm>
        </p:spPr>
        <p:txBody>
          <a:bodyPr>
            <a:noAutofit/>
          </a:bodyPr>
          <a:lstStyle/>
          <a:p>
            <a:r>
              <a:rPr lang="en-IN" sz="3200" b="1" dirty="0">
                <a:latin typeface="Yu Gothic" panose="020B0400000000000000" pitchFamily="34" charset="-128"/>
                <a:ea typeface="Yu Gothic" panose="020B0400000000000000" pitchFamily="34" charset="-128"/>
                <a:cs typeface="Segoe UI" panose="020B0502040204020203" pitchFamily="34" charset="0"/>
              </a:rPr>
              <a:t>Cloud Access Security Broker</a:t>
            </a:r>
          </a:p>
        </p:txBody>
      </p:sp>
      <p:sp>
        <p:nvSpPr>
          <p:cNvPr id="11" name="Flowchart: Alternate Process 10">
            <a:extLst>
              <a:ext uri="{FF2B5EF4-FFF2-40B4-BE49-F238E27FC236}">
                <a16:creationId xmlns:a16="http://schemas.microsoft.com/office/drawing/2014/main" id="{5410ADEE-9049-9F4B-64E8-F26AF293BCD7}"/>
              </a:ext>
            </a:extLst>
          </p:cNvPr>
          <p:cNvSpPr/>
          <p:nvPr/>
        </p:nvSpPr>
        <p:spPr>
          <a:xfrm>
            <a:off x="7166358" y="2236394"/>
            <a:ext cx="1823529" cy="270000"/>
          </a:xfrm>
          <a:prstGeom prst="flowChartAlternateProcess">
            <a:avLst/>
          </a:prstGeom>
          <a:ln/>
          <a:effectLst>
            <a:innerShdw blurRad="63500" dist="508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solidFill>
                  <a:sysClr val="windowText" lastClr="000000"/>
                </a:solidFill>
                <a:latin typeface="Yu Gothic" panose="020B0400000000000000" pitchFamily="34" charset="-128"/>
                <a:ea typeface="Yu Gothic" panose="020B0400000000000000" pitchFamily="34" charset="-128"/>
              </a:rPr>
              <a:t>Storage Account</a:t>
            </a:r>
            <a:endParaRPr lang="en-IN" sz="1200" dirty="0">
              <a:solidFill>
                <a:sysClr val="windowText" lastClr="000000"/>
              </a:solidFill>
              <a:latin typeface="Yu Gothic" panose="020B0400000000000000" pitchFamily="34" charset="-128"/>
              <a:ea typeface="Yu Gothic" panose="020B0400000000000000" pitchFamily="34" charset="-128"/>
            </a:endParaRPr>
          </a:p>
        </p:txBody>
      </p:sp>
      <p:sp>
        <p:nvSpPr>
          <p:cNvPr id="12" name="TextBox 11">
            <a:extLst>
              <a:ext uri="{FF2B5EF4-FFF2-40B4-BE49-F238E27FC236}">
                <a16:creationId xmlns:a16="http://schemas.microsoft.com/office/drawing/2014/main" id="{52751B79-87F8-A8DF-6AD5-63F440F06FE9}"/>
              </a:ext>
            </a:extLst>
          </p:cNvPr>
          <p:cNvSpPr txBox="1"/>
          <p:nvPr/>
        </p:nvSpPr>
        <p:spPr>
          <a:xfrm>
            <a:off x="3404453" y="2227806"/>
            <a:ext cx="1214395" cy="270000"/>
          </a:xfrm>
          <a:prstGeom prst="roundRect">
            <a:avLst/>
          </a:prstGeom>
          <a:ln/>
          <a:effectLst>
            <a:innerShdw blurRad="63500" dist="508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wrap="none" rtlCol="0">
            <a:spAutoFit/>
          </a:bodyPr>
          <a:lstStyle/>
          <a:p>
            <a:r>
              <a:rPr lang="en-IN" sz="1200" dirty="0">
                <a:latin typeface="Yu Gothic" panose="020B0400000000000000" pitchFamily="34" charset="-128"/>
                <a:ea typeface="Yu Gothic" panose="020B0400000000000000" pitchFamily="34" charset="-128"/>
                <a:cs typeface="Segoe UI" panose="020B0502040204020203" pitchFamily="34" charset="0"/>
              </a:rPr>
              <a:t>Azure Firewall</a:t>
            </a:r>
          </a:p>
        </p:txBody>
      </p:sp>
      <p:sp>
        <p:nvSpPr>
          <p:cNvPr id="13" name="TextBox 12">
            <a:extLst>
              <a:ext uri="{FF2B5EF4-FFF2-40B4-BE49-F238E27FC236}">
                <a16:creationId xmlns:a16="http://schemas.microsoft.com/office/drawing/2014/main" id="{4EA811B4-7302-B81C-0B6A-9379E841C923}"/>
              </a:ext>
            </a:extLst>
          </p:cNvPr>
          <p:cNvSpPr txBox="1"/>
          <p:nvPr/>
        </p:nvSpPr>
        <p:spPr>
          <a:xfrm>
            <a:off x="5534178" y="2227806"/>
            <a:ext cx="1095113" cy="270000"/>
          </a:xfrm>
          <a:prstGeom prst="roundRect">
            <a:avLst/>
          </a:prstGeom>
          <a:ln/>
          <a:effectLst>
            <a:innerShdw blurRad="63500" dist="508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wrap="none" rtlCol="0">
            <a:spAutoFit/>
          </a:bodyPr>
          <a:lstStyle/>
          <a:p>
            <a:r>
              <a:rPr lang="en-IN" sz="1200" dirty="0">
                <a:latin typeface="Yu Gothic" panose="020B0400000000000000" pitchFamily="34" charset="-128"/>
                <a:ea typeface="Yu Gothic" panose="020B0400000000000000" pitchFamily="34" charset="-128"/>
                <a:cs typeface="Segoe UI" panose="020B0502040204020203" pitchFamily="34" charset="0"/>
              </a:rPr>
              <a:t>App Service</a:t>
            </a:r>
          </a:p>
        </p:txBody>
      </p:sp>
      <p:sp>
        <p:nvSpPr>
          <p:cNvPr id="16" name="TextBox 15">
            <a:extLst>
              <a:ext uri="{FF2B5EF4-FFF2-40B4-BE49-F238E27FC236}">
                <a16:creationId xmlns:a16="http://schemas.microsoft.com/office/drawing/2014/main" id="{C5378539-3067-4837-34CF-D4F24D754BFB}"/>
              </a:ext>
            </a:extLst>
          </p:cNvPr>
          <p:cNvSpPr txBox="1"/>
          <p:nvPr/>
        </p:nvSpPr>
        <p:spPr>
          <a:xfrm>
            <a:off x="6401133" y="3048147"/>
            <a:ext cx="1204591" cy="270000"/>
          </a:xfrm>
          <a:prstGeom prst="roundRect">
            <a:avLst/>
          </a:prstGeom>
          <a:ln/>
          <a:effectLst>
            <a:innerShdw blurRad="63500" dist="508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wrap="none" rtlCol="0">
            <a:spAutoFit/>
          </a:bodyPr>
          <a:lstStyle/>
          <a:p>
            <a:r>
              <a:rPr lang="en-IN" sz="1200" dirty="0">
                <a:latin typeface="Yu Gothic" panose="020B0400000000000000" pitchFamily="34" charset="-128"/>
                <a:ea typeface="Yu Gothic" panose="020B0400000000000000" pitchFamily="34" charset="-128"/>
                <a:cs typeface="Segoe UI" panose="020B0502040204020203" pitchFamily="34" charset="0"/>
              </a:rPr>
              <a:t>Function App</a:t>
            </a:r>
          </a:p>
        </p:txBody>
      </p:sp>
      <p:cxnSp>
        <p:nvCxnSpPr>
          <p:cNvPr id="17" name="Straight Arrow Connector 16">
            <a:extLst>
              <a:ext uri="{FF2B5EF4-FFF2-40B4-BE49-F238E27FC236}">
                <a16:creationId xmlns:a16="http://schemas.microsoft.com/office/drawing/2014/main" id="{CD0E1858-F026-685A-455B-EB5A41EE5DA6}"/>
              </a:ext>
            </a:extLst>
          </p:cNvPr>
          <p:cNvCxnSpPr>
            <a:cxnSpLocks/>
            <a:stCxn id="30" idx="3"/>
          </p:cNvCxnSpPr>
          <p:nvPr/>
        </p:nvCxnSpPr>
        <p:spPr>
          <a:xfrm flipV="1">
            <a:off x="785030" y="1566425"/>
            <a:ext cx="2648737" cy="63358"/>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ED98664-031D-F7EE-D430-74A02DE9F3B8}"/>
              </a:ext>
            </a:extLst>
          </p:cNvPr>
          <p:cNvCxnSpPr>
            <a:cxnSpLocks/>
            <a:endCxn id="31" idx="2"/>
          </p:cNvCxnSpPr>
          <p:nvPr/>
        </p:nvCxnSpPr>
        <p:spPr>
          <a:xfrm flipH="1" flipV="1">
            <a:off x="4124073" y="1683191"/>
            <a:ext cx="13919" cy="544615"/>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2E704644-DC13-A3CF-B943-68BD7D7F9CE3}"/>
              </a:ext>
            </a:extLst>
          </p:cNvPr>
          <p:cNvCxnSpPr>
            <a:cxnSpLocks/>
            <a:stCxn id="12" idx="3"/>
            <a:endCxn id="13" idx="1"/>
          </p:cNvCxnSpPr>
          <p:nvPr/>
        </p:nvCxnSpPr>
        <p:spPr>
          <a:xfrm>
            <a:off x="4618848" y="2362806"/>
            <a:ext cx="915330" cy="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23" name="Graphic 22" descr="Cloud">
            <a:extLst>
              <a:ext uri="{FF2B5EF4-FFF2-40B4-BE49-F238E27FC236}">
                <a16:creationId xmlns:a16="http://schemas.microsoft.com/office/drawing/2014/main" id="{E72628E4-ACD1-8A70-CEB2-C20CFF2492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95112" y="686280"/>
            <a:ext cx="1555855" cy="1555855"/>
          </a:xfrm>
          <a:prstGeom prst="rect">
            <a:avLst/>
          </a:prstGeom>
        </p:spPr>
      </p:pic>
      <p:sp>
        <p:nvSpPr>
          <p:cNvPr id="30" name="TextBox 29">
            <a:extLst>
              <a:ext uri="{FF2B5EF4-FFF2-40B4-BE49-F238E27FC236}">
                <a16:creationId xmlns:a16="http://schemas.microsoft.com/office/drawing/2014/main" id="{D84E9131-CD3C-3190-75F1-13894287E9BA}"/>
              </a:ext>
            </a:extLst>
          </p:cNvPr>
          <p:cNvSpPr txBox="1"/>
          <p:nvPr/>
        </p:nvSpPr>
        <p:spPr>
          <a:xfrm>
            <a:off x="295794" y="1491283"/>
            <a:ext cx="489236" cy="276999"/>
          </a:xfrm>
          <a:prstGeom prst="rect">
            <a:avLst/>
          </a:prstGeom>
          <a:noFill/>
        </p:spPr>
        <p:txBody>
          <a:bodyPr wrap="none" rtlCol="0">
            <a:spAutoFit/>
          </a:bodyPr>
          <a:lstStyle/>
          <a:p>
            <a:r>
              <a:rPr lang="en-IN" sz="1200" dirty="0">
                <a:latin typeface="Segoe UI" panose="020B0502040204020203" pitchFamily="34" charset="0"/>
                <a:cs typeface="Segoe UI" panose="020B0502040204020203" pitchFamily="34" charset="0"/>
              </a:rPr>
              <a:t>User</a:t>
            </a:r>
          </a:p>
        </p:txBody>
      </p:sp>
      <p:sp>
        <p:nvSpPr>
          <p:cNvPr id="31" name="TextBox 30">
            <a:extLst>
              <a:ext uri="{FF2B5EF4-FFF2-40B4-BE49-F238E27FC236}">
                <a16:creationId xmlns:a16="http://schemas.microsoft.com/office/drawing/2014/main" id="{46C08890-B983-36B4-E759-9F1FBCA88EED}"/>
              </a:ext>
            </a:extLst>
          </p:cNvPr>
          <p:cNvSpPr txBox="1"/>
          <p:nvPr/>
        </p:nvSpPr>
        <p:spPr>
          <a:xfrm>
            <a:off x="3133716" y="1413191"/>
            <a:ext cx="1980713" cy="270000"/>
          </a:xfrm>
          <a:prstGeom prst="roundRect">
            <a:avLst/>
          </a:prstGeom>
          <a:ln/>
          <a:effectLst>
            <a:innerShdw blurRad="63500" dist="508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IN" sz="1200" dirty="0">
                <a:latin typeface="Yu Gothic" panose="020B0400000000000000" pitchFamily="34" charset="-128"/>
                <a:ea typeface="Yu Gothic" panose="020B0400000000000000" pitchFamily="34" charset="-128"/>
                <a:cs typeface="Segoe UI" panose="020B0502040204020203" pitchFamily="34" charset="0"/>
              </a:rPr>
              <a:t>Application Gateway</a:t>
            </a:r>
          </a:p>
        </p:txBody>
      </p:sp>
      <p:sp>
        <p:nvSpPr>
          <p:cNvPr id="49" name="TextBox 48">
            <a:extLst>
              <a:ext uri="{FF2B5EF4-FFF2-40B4-BE49-F238E27FC236}">
                <a16:creationId xmlns:a16="http://schemas.microsoft.com/office/drawing/2014/main" id="{376AB10F-21CD-0350-9796-987029D27346}"/>
              </a:ext>
            </a:extLst>
          </p:cNvPr>
          <p:cNvSpPr txBox="1"/>
          <p:nvPr/>
        </p:nvSpPr>
        <p:spPr>
          <a:xfrm>
            <a:off x="8257375" y="2736502"/>
            <a:ext cx="2050676" cy="1384995"/>
          </a:xfrm>
          <a:prstGeom prst="rect">
            <a:avLst/>
          </a:prstGeom>
          <a:noFill/>
        </p:spPr>
        <p:txBody>
          <a:bodyPr wrap="square" rtlCol="0">
            <a:spAutoFit/>
          </a:bodyPr>
          <a:lstStyle/>
          <a:p>
            <a:r>
              <a:rPr lang="en-US" sz="1400" dirty="0">
                <a:latin typeface="Yu Gothic" panose="020B0400000000000000" pitchFamily="34" charset="-128"/>
                <a:ea typeface="Yu Gothic" panose="020B0400000000000000" pitchFamily="34" charset="-128"/>
              </a:rPr>
              <a:t>Attacker could upload malwares on Blob containers through public read/write, misconfigured SAS token.</a:t>
            </a:r>
            <a:endParaRPr lang="en-IN" sz="1400" dirty="0">
              <a:latin typeface="Yu Gothic" panose="020B0400000000000000" pitchFamily="34" charset="-128"/>
              <a:ea typeface="Yu Gothic" panose="020B0400000000000000" pitchFamily="34" charset="-128"/>
            </a:endParaRPr>
          </a:p>
        </p:txBody>
      </p:sp>
      <p:sp>
        <p:nvSpPr>
          <p:cNvPr id="50" name="TextBox 49">
            <a:extLst>
              <a:ext uri="{FF2B5EF4-FFF2-40B4-BE49-F238E27FC236}">
                <a16:creationId xmlns:a16="http://schemas.microsoft.com/office/drawing/2014/main" id="{605EB557-8E7B-1419-A417-CAA6DBD967BE}"/>
              </a:ext>
            </a:extLst>
          </p:cNvPr>
          <p:cNvSpPr txBox="1"/>
          <p:nvPr/>
        </p:nvSpPr>
        <p:spPr>
          <a:xfrm>
            <a:off x="5856436" y="966373"/>
            <a:ext cx="5207038" cy="954107"/>
          </a:xfrm>
          <a:prstGeom prst="rect">
            <a:avLst/>
          </a:prstGeom>
          <a:noFill/>
        </p:spPr>
        <p:txBody>
          <a:bodyPr wrap="square" rtlCol="0">
            <a:spAutoFit/>
          </a:bodyPr>
          <a:lstStyle/>
          <a:p>
            <a:r>
              <a:rPr lang="en-US" sz="1400" dirty="0">
                <a:latin typeface="Yu Gothic" panose="020B0400000000000000" pitchFamily="34" charset="-128"/>
                <a:ea typeface="Yu Gothic" panose="020B0400000000000000" pitchFamily="34" charset="-128"/>
              </a:rPr>
              <a:t>Remote code execution on App service to download malwares by running </a:t>
            </a:r>
          </a:p>
          <a:p>
            <a:r>
              <a:rPr lang="en-US" sz="1400" dirty="0">
                <a:solidFill>
                  <a:schemeClr val="accent2">
                    <a:lumMod val="75000"/>
                  </a:schemeClr>
                </a:solidFill>
                <a:latin typeface="Yu Gothic" panose="020B0400000000000000" pitchFamily="34" charset="-128"/>
                <a:ea typeface="Yu Gothic" panose="020B0400000000000000" pitchFamily="34" charset="-128"/>
              </a:rPr>
              <a:t>curl –o malware.zip </a:t>
            </a:r>
            <a:r>
              <a:rPr lang="en-US" sz="1400" dirty="0">
                <a:solidFill>
                  <a:schemeClr val="accent2">
                    <a:lumMod val="75000"/>
                  </a:schemeClr>
                </a:solidFill>
                <a:latin typeface="Yu Gothic" panose="020B0400000000000000" pitchFamily="34" charset="-128"/>
                <a:ea typeface="Yu Gothic" panose="020B0400000000000000" pitchFamily="34" charset="-128"/>
                <a:hlinkClick r:id="rId4">
                  <a:extLst>
                    <a:ext uri="{A12FA001-AC4F-418D-AE19-62706E023703}">
                      <ahyp:hlinkClr xmlns:ahyp="http://schemas.microsoft.com/office/drawing/2018/hyperlinkcolor" val="tx"/>
                    </a:ext>
                  </a:extLst>
                </a:hlinkClick>
              </a:rPr>
              <a:t>http://malicioussite.com/malware.zip</a:t>
            </a:r>
            <a:endParaRPr lang="en-US" sz="1400" dirty="0">
              <a:solidFill>
                <a:schemeClr val="accent2">
                  <a:lumMod val="75000"/>
                </a:schemeClr>
              </a:solidFill>
              <a:latin typeface="Yu Gothic" panose="020B0400000000000000" pitchFamily="34" charset="-128"/>
              <a:ea typeface="Yu Gothic" panose="020B0400000000000000" pitchFamily="34" charset="-128"/>
            </a:endParaRPr>
          </a:p>
          <a:p>
            <a:r>
              <a:rPr lang="en-US" sz="1400" dirty="0">
                <a:latin typeface="Yu Gothic" panose="020B0400000000000000" pitchFamily="34" charset="-128"/>
                <a:ea typeface="Yu Gothic" panose="020B0400000000000000" pitchFamily="34" charset="-128"/>
              </a:rPr>
              <a:t> Need to restrict the outbound internet access.</a:t>
            </a:r>
            <a:endParaRPr lang="en-IN" sz="1400" dirty="0">
              <a:latin typeface="Yu Gothic" panose="020B0400000000000000" pitchFamily="34" charset="-128"/>
              <a:ea typeface="Yu Gothic" panose="020B0400000000000000" pitchFamily="34" charset="-128"/>
            </a:endParaRPr>
          </a:p>
        </p:txBody>
      </p:sp>
      <p:sp>
        <p:nvSpPr>
          <p:cNvPr id="51" name="TextBox 50">
            <a:extLst>
              <a:ext uri="{FF2B5EF4-FFF2-40B4-BE49-F238E27FC236}">
                <a16:creationId xmlns:a16="http://schemas.microsoft.com/office/drawing/2014/main" id="{B590645C-1AD3-AEB1-B551-B30188250856}"/>
              </a:ext>
            </a:extLst>
          </p:cNvPr>
          <p:cNvSpPr txBox="1"/>
          <p:nvPr/>
        </p:nvSpPr>
        <p:spPr>
          <a:xfrm>
            <a:off x="1619753" y="2660890"/>
            <a:ext cx="3569400" cy="1815882"/>
          </a:xfrm>
          <a:prstGeom prst="rect">
            <a:avLst/>
          </a:prstGeom>
          <a:noFill/>
        </p:spPr>
        <p:txBody>
          <a:bodyPr wrap="square" rtlCol="0">
            <a:spAutoFit/>
          </a:bodyPr>
          <a:lstStyle/>
          <a:p>
            <a:r>
              <a:rPr lang="en-US" sz="1400" dirty="0">
                <a:latin typeface="Yu Gothic" panose="020B0400000000000000" pitchFamily="34" charset="-128"/>
                <a:ea typeface="Yu Gothic" panose="020B0400000000000000" pitchFamily="34" charset="-128"/>
              </a:rPr>
              <a:t>Azure Firewall is stateful firewall, if we create a rule “Source as Internet” and “Destination as App Service”, in this case only Inbound HTTPS traffic will be allowed.</a:t>
            </a:r>
          </a:p>
          <a:p>
            <a:endParaRPr lang="en-US" sz="1400" dirty="0">
              <a:latin typeface="Yu Gothic" panose="020B0400000000000000" pitchFamily="34" charset="-128"/>
              <a:ea typeface="Yu Gothic" panose="020B0400000000000000" pitchFamily="34" charset="-128"/>
            </a:endParaRPr>
          </a:p>
          <a:p>
            <a:r>
              <a:rPr lang="en-US" sz="1400" dirty="0">
                <a:latin typeface="Yu Gothic" panose="020B0400000000000000" pitchFamily="34" charset="-128"/>
                <a:ea typeface="Yu Gothic" panose="020B0400000000000000" pitchFamily="34" charset="-128"/>
              </a:rPr>
              <a:t>There will not be source as “App service” which could initiate connection.</a:t>
            </a:r>
            <a:endParaRPr lang="en-IN" sz="1400" dirty="0">
              <a:latin typeface="Yu Gothic" panose="020B0400000000000000" pitchFamily="34" charset="-128"/>
              <a:ea typeface="Yu Gothic" panose="020B0400000000000000" pitchFamily="34" charset="-128"/>
            </a:endParaRPr>
          </a:p>
        </p:txBody>
      </p:sp>
      <p:cxnSp>
        <p:nvCxnSpPr>
          <p:cNvPr id="42" name="Connector: Elbow 41">
            <a:extLst>
              <a:ext uri="{FF2B5EF4-FFF2-40B4-BE49-F238E27FC236}">
                <a16:creationId xmlns:a16="http://schemas.microsoft.com/office/drawing/2014/main" id="{78695AED-ECDE-A1AF-0752-CDC1DC17F0A6}"/>
              </a:ext>
            </a:extLst>
          </p:cNvPr>
          <p:cNvCxnSpPr/>
          <p:nvPr/>
        </p:nvCxnSpPr>
        <p:spPr>
          <a:xfrm>
            <a:off x="6096000" y="4619374"/>
            <a:ext cx="1784279" cy="1021138"/>
          </a:xfrm>
          <a:prstGeom prst="bentConnector3">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43" name="Connector: Elbow 42">
            <a:extLst>
              <a:ext uri="{FF2B5EF4-FFF2-40B4-BE49-F238E27FC236}">
                <a16:creationId xmlns:a16="http://schemas.microsoft.com/office/drawing/2014/main" id="{5038A58C-FB22-E3F7-0DC5-3FF44B3DEE60}"/>
              </a:ext>
            </a:extLst>
          </p:cNvPr>
          <p:cNvCxnSpPr>
            <a:cxnSpLocks/>
            <a:stCxn id="13" idx="2"/>
            <a:endCxn id="16" idx="1"/>
          </p:cNvCxnSpPr>
          <p:nvPr/>
        </p:nvCxnSpPr>
        <p:spPr>
          <a:xfrm rot="16200000" flipH="1">
            <a:off x="5898764" y="2680777"/>
            <a:ext cx="685341" cy="319398"/>
          </a:xfrm>
          <a:prstGeom prst="bentConnector2">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44" name="Connector: Elbow 43">
            <a:extLst>
              <a:ext uri="{FF2B5EF4-FFF2-40B4-BE49-F238E27FC236}">
                <a16:creationId xmlns:a16="http://schemas.microsoft.com/office/drawing/2014/main" id="{10D51477-F989-05D4-62F5-D1BAFC0C1939}"/>
              </a:ext>
            </a:extLst>
          </p:cNvPr>
          <p:cNvCxnSpPr>
            <a:cxnSpLocks/>
            <a:stCxn id="16" idx="3"/>
            <a:endCxn id="11" idx="2"/>
          </p:cNvCxnSpPr>
          <p:nvPr/>
        </p:nvCxnSpPr>
        <p:spPr>
          <a:xfrm flipV="1">
            <a:off x="7605724" y="2506394"/>
            <a:ext cx="472399" cy="676753"/>
          </a:xfrm>
          <a:prstGeom prst="bentConnector2">
            <a:avLst/>
          </a:prstGeom>
          <a:ln>
            <a:headEnd type="triangle"/>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36321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DACED-5F07-7C10-25CE-C83CB916E3C5}"/>
              </a:ext>
            </a:extLst>
          </p:cNvPr>
          <p:cNvSpPr>
            <a:spLocks noGrp="1"/>
          </p:cNvSpPr>
          <p:nvPr>
            <p:ph type="title"/>
          </p:nvPr>
        </p:nvSpPr>
        <p:spPr>
          <a:xfrm>
            <a:off x="211475" y="108271"/>
            <a:ext cx="11716821" cy="1432853"/>
          </a:xfrm>
        </p:spPr>
        <p:txBody>
          <a:bodyPr>
            <a:normAutofit/>
          </a:bodyPr>
          <a:lstStyle/>
          <a:p>
            <a:pPr>
              <a:lnSpc>
                <a:spcPct val="100000"/>
              </a:lnSpc>
            </a:pPr>
            <a:r>
              <a:rPr lang="en-IN" sz="2000" b="1" dirty="0">
                <a:solidFill>
                  <a:srgbClr val="FF0000"/>
                </a:solidFill>
              </a:rPr>
              <a:t>Problem Statement</a:t>
            </a:r>
            <a:r>
              <a:rPr lang="en-IN" sz="2000" dirty="0">
                <a:solidFill>
                  <a:srgbClr val="FF0000"/>
                </a:solidFill>
              </a:rPr>
              <a:t>: </a:t>
            </a:r>
            <a:r>
              <a:rPr lang="en-IN" sz="2000" dirty="0">
                <a:solidFill>
                  <a:srgbClr val="FF0000"/>
                </a:solidFill>
                <a:cs typeface="Arial" panose="020B0604020202020204" pitchFamily="34" charset="0"/>
              </a:rPr>
              <a:t>If I have internet facing Webapp deployed on Azure App service, Data stored on Storage account, Function app used for actions between Azure App service and Storage account. How many ways attacker would try to exfiltrate data, run malicious script, or download malware or perform different types of attacks on this? please share detailed list. </a:t>
            </a:r>
            <a:endParaRPr lang="en-IN" sz="2000" dirty="0">
              <a:solidFill>
                <a:srgbClr val="FF0000"/>
              </a:solidFill>
            </a:endParaRPr>
          </a:p>
        </p:txBody>
      </p:sp>
      <p:sp>
        <p:nvSpPr>
          <p:cNvPr id="3" name="Content Placeholder 2">
            <a:extLst>
              <a:ext uri="{FF2B5EF4-FFF2-40B4-BE49-F238E27FC236}">
                <a16:creationId xmlns:a16="http://schemas.microsoft.com/office/drawing/2014/main" id="{6725A760-3BD8-179B-4679-C57BA6FF38EB}"/>
              </a:ext>
            </a:extLst>
          </p:cNvPr>
          <p:cNvSpPr>
            <a:spLocks noGrp="1"/>
          </p:cNvSpPr>
          <p:nvPr>
            <p:ph idx="1"/>
          </p:nvPr>
        </p:nvSpPr>
        <p:spPr>
          <a:xfrm>
            <a:off x="211475" y="1654139"/>
            <a:ext cx="11769050" cy="4582274"/>
          </a:xfrm>
        </p:spPr>
        <p:txBody>
          <a:bodyPr>
            <a:normAutofit/>
          </a:bodyPr>
          <a:lstStyle/>
          <a:p>
            <a:r>
              <a:rPr lang="en-IN" sz="2000" dirty="0">
                <a:latin typeface="+mj-lt"/>
              </a:rPr>
              <a:t>Securing an internet-facing web application deployed on </a:t>
            </a:r>
            <a:r>
              <a:rPr lang="en-IN" sz="2000" b="1" dirty="0">
                <a:latin typeface="+mj-lt"/>
              </a:rPr>
              <a:t>Azure App Service</a:t>
            </a:r>
            <a:r>
              <a:rPr lang="en-IN" sz="2000" dirty="0">
                <a:latin typeface="+mj-lt"/>
              </a:rPr>
              <a:t> with </a:t>
            </a:r>
            <a:r>
              <a:rPr lang="en-IN" sz="2000" b="1" dirty="0">
                <a:latin typeface="+mj-lt"/>
              </a:rPr>
              <a:t>Azure Storage Account</a:t>
            </a:r>
            <a:r>
              <a:rPr lang="en-IN" sz="2000" dirty="0">
                <a:latin typeface="+mj-lt"/>
              </a:rPr>
              <a:t> and </a:t>
            </a:r>
            <a:r>
              <a:rPr lang="en-IN" sz="2000" b="1" dirty="0">
                <a:latin typeface="+mj-lt"/>
              </a:rPr>
              <a:t>Function Apps</a:t>
            </a:r>
            <a:r>
              <a:rPr lang="en-IN" sz="2000" dirty="0">
                <a:latin typeface="+mj-lt"/>
              </a:rPr>
              <a:t> is crucial because attackers can target various components in different ways. Below is a detailed list of possible attack vectors:</a:t>
            </a:r>
          </a:p>
          <a:p>
            <a:endParaRPr lang="en-IN" sz="2000" dirty="0">
              <a:latin typeface="+mj-lt"/>
            </a:endParaRPr>
          </a:p>
        </p:txBody>
      </p:sp>
    </p:spTree>
    <p:extLst>
      <p:ext uri="{BB962C8B-B14F-4D97-AF65-F5344CB8AC3E}">
        <p14:creationId xmlns:p14="http://schemas.microsoft.com/office/powerpoint/2010/main" val="2273386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41100-CA06-3C05-AD7A-00C07C089B69}"/>
              </a:ext>
            </a:extLst>
          </p:cNvPr>
          <p:cNvSpPr>
            <a:spLocks noGrp="1"/>
          </p:cNvSpPr>
          <p:nvPr>
            <p:ph type="title"/>
          </p:nvPr>
        </p:nvSpPr>
        <p:spPr>
          <a:xfrm>
            <a:off x="108734" y="128820"/>
            <a:ext cx="11912029" cy="703388"/>
          </a:xfrm>
        </p:spPr>
        <p:txBody>
          <a:bodyPr>
            <a:normAutofit/>
          </a:bodyPr>
          <a:lstStyle/>
          <a:p>
            <a:r>
              <a:rPr lang="en-IN" sz="3200" b="1" dirty="0">
                <a:latin typeface="Yu Gothic" panose="020B0400000000000000" pitchFamily="34" charset="-128"/>
                <a:ea typeface="Yu Gothic" panose="020B0400000000000000" pitchFamily="34" charset="-128"/>
              </a:rPr>
              <a:t>Direct Web Application Exploitation Flow</a:t>
            </a:r>
            <a:endParaRPr lang="en-IN" sz="3200" dirty="0">
              <a:latin typeface="Yu Gothic" panose="020B0400000000000000" pitchFamily="34" charset="-128"/>
              <a:ea typeface="Yu Gothic" panose="020B0400000000000000" pitchFamily="34" charset="-128"/>
            </a:endParaRPr>
          </a:p>
        </p:txBody>
      </p:sp>
      <p:sp>
        <p:nvSpPr>
          <p:cNvPr id="3" name="Content Placeholder 2">
            <a:extLst>
              <a:ext uri="{FF2B5EF4-FFF2-40B4-BE49-F238E27FC236}">
                <a16:creationId xmlns:a16="http://schemas.microsoft.com/office/drawing/2014/main" id="{5B4F3111-6D5C-DD35-A7FA-F62BC7298634}"/>
              </a:ext>
            </a:extLst>
          </p:cNvPr>
          <p:cNvSpPr>
            <a:spLocks noGrp="1"/>
          </p:cNvSpPr>
          <p:nvPr>
            <p:ph idx="1"/>
          </p:nvPr>
        </p:nvSpPr>
        <p:spPr>
          <a:xfrm>
            <a:off x="108733" y="962596"/>
            <a:ext cx="11912029" cy="5766584"/>
          </a:xfrm>
        </p:spPr>
        <p:txBody>
          <a:bodyPr>
            <a:normAutofit fontScale="92500" lnSpcReduction="10000"/>
          </a:bodyPr>
          <a:lstStyle/>
          <a:p>
            <a:pPr>
              <a:lnSpc>
                <a:spcPct val="120000"/>
              </a:lnSpc>
              <a:spcBef>
                <a:spcPts val="0"/>
              </a:spcBef>
            </a:pPr>
            <a:r>
              <a:rPr lang="en-IN" sz="1600" dirty="0">
                <a:latin typeface="Yu Gothic" panose="020B0400000000000000" pitchFamily="34" charset="-128"/>
                <a:ea typeface="Yu Gothic" panose="020B0400000000000000" pitchFamily="34" charset="-128"/>
              </a:rPr>
              <a:t>Attacker</a:t>
            </a:r>
          </a:p>
          <a:p>
            <a:pPr>
              <a:lnSpc>
                <a:spcPct val="120000"/>
              </a:lnSpc>
              <a:spcBef>
                <a:spcPts val="0"/>
              </a:spcBef>
            </a:pPr>
            <a:r>
              <a:rPr lang="en-IN" sz="1600" dirty="0">
                <a:latin typeface="Yu Gothic" panose="020B0400000000000000" pitchFamily="34" charset="-128"/>
                <a:ea typeface="Yu Gothic" panose="020B0400000000000000" pitchFamily="34" charset="-128"/>
              </a:rPr>
              <a:t>   ↓</a:t>
            </a:r>
          </a:p>
          <a:p>
            <a:pPr>
              <a:lnSpc>
                <a:spcPct val="120000"/>
              </a:lnSpc>
              <a:spcBef>
                <a:spcPts val="0"/>
              </a:spcBef>
            </a:pPr>
            <a:r>
              <a:rPr lang="en-IN" sz="1600" dirty="0">
                <a:latin typeface="Yu Gothic" panose="020B0400000000000000" pitchFamily="34" charset="-128"/>
                <a:ea typeface="Yu Gothic" panose="020B0400000000000000" pitchFamily="34" charset="-128"/>
              </a:rPr>
              <a:t>Reconnaissance (Port scan / Endpoint discovery / API enumeration)</a:t>
            </a:r>
          </a:p>
          <a:p>
            <a:pPr>
              <a:lnSpc>
                <a:spcPct val="120000"/>
              </a:lnSpc>
              <a:spcBef>
                <a:spcPts val="0"/>
              </a:spcBef>
            </a:pPr>
            <a:r>
              <a:rPr lang="en-IN" sz="1600" dirty="0">
                <a:latin typeface="Yu Gothic" panose="020B0400000000000000" pitchFamily="34" charset="-128"/>
                <a:ea typeface="Yu Gothic" panose="020B0400000000000000" pitchFamily="34" charset="-128"/>
              </a:rPr>
              <a:t>   ↓</a:t>
            </a:r>
          </a:p>
          <a:p>
            <a:pPr>
              <a:lnSpc>
                <a:spcPct val="120000"/>
              </a:lnSpc>
              <a:spcBef>
                <a:spcPts val="0"/>
              </a:spcBef>
            </a:pPr>
            <a:r>
              <a:rPr lang="en-IN" sz="1600" dirty="0">
                <a:latin typeface="Yu Gothic" panose="020B0400000000000000" pitchFamily="34" charset="-128"/>
                <a:ea typeface="Yu Gothic" panose="020B0400000000000000" pitchFamily="34" charset="-128"/>
              </a:rPr>
              <a:t>Identify vulnerable endpoint (login/API/upload/search)</a:t>
            </a:r>
          </a:p>
          <a:p>
            <a:pPr>
              <a:lnSpc>
                <a:spcPct val="120000"/>
              </a:lnSpc>
              <a:spcBef>
                <a:spcPts val="0"/>
              </a:spcBef>
            </a:pPr>
            <a:r>
              <a:rPr lang="en-IN" sz="1600" dirty="0">
                <a:latin typeface="Yu Gothic" panose="020B0400000000000000" pitchFamily="34" charset="-128"/>
                <a:ea typeface="Yu Gothic" panose="020B0400000000000000" pitchFamily="34" charset="-128"/>
              </a:rPr>
              <a:t>   ↓</a:t>
            </a:r>
          </a:p>
          <a:p>
            <a:pPr>
              <a:lnSpc>
                <a:spcPct val="120000"/>
              </a:lnSpc>
              <a:spcBef>
                <a:spcPts val="0"/>
              </a:spcBef>
            </a:pPr>
            <a:r>
              <a:rPr lang="en-IN" sz="1600" dirty="0">
                <a:latin typeface="Yu Gothic" panose="020B0400000000000000" pitchFamily="34" charset="-128"/>
                <a:ea typeface="Yu Gothic" panose="020B0400000000000000" pitchFamily="34" charset="-128"/>
              </a:rPr>
              <a:t>Exploit vulnerability</a:t>
            </a:r>
          </a:p>
          <a:p>
            <a:pPr>
              <a:lnSpc>
                <a:spcPct val="120000"/>
              </a:lnSpc>
              <a:spcBef>
                <a:spcPts val="0"/>
              </a:spcBef>
            </a:pPr>
            <a:r>
              <a:rPr lang="en-IN" sz="1600" dirty="0">
                <a:latin typeface="Yu Gothic" panose="020B0400000000000000" pitchFamily="34" charset="-128"/>
                <a:ea typeface="Yu Gothic" panose="020B0400000000000000" pitchFamily="34" charset="-128"/>
              </a:rPr>
              <a:t>   ├─ SQL Injection</a:t>
            </a:r>
          </a:p>
          <a:p>
            <a:pPr>
              <a:lnSpc>
                <a:spcPct val="120000"/>
              </a:lnSpc>
              <a:spcBef>
                <a:spcPts val="0"/>
              </a:spcBef>
            </a:pPr>
            <a:r>
              <a:rPr lang="en-IN" sz="1600" dirty="0">
                <a:latin typeface="Yu Gothic" panose="020B0400000000000000" pitchFamily="34" charset="-128"/>
                <a:ea typeface="Yu Gothic" panose="020B0400000000000000" pitchFamily="34" charset="-128"/>
              </a:rPr>
              <a:t>   ├─ Command Injection</a:t>
            </a:r>
          </a:p>
          <a:p>
            <a:pPr>
              <a:lnSpc>
                <a:spcPct val="120000"/>
              </a:lnSpc>
              <a:spcBef>
                <a:spcPts val="0"/>
              </a:spcBef>
            </a:pPr>
            <a:r>
              <a:rPr lang="en-IN" sz="1600" dirty="0">
                <a:latin typeface="Yu Gothic" panose="020B0400000000000000" pitchFamily="34" charset="-128"/>
                <a:ea typeface="Yu Gothic" panose="020B0400000000000000" pitchFamily="34" charset="-128"/>
              </a:rPr>
              <a:t>   ├─ Deserialization attack</a:t>
            </a:r>
          </a:p>
          <a:p>
            <a:pPr>
              <a:lnSpc>
                <a:spcPct val="120000"/>
              </a:lnSpc>
              <a:spcBef>
                <a:spcPts val="0"/>
              </a:spcBef>
            </a:pPr>
            <a:r>
              <a:rPr lang="en-IN" sz="1600" dirty="0">
                <a:latin typeface="Yu Gothic" panose="020B0400000000000000" pitchFamily="34" charset="-128"/>
                <a:ea typeface="Yu Gothic" panose="020B0400000000000000" pitchFamily="34" charset="-128"/>
              </a:rPr>
              <a:t>   ├─ File Upload exploit</a:t>
            </a:r>
          </a:p>
          <a:p>
            <a:pPr>
              <a:lnSpc>
                <a:spcPct val="120000"/>
              </a:lnSpc>
              <a:spcBef>
                <a:spcPts val="0"/>
              </a:spcBef>
            </a:pPr>
            <a:r>
              <a:rPr lang="en-IN" sz="1600" dirty="0">
                <a:latin typeface="Yu Gothic" panose="020B0400000000000000" pitchFamily="34" charset="-128"/>
                <a:ea typeface="Yu Gothic" panose="020B0400000000000000" pitchFamily="34" charset="-128"/>
              </a:rPr>
              <a:t>   └─ Remote Code Execution</a:t>
            </a:r>
          </a:p>
          <a:p>
            <a:pPr>
              <a:lnSpc>
                <a:spcPct val="120000"/>
              </a:lnSpc>
              <a:spcBef>
                <a:spcPts val="0"/>
              </a:spcBef>
            </a:pPr>
            <a:r>
              <a:rPr lang="en-IN" sz="1600" dirty="0">
                <a:latin typeface="Yu Gothic" panose="020B0400000000000000" pitchFamily="34" charset="-128"/>
                <a:ea typeface="Yu Gothic" panose="020B0400000000000000" pitchFamily="34" charset="-128"/>
              </a:rPr>
              <a:t>   ↓</a:t>
            </a:r>
          </a:p>
          <a:p>
            <a:pPr>
              <a:lnSpc>
                <a:spcPct val="120000"/>
              </a:lnSpc>
              <a:spcBef>
                <a:spcPts val="0"/>
              </a:spcBef>
            </a:pPr>
            <a:r>
              <a:rPr lang="en-IN" sz="1600" dirty="0">
                <a:latin typeface="Yu Gothic" panose="020B0400000000000000" pitchFamily="34" charset="-128"/>
                <a:ea typeface="Yu Gothic" panose="020B0400000000000000" pitchFamily="34" charset="-128"/>
              </a:rPr>
              <a:t>Gain Web App execution context</a:t>
            </a:r>
          </a:p>
          <a:p>
            <a:pPr>
              <a:lnSpc>
                <a:spcPct val="120000"/>
              </a:lnSpc>
              <a:spcBef>
                <a:spcPts val="0"/>
              </a:spcBef>
            </a:pPr>
            <a:r>
              <a:rPr lang="en-IN" sz="1600" dirty="0">
                <a:latin typeface="Yu Gothic" panose="020B0400000000000000" pitchFamily="34" charset="-128"/>
                <a:ea typeface="Yu Gothic" panose="020B0400000000000000" pitchFamily="34" charset="-128"/>
              </a:rPr>
              <a:t>   ↓</a:t>
            </a:r>
          </a:p>
          <a:p>
            <a:pPr>
              <a:lnSpc>
                <a:spcPct val="120000"/>
              </a:lnSpc>
              <a:spcBef>
                <a:spcPts val="0"/>
              </a:spcBef>
            </a:pPr>
            <a:r>
              <a:rPr lang="en-IN" sz="1600" dirty="0">
                <a:latin typeface="Yu Gothic" panose="020B0400000000000000" pitchFamily="34" charset="-128"/>
                <a:ea typeface="Yu Gothic" panose="020B0400000000000000" pitchFamily="34" charset="-128"/>
              </a:rPr>
              <a:t>Access App Service environment variables / secrets</a:t>
            </a:r>
          </a:p>
          <a:p>
            <a:pPr>
              <a:lnSpc>
                <a:spcPct val="120000"/>
              </a:lnSpc>
              <a:spcBef>
                <a:spcPts val="0"/>
              </a:spcBef>
            </a:pPr>
            <a:r>
              <a:rPr lang="en-IN" sz="1600" dirty="0">
                <a:latin typeface="Yu Gothic" panose="020B0400000000000000" pitchFamily="34" charset="-128"/>
                <a:ea typeface="Yu Gothic" panose="020B0400000000000000" pitchFamily="34" charset="-128"/>
              </a:rPr>
              <a:t>   ↓</a:t>
            </a:r>
          </a:p>
          <a:p>
            <a:pPr>
              <a:lnSpc>
                <a:spcPct val="120000"/>
              </a:lnSpc>
              <a:spcBef>
                <a:spcPts val="0"/>
              </a:spcBef>
            </a:pPr>
            <a:r>
              <a:rPr lang="en-IN" sz="1600" dirty="0">
                <a:latin typeface="Yu Gothic" panose="020B0400000000000000" pitchFamily="34" charset="-128"/>
                <a:ea typeface="Yu Gothic" panose="020B0400000000000000" pitchFamily="34" charset="-128"/>
              </a:rPr>
              <a:t>Extract Storage Account keys / connection strings</a:t>
            </a:r>
          </a:p>
          <a:p>
            <a:pPr>
              <a:lnSpc>
                <a:spcPct val="120000"/>
              </a:lnSpc>
              <a:spcBef>
                <a:spcPts val="0"/>
              </a:spcBef>
            </a:pPr>
            <a:r>
              <a:rPr lang="en-IN" sz="1600" dirty="0">
                <a:latin typeface="Yu Gothic" panose="020B0400000000000000" pitchFamily="34" charset="-128"/>
                <a:ea typeface="Yu Gothic" panose="020B0400000000000000" pitchFamily="34" charset="-128"/>
              </a:rPr>
              <a:t>   ↓</a:t>
            </a:r>
          </a:p>
          <a:p>
            <a:pPr>
              <a:lnSpc>
                <a:spcPct val="120000"/>
              </a:lnSpc>
              <a:spcBef>
                <a:spcPts val="0"/>
              </a:spcBef>
            </a:pPr>
            <a:r>
              <a:rPr lang="en-IN" sz="1600" dirty="0">
                <a:latin typeface="Yu Gothic" panose="020B0400000000000000" pitchFamily="34" charset="-128"/>
                <a:ea typeface="Yu Gothic" panose="020B0400000000000000" pitchFamily="34" charset="-128"/>
              </a:rPr>
              <a:t>Authenticate to Storage Account</a:t>
            </a:r>
          </a:p>
          <a:p>
            <a:pPr>
              <a:lnSpc>
                <a:spcPct val="120000"/>
              </a:lnSpc>
              <a:spcBef>
                <a:spcPts val="0"/>
              </a:spcBef>
            </a:pPr>
            <a:r>
              <a:rPr lang="en-IN" sz="1600" dirty="0">
                <a:latin typeface="Yu Gothic" panose="020B0400000000000000" pitchFamily="34" charset="-128"/>
                <a:ea typeface="Yu Gothic" panose="020B0400000000000000" pitchFamily="34" charset="-128"/>
              </a:rPr>
              <a:t>   ↓</a:t>
            </a:r>
          </a:p>
          <a:p>
            <a:pPr>
              <a:lnSpc>
                <a:spcPct val="120000"/>
              </a:lnSpc>
              <a:spcBef>
                <a:spcPts val="0"/>
              </a:spcBef>
            </a:pPr>
            <a:r>
              <a:rPr lang="en-IN" sz="1600" dirty="0">
                <a:latin typeface="Yu Gothic" panose="020B0400000000000000" pitchFamily="34" charset="-128"/>
                <a:ea typeface="Yu Gothic" panose="020B0400000000000000" pitchFamily="34" charset="-128"/>
              </a:rPr>
              <a:t>Download / Exfiltrate Data</a:t>
            </a:r>
          </a:p>
        </p:txBody>
      </p:sp>
    </p:spTree>
    <p:extLst>
      <p:ext uri="{BB962C8B-B14F-4D97-AF65-F5344CB8AC3E}">
        <p14:creationId xmlns:p14="http://schemas.microsoft.com/office/powerpoint/2010/main" val="3650681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93C5B-B3D0-4B34-D88A-A3BB31BCC3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48A9D5-4712-6219-32F3-7BC7035352EC}"/>
              </a:ext>
            </a:extLst>
          </p:cNvPr>
          <p:cNvSpPr>
            <a:spLocks noGrp="1"/>
          </p:cNvSpPr>
          <p:nvPr>
            <p:ph type="title"/>
          </p:nvPr>
        </p:nvSpPr>
        <p:spPr>
          <a:xfrm>
            <a:off x="108734" y="128820"/>
            <a:ext cx="11912029" cy="703388"/>
          </a:xfrm>
        </p:spPr>
        <p:txBody>
          <a:bodyPr>
            <a:normAutofit/>
          </a:bodyPr>
          <a:lstStyle/>
          <a:p>
            <a:r>
              <a:rPr lang="en-IN" sz="3600" b="1" dirty="0">
                <a:latin typeface="Yu Gothic" panose="020B0400000000000000" pitchFamily="34" charset="-128"/>
                <a:ea typeface="Yu Gothic" panose="020B0400000000000000" pitchFamily="34" charset="-128"/>
              </a:rPr>
              <a:t>Direct Web Application Exploitation Flow</a:t>
            </a:r>
            <a:endParaRPr lang="en-IN" sz="3600" dirty="0">
              <a:latin typeface="Yu Gothic" panose="020B0400000000000000" pitchFamily="34" charset="-128"/>
              <a:ea typeface="Yu Gothic" panose="020B0400000000000000" pitchFamily="34" charset="-128"/>
            </a:endParaRPr>
          </a:p>
        </p:txBody>
      </p:sp>
      <p:sp>
        <p:nvSpPr>
          <p:cNvPr id="3" name="Content Placeholder 2">
            <a:extLst>
              <a:ext uri="{FF2B5EF4-FFF2-40B4-BE49-F238E27FC236}">
                <a16:creationId xmlns:a16="http://schemas.microsoft.com/office/drawing/2014/main" id="{7CACBF89-7374-F378-28B6-CEB4D5B4A115}"/>
              </a:ext>
            </a:extLst>
          </p:cNvPr>
          <p:cNvSpPr>
            <a:spLocks noGrp="1"/>
          </p:cNvSpPr>
          <p:nvPr>
            <p:ph idx="1"/>
          </p:nvPr>
        </p:nvSpPr>
        <p:spPr>
          <a:xfrm>
            <a:off x="108733" y="962596"/>
            <a:ext cx="5987267" cy="5766584"/>
          </a:xfrm>
        </p:spPr>
        <p:txBody>
          <a:bodyPr>
            <a:normAutofit fontScale="92500" lnSpcReduction="20000"/>
          </a:bodyPr>
          <a:lstStyle/>
          <a:p>
            <a:pPr>
              <a:lnSpc>
                <a:spcPct val="120000"/>
              </a:lnSpc>
              <a:spcBef>
                <a:spcPts val="0"/>
              </a:spcBef>
            </a:pPr>
            <a:r>
              <a:rPr lang="en-IN" sz="1600" dirty="0">
                <a:latin typeface="Yu Gothic" panose="020B0400000000000000" pitchFamily="34" charset="-128"/>
                <a:ea typeface="Yu Gothic" panose="020B0400000000000000" pitchFamily="34" charset="-128"/>
              </a:rPr>
              <a:t>Attacker</a:t>
            </a:r>
          </a:p>
          <a:p>
            <a:pPr>
              <a:lnSpc>
                <a:spcPct val="120000"/>
              </a:lnSpc>
              <a:spcBef>
                <a:spcPts val="0"/>
              </a:spcBef>
            </a:pPr>
            <a:r>
              <a:rPr lang="en-IN" sz="1600" dirty="0">
                <a:latin typeface="Yu Gothic" panose="020B0400000000000000" pitchFamily="34" charset="-128"/>
                <a:ea typeface="Yu Gothic" panose="020B0400000000000000" pitchFamily="34" charset="-128"/>
              </a:rPr>
              <a:t>   ↓</a:t>
            </a:r>
          </a:p>
          <a:p>
            <a:pPr>
              <a:lnSpc>
                <a:spcPct val="120000"/>
              </a:lnSpc>
              <a:spcBef>
                <a:spcPts val="0"/>
              </a:spcBef>
            </a:pPr>
            <a:r>
              <a:rPr lang="en-IN" sz="1600" dirty="0">
                <a:latin typeface="Yu Gothic" panose="020B0400000000000000" pitchFamily="34" charset="-128"/>
                <a:ea typeface="Yu Gothic" panose="020B0400000000000000" pitchFamily="34" charset="-128"/>
              </a:rPr>
              <a:t>Reconnaissance (Port scan / Endpoint discovery / API enumeration)</a:t>
            </a:r>
          </a:p>
          <a:p>
            <a:pPr>
              <a:lnSpc>
                <a:spcPct val="120000"/>
              </a:lnSpc>
              <a:spcBef>
                <a:spcPts val="0"/>
              </a:spcBef>
            </a:pPr>
            <a:r>
              <a:rPr lang="en-IN" sz="1600" dirty="0">
                <a:latin typeface="Yu Gothic" panose="020B0400000000000000" pitchFamily="34" charset="-128"/>
                <a:ea typeface="Yu Gothic" panose="020B0400000000000000" pitchFamily="34" charset="-128"/>
              </a:rPr>
              <a:t>   ↓</a:t>
            </a:r>
          </a:p>
          <a:p>
            <a:pPr>
              <a:lnSpc>
                <a:spcPct val="120000"/>
              </a:lnSpc>
              <a:spcBef>
                <a:spcPts val="0"/>
              </a:spcBef>
            </a:pPr>
            <a:r>
              <a:rPr lang="en-IN" sz="1600" dirty="0">
                <a:latin typeface="Yu Gothic" panose="020B0400000000000000" pitchFamily="34" charset="-128"/>
                <a:ea typeface="Yu Gothic" panose="020B0400000000000000" pitchFamily="34" charset="-128"/>
              </a:rPr>
              <a:t>Identify vulnerable endpoint (login/API/upload/search)</a:t>
            </a:r>
          </a:p>
          <a:p>
            <a:pPr>
              <a:lnSpc>
                <a:spcPct val="120000"/>
              </a:lnSpc>
              <a:spcBef>
                <a:spcPts val="0"/>
              </a:spcBef>
            </a:pPr>
            <a:r>
              <a:rPr lang="en-IN" sz="1600" dirty="0">
                <a:latin typeface="Yu Gothic" panose="020B0400000000000000" pitchFamily="34" charset="-128"/>
                <a:ea typeface="Yu Gothic" panose="020B0400000000000000" pitchFamily="34" charset="-128"/>
              </a:rPr>
              <a:t>   ↓</a:t>
            </a:r>
          </a:p>
          <a:p>
            <a:pPr>
              <a:lnSpc>
                <a:spcPct val="120000"/>
              </a:lnSpc>
              <a:spcBef>
                <a:spcPts val="0"/>
              </a:spcBef>
            </a:pPr>
            <a:r>
              <a:rPr lang="en-IN" sz="1600" dirty="0">
                <a:latin typeface="Yu Gothic" panose="020B0400000000000000" pitchFamily="34" charset="-128"/>
                <a:ea typeface="Yu Gothic" panose="020B0400000000000000" pitchFamily="34" charset="-128"/>
              </a:rPr>
              <a:t>Exploit vulnerability</a:t>
            </a:r>
          </a:p>
          <a:p>
            <a:pPr>
              <a:lnSpc>
                <a:spcPct val="120000"/>
              </a:lnSpc>
              <a:spcBef>
                <a:spcPts val="0"/>
              </a:spcBef>
            </a:pPr>
            <a:r>
              <a:rPr lang="en-IN" sz="1600" dirty="0">
                <a:latin typeface="Yu Gothic" panose="020B0400000000000000" pitchFamily="34" charset="-128"/>
                <a:ea typeface="Yu Gothic" panose="020B0400000000000000" pitchFamily="34" charset="-128"/>
              </a:rPr>
              <a:t>   ├─ SQL Injection</a:t>
            </a:r>
          </a:p>
          <a:p>
            <a:pPr>
              <a:lnSpc>
                <a:spcPct val="120000"/>
              </a:lnSpc>
              <a:spcBef>
                <a:spcPts val="0"/>
              </a:spcBef>
            </a:pPr>
            <a:r>
              <a:rPr lang="en-IN" sz="1600" dirty="0">
                <a:latin typeface="Yu Gothic" panose="020B0400000000000000" pitchFamily="34" charset="-128"/>
                <a:ea typeface="Yu Gothic" panose="020B0400000000000000" pitchFamily="34" charset="-128"/>
              </a:rPr>
              <a:t>   ├─ Command Injection</a:t>
            </a:r>
          </a:p>
          <a:p>
            <a:pPr>
              <a:lnSpc>
                <a:spcPct val="120000"/>
              </a:lnSpc>
              <a:spcBef>
                <a:spcPts val="0"/>
              </a:spcBef>
            </a:pPr>
            <a:r>
              <a:rPr lang="en-IN" sz="1600" dirty="0">
                <a:latin typeface="Yu Gothic" panose="020B0400000000000000" pitchFamily="34" charset="-128"/>
                <a:ea typeface="Yu Gothic" panose="020B0400000000000000" pitchFamily="34" charset="-128"/>
              </a:rPr>
              <a:t>   ├─ Deserialization attack</a:t>
            </a:r>
          </a:p>
          <a:p>
            <a:pPr>
              <a:lnSpc>
                <a:spcPct val="120000"/>
              </a:lnSpc>
              <a:spcBef>
                <a:spcPts val="0"/>
              </a:spcBef>
            </a:pPr>
            <a:r>
              <a:rPr lang="en-IN" sz="1600" dirty="0">
                <a:latin typeface="Yu Gothic" panose="020B0400000000000000" pitchFamily="34" charset="-128"/>
                <a:ea typeface="Yu Gothic" panose="020B0400000000000000" pitchFamily="34" charset="-128"/>
              </a:rPr>
              <a:t>   ├─ File Upload exploit</a:t>
            </a:r>
          </a:p>
          <a:p>
            <a:pPr>
              <a:lnSpc>
                <a:spcPct val="120000"/>
              </a:lnSpc>
              <a:spcBef>
                <a:spcPts val="0"/>
              </a:spcBef>
            </a:pPr>
            <a:r>
              <a:rPr lang="en-IN" sz="1600" dirty="0">
                <a:latin typeface="Yu Gothic" panose="020B0400000000000000" pitchFamily="34" charset="-128"/>
                <a:ea typeface="Yu Gothic" panose="020B0400000000000000" pitchFamily="34" charset="-128"/>
              </a:rPr>
              <a:t>   └─ Remote Code Execution</a:t>
            </a:r>
          </a:p>
          <a:p>
            <a:pPr>
              <a:lnSpc>
                <a:spcPct val="120000"/>
              </a:lnSpc>
              <a:spcBef>
                <a:spcPts val="0"/>
              </a:spcBef>
            </a:pPr>
            <a:r>
              <a:rPr lang="en-IN" sz="1600" dirty="0">
                <a:latin typeface="Yu Gothic" panose="020B0400000000000000" pitchFamily="34" charset="-128"/>
                <a:ea typeface="Yu Gothic" panose="020B0400000000000000" pitchFamily="34" charset="-128"/>
              </a:rPr>
              <a:t>   ↓</a:t>
            </a:r>
          </a:p>
          <a:p>
            <a:pPr>
              <a:lnSpc>
                <a:spcPct val="120000"/>
              </a:lnSpc>
              <a:spcBef>
                <a:spcPts val="0"/>
              </a:spcBef>
            </a:pPr>
            <a:r>
              <a:rPr lang="en-IN" sz="1600" dirty="0">
                <a:latin typeface="Yu Gothic" panose="020B0400000000000000" pitchFamily="34" charset="-128"/>
                <a:ea typeface="Yu Gothic" panose="020B0400000000000000" pitchFamily="34" charset="-128"/>
              </a:rPr>
              <a:t>Gain Web App execution context</a:t>
            </a:r>
          </a:p>
          <a:p>
            <a:pPr>
              <a:lnSpc>
                <a:spcPct val="120000"/>
              </a:lnSpc>
              <a:spcBef>
                <a:spcPts val="0"/>
              </a:spcBef>
            </a:pPr>
            <a:r>
              <a:rPr lang="en-IN" sz="1600" dirty="0">
                <a:latin typeface="Yu Gothic" panose="020B0400000000000000" pitchFamily="34" charset="-128"/>
                <a:ea typeface="Yu Gothic" panose="020B0400000000000000" pitchFamily="34" charset="-128"/>
              </a:rPr>
              <a:t>   ↓</a:t>
            </a:r>
          </a:p>
          <a:p>
            <a:pPr>
              <a:lnSpc>
                <a:spcPct val="120000"/>
              </a:lnSpc>
              <a:spcBef>
                <a:spcPts val="0"/>
              </a:spcBef>
            </a:pPr>
            <a:r>
              <a:rPr lang="en-IN" sz="1600" dirty="0">
                <a:latin typeface="Yu Gothic" panose="020B0400000000000000" pitchFamily="34" charset="-128"/>
                <a:ea typeface="Yu Gothic" panose="020B0400000000000000" pitchFamily="34" charset="-128"/>
              </a:rPr>
              <a:t>Access App Service environment variables / secrets</a:t>
            </a:r>
          </a:p>
          <a:p>
            <a:pPr>
              <a:lnSpc>
                <a:spcPct val="120000"/>
              </a:lnSpc>
              <a:spcBef>
                <a:spcPts val="0"/>
              </a:spcBef>
            </a:pPr>
            <a:r>
              <a:rPr lang="en-IN" sz="1600" dirty="0">
                <a:latin typeface="Yu Gothic" panose="020B0400000000000000" pitchFamily="34" charset="-128"/>
                <a:ea typeface="Yu Gothic" panose="020B0400000000000000" pitchFamily="34" charset="-128"/>
              </a:rPr>
              <a:t>   ↓</a:t>
            </a:r>
          </a:p>
          <a:p>
            <a:pPr>
              <a:lnSpc>
                <a:spcPct val="120000"/>
              </a:lnSpc>
              <a:spcBef>
                <a:spcPts val="0"/>
              </a:spcBef>
            </a:pPr>
            <a:r>
              <a:rPr lang="en-IN" sz="1600" dirty="0">
                <a:latin typeface="Yu Gothic" panose="020B0400000000000000" pitchFamily="34" charset="-128"/>
                <a:ea typeface="Yu Gothic" panose="020B0400000000000000" pitchFamily="34" charset="-128"/>
              </a:rPr>
              <a:t>Extract Storage Account keys / connection strings</a:t>
            </a:r>
          </a:p>
          <a:p>
            <a:pPr>
              <a:lnSpc>
                <a:spcPct val="120000"/>
              </a:lnSpc>
              <a:spcBef>
                <a:spcPts val="0"/>
              </a:spcBef>
            </a:pPr>
            <a:r>
              <a:rPr lang="en-IN" sz="1600" dirty="0">
                <a:latin typeface="Yu Gothic" panose="020B0400000000000000" pitchFamily="34" charset="-128"/>
                <a:ea typeface="Yu Gothic" panose="020B0400000000000000" pitchFamily="34" charset="-128"/>
              </a:rPr>
              <a:t>   ↓</a:t>
            </a:r>
          </a:p>
          <a:p>
            <a:pPr>
              <a:lnSpc>
                <a:spcPct val="120000"/>
              </a:lnSpc>
              <a:spcBef>
                <a:spcPts val="0"/>
              </a:spcBef>
            </a:pPr>
            <a:r>
              <a:rPr lang="en-IN" sz="1600" dirty="0">
                <a:latin typeface="Yu Gothic" panose="020B0400000000000000" pitchFamily="34" charset="-128"/>
                <a:ea typeface="Yu Gothic" panose="020B0400000000000000" pitchFamily="34" charset="-128"/>
              </a:rPr>
              <a:t>Authenticate to Storage Account</a:t>
            </a:r>
          </a:p>
          <a:p>
            <a:pPr>
              <a:lnSpc>
                <a:spcPct val="120000"/>
              </a:lnSpc>
              <a:spcBef>
                <a:spcPts val="0"/>
              </a:spcBef>
            </a:pPr>
            <a:r>
              <a:rPr lang="en-IN" sz="1600" dirty="0">
                <a:latin typeface="Yu Gothic" panose="020B0400000000000000" pitchFamily="34" charset="-128"/>
                <a:ea typeface="Yu Gothic" panose="020B0400000000000000" pitchFamily="34" charset="-128"/>
              </a:rPr>
              <a:t>   ↓</a:t>
            </a:r>
          </a:p>
          <a:p>
            <a:pPr>
              <a:lnSpc>
                <a:spcPct val="120000"/>
              </a:lnSpc>
              <a:spcBef>
                <a:spcPts val="0"/>
              </a:spcBef>
            </a:pPr>
            <a:r>
              <a:rPr lang="en-IN" sz="1600" dirty="0">
                <a:latin typeface="Yu Gothic" panose="020B0400000000000000" pitchFamily="34" charset="-128"/>
                <a:ea typeface="Yu Gothic" panose="020B0400000000000000" pitchFamily="34" charset="-128"/>
              </a:rPr>
              <a:t>Download / Exfiltrate Data</a:t>
            </a:r>
          </a:p>
        </p:txBody>
      </p:sp>
      <p:sp>
        <p:nvSpPr>
          <p:cNvPr id="5" name="Rectangle: Rounded Corners 4">
            <a:extLst>
              <a:ext uri="{FF2B5EF4-FFF2-40B4-BE49-F238E27FC236}">
                <a16:creationId xmlns:a16="http://schemas.microsoft.com/office/drawing/2014/main" id="{892912BB-BC58-CA93-6FB1-8400835F286B}"/>
              </a:ext>
            </a:extLst>
          </p:cNvPr>
          <p:cNvSpPr/>
          <p:nvPr/>
        </p:nvSpPr>
        <p:spPr>
          <a:xfrm>
            <a:off x="7436779" y="789397"/>
            <a:ext cx="1243173" cy="256854"/>
          </a:xfrm>
          <a:prstGeom prst="roundRect">
            <a:avLst/>
          </a:prstGeom>
          <a:ln w="19050"/>
        </p:spPr>
        <p:style>
          <a:lnRef idx="2">
            <a:schemeClr val="accent2"/>
          </a:lnRef>
          <a:fillRef idx="1">
            <a:schemeClr val="lt1"/>
          </a:fillRef>
          <a:effectRef idx="0">
            <a:schemeClr val="accent2"/>
          </a:effectRef>
          <a:fontRef idx="minor">
            <a:schemeClr val="dk1"/>
          </a:fontRef>
        </p:style>
        <p:txBody>
          <a:bodyPr rtlCol="0" anchor="ctr"/>
          <a:lstStyle/>
          <a:p>
            <a:pPr algn="ctr"/>
            <a:r>
              <a:rPr lang="en-IN" sz="1400" b="1" dirty="0"/>
              <a:t>Recon</a:t>
            </a:r>
            <a:endParaRPr lang="en-IN" b="1" dirty="0"/>
          </a:p>
        </p:txBody>
      </p:sp>
      <p:sp>
        <p:nvSpPr>
          <p:cNvPr id="6" name="Rectangle: Rounded Corners 5">
            <a:extLst>
              <a:ext uri="{FF2B5EF4-FFF2-40B4-BE49-F238E27FC236}">
                <a16:creationId xmlns:a16="http://schemas.microsoft.com/office/drawing/2014/main" id="{F95A7056-557A-0B71-72CA-6D908287EEA5}"/>
              </a:ext>
            </a:extLst>
          </p:cNvPr>
          <p:cNvSpPr/>
          <p:nvPr/>
        </p:nvSpPr>
        <p:spPr>
          <a:xfrm>
            <a:off x="7436774" y="1247024"/>
            <a:ext cx="1243173" cy="702068"/>
          </a:xfrm>
          <a:prstGeom prst="roundRect">
            <a:avLst/>
          </a:prstGeom>
          <a:ln w="19050"/>
        </p:spPr>
        <p:style>
          <a:lnRef idx="2">
            <a:schemeClr val="accent2"/>
          </a:lnRef>
          <a:fillRef idx="1">
            <a:schemeClr val="lt1"/>
          </a:fillRef>
          <a:effectRef idx="0">
            <a:schemeClr val="accent2"/>
          </a:effectRef>
          <a:fontRef idx="minor">
            <a:schemeClr val="dk1"/>
          </a:fontRef>
        </p:style>
        <p:txBody>
          <a:bodyPr rtlCol="0" anchor="ctr"/>
          <a:lstStyle/>
          <a:p>
            <a:pPr algn="ctr"/>
            <a:r>
              <a:rPr lang="en-IN" sz="1400" b="1" dirty="0"/>
              <a:t>Identify Vulnerable Endpoint</a:t>
            </a:r>
          </a:p>
        </p:txBody>
      </p:sp>
      <p:sp>
        <p:nvSpPr>
          <p:cNvPr id="7" name="Rectangle: Rounded Corners 6">
            <a:extLst>
              <a:ext uri="{FF2B5EF4-FFF2-40B4-BE49-F238E27FC236}">
                <a16:creationId xmlns:a16="http://schemas.microsoft.com/office/drawing/2014/main" id="{6256724A-8276-3BF9-3645-BBAAF14FD193}"/>
              </a:ext>
            </a:extLst>
          </p:cNvPr>
          <p:cNvSpPr/>
          <p:nvPr/>
        </p:nvSpPr>
        <p:spPr>
          <a:xfrm>
            <a:off x="7436773" y="2181545"/>
            <a:ext cx="1243173" cy="507715"/>
          </a:xfrm>
          <a:prstGeom prst="roundRect">
            <a:avLst/>
          </a:prstGeom>
          <a:ln w="19050"/>
        </p:spPr>
        <p:style>
          <a:lnRef idx="2">
            <a:schemeClr val="accent2"/>
          </a:lnRef>
          <a:fillRef idx="1">
            <a:schemeClr val="lt1"/>
          </a:fillRef>
          <a:effectRef idx="0">
            <a:schemeClr val="accent2"/>
          </a:effectRef>
          <a:fontRef idx="minor">
            <a:schemeClr val="dk1"/>
          </a:fontRef>
        </p:style>
        <p:txBody>
          <a:bodyPr rtlCol="0" anchor="ctr"/>
          <a:lstStyle/>
          <a:p>
            <a:pPr algn="ctr"/>
            <a:r>
              <a:rPr lang="en-IN" sz="1400" b="1" dirty="0"/>
              <a:t>Exploit Vulnerability</a:t>
            </a:r>
          </a:p>
        </p:txBody>
      </p:sp>
      <p:sp>
        <p:nvSpPr>
          <p:cNvPr id="8" name="Rectangle: Rounded Corners 7">
            <a:extLst>
              <a:ext uri="{FF2B5EF4-FFF2-40B4-BE49-F238E27FC236}">
                <a16:creationId xmlns:a16="http://schemas.microsoft.com/office/drawing/2014/main" id="{01DC0055-3EA0-A549-8E64-F96D47BA7B2A}"/>
              </a:ext>
            </a:extLst>
          </p:cNvPr>
          <p:cNvSpPr/>
          <p:nvPr/>
        </p:nvSpPr>
        <p:spPr>
          <a:xfrm>
            <a:off x="7436773" y="2931987"/>
            <a:ext cx="1243173" cy="619018"/>
          </a:xfrm>
          <a:prstGeom prst="roundRect">
            <a:avLst/>
          </a:prstGeom>
          <a:ln w="19050"/>
        </p:spPr>
        <p:style>
          <a:lnRef idx="2">
            <a:schemeClr val="accent2"/>
          </a:lnRef>
          <a:fillRef idx="1">
            <a:schemeClr val="lt1"/>
          </a:fillRef>
          <a:effectRef idx="0">
            <a:schemeClr val="accent2"/>
          </a:effectRef>
          <a:fontRef idx="minor">
            <a:schemeClr val="dk1"/>
          </a:fontRef>
        </p:style>
        <p:txBody>
          <a:bodyPr rtlCol="0" anchor="ctr"/>
          <a:lstStyle/>
          <a:p>
            <a:pPr algn="ctr"/>
            <a:r>
              <a:rPr lang="en-IN" sz="1200" b="1" dirty="0"/>
              <a:t>Gain Web app Execution Context</a:t>
            </a:r>
          </a:p>
        </p:txBody>
      </p:sp>
      <p:sp>
        <p:nvSpPr>
          <p:cNvPr id="9" name="Rectangle: Rounded Corners 8">
            <a:extLst>
              <a:ext uri="{FF2B5EF4-FFF2-40B4-BE49-F238E27FC236}">
                <a16:creationId xmlns:a16="http://schemas.microsoft.com/office/drawing/2014/main" id="{8EFEF7DA-C14F-4722-4C90-28C6D9FD171C}"/>
              </a:ext>
            </a:extLst>
          </p:cNvPr>
          <p:cNvSpPr/>
          <p:nvPr/>
        </p:nvSpPr>
        <p:spPr>
          <a:xfrm>
            <a:off x="7266390" y="3827122"/>
            <a:ext cx="1583937" cy="619018"/>
          </a:xfrm>
          <a:prstGeom prst="roundRect">
            <a:avLst/>
          </a:prstGeom>
          <a:ln w="19050"/>
        </p:spPr>
        <p:style>
          <a:lnRef idx="2">
            <a:schemeClr val="accent2"/>
          </a:lnRef>
          <a:fillRef idx="1">
            <a:schemeClr val="lt1"/>
          </a:fillRef>
          <a:effectRef idx="0">
            <a:schemeClr val="accent2"/>
          </a:effectRef>
          <a:fontRef idx="minor">
            <a:schemeClr val="dk1"/>
          </a:fontRef>
        </p:style>
        <p:txBody>
          <a:bodyPr rtlCol="0" anchor="ctr"/>
          <a:lstStyle/>
          <a:p>
            <a:pPr algn="ctr"/>
            <a:r>
              <a:rPr lang="en-IN" sz="1200" b="1" dirty="0"/>
              <a:t>Access App service Environment Variables /Secrets</a:t>
            </a:r>
          </a:p>
        </p:txBody>
      </p:sp>
      <p:sp>
        <p:nvSpPr>
          <p:cNvPr id="10" name="Rectangle: Rounded Corners 9">
            <a:extLst>
              <a:ext uri="{FF2B5EF4-FFF2-40B4-BE49-F238E27FC236}">
                <a16:creationId xmlns:a16="http://schemas.microsoft.com/office/drawing/2014/main" id="{A5DDAE5D-153F-543D-B327-97B04477A7E1}"/>
              </a:ext>
            </a:extLst>
          </p:cNvPr>
          <p:cNvSpPr/>
          <p:nvPr/>
        </p:nvSpPr>
        <p:spPr>
          <a:xfrm>
            <a:off x="7266390" y="4639209"/>
            <a:ext cx="1583937" cy="619018"/>
          </a:xfrm>
          <a:prstGeom prst="roundRect">
            <a:avLst/>
          </a:prstGeom>
          <a:ln w="19050"/>
        </p:spPr>
        <p:style>
          <a:lnRef idx="2">
            <a:schemeClr val="accent2"/>
          </a:lnRef>
          <a:fillRef idx="1">
            <a:schemeClr val="lt1"/>
          </a:fillRef>
          <a:effectRef idx="0">
            <a:schemeClr val="accent2"/>
          </a:effectRef>
          <a:fontRef idx="minor">
            <a:schemeClr val="dk1"/>
          </a:fontRef>
        </p:style>
        <p:txBody>
          <a:bodyPr rtlCol="0" anchor="ctr"/>
          <a:lstStyle/>
          <a:p>
            <a:pPr algn="ctr"/>
            <a:r>
              <a:rPr lang="en-IN" sz="1200" b="1" dirty="0"/>
              <a:t>Extract Storage Account keys / Connection strings</a:t>
            </a:r>
          </a:p>
        </p:txBody>
      </p:sp>
      <p:sp>
        <p:nvSpPr>
          <p:cNvPr id="11" name="Rectangle: Rounded Corners 10">
            <a:extLst>
              <a:ext uri="{FF2B5EF4-FFF2-40B4-BE49-F238E27FC236}">
                <a16:creationId xmlns:a16="http://schemas.microsoft.com/office/drawing/2014/main" id="{C4BC8533-6E37-B058-B890-66066E1528B0}"/>
              </a:ext>
            </a:extLst>
          </p:cNvPr>
          <p:cNvSpPr/>
          <p:nvPr/>
        </p:nvSpPr>
        <p:spPr>
          <a:xfrm>
            <a:off x="7266390" y="5429035"/>
            <a:ext cx="1583937" cy="619018"/>
          </a:xfrm>
          <a:prstGeom prst="roundRect">
            <a:avLst/>
          </a:prstGeom>
          <a:ln w="19050"/>
        </p:spPr>
        <p:style>
          <a:lnRef idx="2">
            <a:schemeClr val="accent2"/>
          </a:lnRef>
          <a:fillRef idx="1">
            <a:schemeClr val="lt1"/>
          </a:fillRef>
          <a:effectRef idx="0">
            <a:schemeClr val="accent2"/>
          </a:effectRef>
          <a:fontRef idx="minor">
            <a:schemeClr val="dk1"/>
          </a:fontRef>
        </p:style>
        <p:txBody>
          <a:bodyPr rtlCol="0" anchor="ctr"/>
          <a:lstStyle/>
          <a:p>
            <a:pPr algn="ctr"/>
            <a:r>
              <a:rPr lang="en-IN" sz="1200" b="1" dirty="0"/>
              <a:t>Authenticate to Storage Account</a:t>
            </a:r>
          </a:p>
        </p:txBody>
      </p:sp>
      <p:sp>
        <p:nvSpPr>
          <p:cNvPr id="12" name="Rectangle: Rounded Corners 11">
            <a:extLst>
              <a:ext uri="{FF2B5EF4-FFF2-40B4-BE49-F238E27FC236}">
                <a16:creationId xmlns:a16="http://schemas.microsoft.com/office/drawing/2014/main" id="{4644330C-9FB7-DAF2-26B5-2373B27C0DE3}"/>
              </a:ext>
            </a:extLst>
          </p:cNvPr>
          <p:cNvSpPr/>
          <p:nvPr/>
        </p:nvSpPr>
        <p:spPr>
          <a:xfrm>
            <a:off x="7266389" y="6202594"/>
            <a:ext cx="1583937" cy="619018"/>
          </a:xfrm>
          <a:prstGeom prst="roundRect">
            <a:avLst/>
          </a:prstGeom>
          <a:ln w="19050"/>
        </p:spPr>
        <p:style>
          <a:lnRef idx="2">
            <a:schemeClr val="accent2"/>
          </a:lnRef>
          <a:fillRef idx="1">
            <a:schemeClr val="lt1"/>
          </a:fillRef>
          <a:effectRef idx="0">
            <a:schemeClr val="accent2"/>
          </a:effectRef>
          <a:fontRef idx="minor">
            <a:schemeClr val="dk1"/>
          </a:fontRef>
        </p:style>
        <p:txBody>
          <a:bodyPr rtlCol="0" anchor="ctr"/>
          <a:lstStyle/>
          <a:p>
            <a:pPr algn="ctr"/>
            <a:r>
              <a:rPr lang="en-IN" sz="1200" b="1" dirty="0"/>
              <a:t>Download / Exfiltrate Data</a:t>
            </a:r>
          </a:p>
        </p:txBody>
      </p:sp>
      <p:cxnSp>
        <p:nvCxnSpPr>
          <p:cNvPr id="14" name="Straight Arrow Connector 13">
            <a:extLst>
              <a:ext uri="{FF2B5EF4-FFF2-40B4-BE49-F238E27FC236}">
                <a16:creationId xmlns:a16="http://schemas.microsoft.com/office/drawing/2014/main" id="{83A6193A-BF0E-D8B2-C9E5-8D47560CFFFA}"/>
              </a:ext>
            </a:extLst>
          </p:cNvPr>
          <p:cNvCxnSpPr>
            <a:stCxn id="5" idx="2"/>
            <a:endCxn id="6" idx="0"/>
          </p:cNvCxnSpPr>
          <p:nvPr/>
        </p:nvCxnSpPr>
        <p:spPr>
          <a:xfrm flipH="1">
            <a:off x="8058361" y="1046251"/>
            <a:ext cx="5" cy="200773"/>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15" name="Straight Arrow Connector 14">
            <a:extLst>
              <a:ext uri="{FF2B5EF4-FFF2-40B4-BE49-F238E27FC236}">
                <a16:creationId xmlns:a16="http://schemas.microsoft.com/office/drawing/2014/main" id="{BFA3A7CD-0C83-1C41-EA8E-2A2901444AAE}"/>
              </a:ext>
            </a:extLst>
          </p:cNvPr>
          <p:cNvCxnSpPr>
            <a:cxnSpLocks/>
            <a:stCxn id="8" idx="2"/>
            <a:endCxn id="9" idx="0"/>
          </p:cNvCxnSpPr>
          <p:nvPr/>
        </p:nvCxnSpPr>
        <p:spPr>
          <a:xfrm flipH="1">
            <a:off x="8058359" y="3551005"/>
            <a:ext cx="1" cy="276117"/>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16" name="Straight Arrow Connector 15">
            <a:extLst>
              <a:ext uri="{FF2B5EF4-FFF2-40B4-BE49-F238E27FC236}">
                <a16:creationId xmlns:a16="http://schemas.microsoft.com/office/drawing/2014/main" id="{0579173F-CC48-464A-4C5F-9C93B9FB69AD}"/>
              </a:ext>
            </a:extLst>
          </p:cNvPr>
          <p:cNvCxnSpPr>
            <a:cxnSpLocks/>
            <a:stCxn id="9" idx="2"/>
            <a:endCxn id="10" idx="0"/>
          </p:cNvCxnSpPr>
          <p:nvPr/>
        </p:nvCxnSpPr>
        <p:spPr>
          <a:xfrm>
            <a:off x="8058359" y="4446140"/>
            <a:ext cx="0" cy="193069"/>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17" name="Straight Arrow Connector 16">
            <a:extLst>
              <a:ext uri="{FF2B5EF4-FFF2-40B4-BE49-F238E27FC236}">
                <a16:creationId xmlns:a16="http://schemas.microsoft.com/office/drawing/2014/main" id="{1F2114E6-8596-85BE-9C0E-A62556FFE751}"/>
              </a:ext>
            </a:extLst>
          </p:cNvPr>
          <p:cNvCxnSpPr>
            <a:cxnSpLocks/>
            <a:stCxn id="7" idx="2"/>
            <a:endCxn id="8" idx="0"/>
          </p:cNvCxnSpPr>
          <p:nvPr/>
        </p:nvCxnSpPr>
        <p:spPr>
          <a:xfrm>
            <a:off x="8058360" y="2689260"/>
            <a:ext cx="0" cy="242727"/>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18" name="Straight Arrow Connector 17">
            <a:extLst>
              <a:ext uri="{FF2B5EF4-FFF2-40B4-BE49-F238E27FC236}">
                <a16:creationId xmlns:a16="http://schemas.microsoft.com/office/drawing/2014/main" id="{E911C28A-D4B9-D7D9-3C31-94B365D41122}"/>
              </a:ext>
            </a:extLst>
          </p:cNvPr>
          <p:cNvCxnSpPr>
            <a:cxnSpLocks/>
            <a:stCxn id="10" idx="2"/>
            <a:endCxn id="11" idx="0"/>
          </p:cNvCxnSpPr>
          <p:nvPr/>
        </p:nvCxnSpPr>
        <p:spPr>
          <a:xfrm>
            <a:off x="8058359" y="5258227"/>
            <a:ext cx="0" cy="170808"/>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19" name="Straight Arrow Connector 18">
            <a:extLst>
              <a:ext uri="{FF2B5EF4-FFF2-40B4-BE49-F238E27FC236}">
                <a16:creationId xmlns:a16="http://schemas.microsoft.com/office/drawing/2014/main" id="{34D4F461-2777-6EF5-DB66-CB0A66271503}"/>
              </a:ext>
            </a:extLst>
          </p:cNvPr>
          <p:cNvCxnSpPr>
            <a:cxnSpLocks/>
            <a:stCxn id="6" idx="2"/>
            <a:endCxn id="7" idx="0"/>
          </p:cNvCxnSpPr>
          <p:nvPr/>
        </p:nvCxnSpPr>
        <p:spPr>
          <a:xfrm flipH="1">
            <a:off x="8058360" y="1949092"/>
            <a:ext cx="1" cy="232453"/>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31" name="Straight Arrow Connector 30">
            <a:extLst>
              <a:ext uri="{FF2B5EF4-FFF2-40B4-BE49-F238E27FC236}">
                <a16:creationId xmlns:a16="http://schemas.microsoft.com/office/drawing/2014/main" id="{49BC76B3-FACE-3D0E-D29F-DD9F3BE90283}"/>
              </a:ext>
            </a:extLst>
          </p:cNvPr>
          <p:cNvCxnSpPr>
            <a:cxnSpLocks/>
            <a:stCxn id="11" idx="2"/>
            <a:endCxn id="12" idx="0"/>
          </p:cNvCxnSpPr>
          <p:nvPr/>
        </p:nvCxnSpPr>
        <p:spPr>
          <a:xfrm flipH="1">
            <a:off x="8058358" y="6048053"/>
            <a:ext cx="1" cy="154541"/>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sp>
        <p:nvSpPr>
          <p:cNvPr id="35" name="TextBox 34">
            <a:extLst>
              <a:ext uri="{FF2B5EF4-FFF2-40B4-BE49-F238E27FC236}">
                <a16:creationId xmlns:a16="http://schemas.microsoft.com/office/drawing/2014/main" id="{38EA94C2-966D-DAD9-04F4-963C11F83501}"/>
              </a:ext>
            </a:extLst>
          </p:cNvPr>
          <p:cNvSpPr txBox="1"/>
          <p:nvPr/>
        </p:nvSpPr>
        <p:spPr>
          <a:xfrm>
            <a:off x="10020721" y="590935"/>
            <a:ext cx="1375636" cy="612934"/>
          </a:xfrm>
          <a:prstGeom prst="roundRect">
            <a:avLst/>
          </a:prstGeom>
        </p:spPr>
        <p:style>
          <a:lnRef idx="2">
            <a:schemeClr val="accent5"/>
          </a:lnRef>
          <a:fillRef idx="1">
            <a:schemeClr val="lt1"/>
          </a:fillRef>
          <a:effectRef idx="0">
            <a:schemeClr val="accent5"/>
          </a:effectRef>
          <a:fontRef idx="minor">
            <a:schemeClr val="dk1"/>
          </a:fontRef>
        </p:style>
        <p:txBody>
          <a:bodyPr wrap="none" rtlCol="0">
            <a:spAutoFit/>
          </a:bodyPr>
          <a:lstStyle/>
          <a:p>
            <a:r>
              <a:rPr lang="en-IN" sz="1000" dirty="0">
                <a:latin typeface="Yu Gothic" panose="020B0400000000000000" pitchFamily="34" charset="-128"/>
                <a:ea typeface="Yu Gothic" panose="020B0400000000000000" pitchFamily="34" charset="-128"/>
              </a:rPr>
              <a:t>Port scan</a:t>
            </a:r>
          </a:p>
          <a:p>
            <a:r>
              <a:rPr lang="en-IN" sz="1000" dirty="0">
                <a:latin typeface="Yu Gothic" panose="020B0400000000000000" pitchFamily="34" charset="-128"/>
                <a:ea typeface="Yu Gothic" panose="020B0400000000000000" pitchFamily="34" charset="-128"/>
              </a:rPr>
              <a:t>Endpoint Discovery</a:t>
            </a:r>
          </a:p>
          <a:p>
            <a:r>
              <a:rPr lang="en-IN" sz="1000" dirty="0">
                <a:latin typeface="Yu Gothic" panose="020B0400000000000000" pitchFamily="34" charset="-128"/>
                <a:ea typeface="Yu Gothic" panose="020B0400000000000000" pitchFamily="34" charset="-128"/>
              </a:rPr>
              <a:t>API enumeration</a:t>
            </a:r>
          </a:p>
        </p:txBody>
      </p:sp>
      <p:sp>
        <p:nvSpPr>
          <p:cNvPr id="36" name="TextBox 35">
            <a:extLst>
              <a:ext uri="{FF2B5EF4-FFF2-40B4-BE49-F238E27FC236}">
                <a16:creationId xmlns:a16="http://schemas.microsoft.com/office/drawing/2014/main" id="{26145458-C634-3106-46ED-F01B46EC6872}"/>
              </a:ext>
            </a:extLst>
          </p:cNvPr>
          <p:cNvSpPr txBox="1"/>
          <p:nvPr/>
        </p:nvSpPr>
        <p:spPr>
          <a:xfrm>
            <a:off x="10020721" y="1336158"/>
            <a:ext cx="1974901" cy="272415"/>
          </a:xfrm>
          <a:prstGeom prst="roundRect">
            <a:avLst/>
          </a:prstGeom>
        </p:spPr>
        <p:style>
          <a:lnRef idx="2">
            <a:schemeClr val="accent5"/>
          </a:lnRef>
          <a:fillRef idx="1">
            <a:schemeClr val="lt1"/>
          </a:fillRef>
          <a:effectRef idx="0">
            <a:schemeClr val="accent5"/>
          </a:effectRef>
          <a:fontRef idx="minor">
            <a:schemeClr val="dk1"/>
          </a:fontRef>
        </p:style>
        <p:txBody>
          <a:bodyPr wrap="none" rtlCol="0">
            <a:spAutoFit/>
          </a:bodyPr>
          <a:lstStyle>
            <a:defPPr>
              <a:defRPr lang="en-US"/>
            </a:defPPr>
            <a:lvl1pPr>
              <a:defRPr sz="1000">
                <a:latin typeface="Yu Gothic" panose="020B0400000000000000" pitchFamily="34" charset="-128"/>
                <a:ea typeface="Yu Gothic" panose="020B0400000000000000" pitchFamily="34" charset="-128"/>
              </a:defRPr>
            </a:lvl1pPr>
          </a:lstStyle>
          <a:p>
            <a:r>
              <a:rPr lang="en-IN" dirty="0"/>
              <a:t>Login / API / Upload / Search</a:t>
            </a:r>
          </a:p>
        </p:txBody>
      </p:sp>
      <p:sp>
        <p:nvSpPr>
          <p:cNvPr id="37" name="TextBox 36">
            <a:extLst>
              <a:ext uri="{FF2B5EF4-FFF2-40B4-BE49-F238E27FC236}">
                <a16:creationId xmlns:a16="http://schemas.microsoft.com/office/drawing/2014/main" id="{0C0F86B0-A814-386E-1A83-85318A86C44C}"/>
              </a:ext>
            </a:extLst>
          </p:cNvPr>
          <p:cNvSpPr txBox="1"/>
          <p:nvPr/>
        </p:nvSpPr>
        <p:spPr>
          <a:xfrm>
            <a:off x="9947090" y="2065318"/>
            <a:ext cx="1679173" cy="953453"/>
          </a:xfrm>
          <a:prstGeom prst="roundRect">
            <a:avLst/>
          </a:prstGeom>
        </p:spPr>
        <p:style>
          <a:lnRef idx="2">
            <a:schemeClr val="accent5"/>
          </a:lnRef>
          <a:fillRef idx="1">
            <a:schemeClr val="lt1"/>
          </a:fillRef>
          <a:effectRef idx="0">
            <a:schemeClr val="accent5"/>
          </a:effectRef>
          <a:fontRef idx="minor">
            <a:schemeClr val="dk1"/>
          </a:fontRef>
        </p:style>
        <p:txBody>
          <a:bodyPr wrap="none" rtlCol="0">
            <a:spAutoFit/>
          </a:bodyPr>
          <a:lstStyle>
            <a:defPPr>
              <a:defRPr lang="en-US"/>
            </a:defPPr>
            <a:lvl1pPr>
              <a:defRPr sz="1000">
                <a:latin typeface="Yu Gothic" panose="020B0400000000000000" pitchFamily="34" charset="-128"/>
                <a:ea typeface="Yu Gothic" panose="020B0400000000000000" pitchFamily="34" charset="-128"/>
              </a:defRPr>
            </a:lvl1pPr>
          </a:lstStyle>
          <a:p>
            <a:r>
              <a:rPr lang="en-IN" dirty="0"/>
              <a:t>SQL Injection</a:t>
            </a:r>
          </a:p>
          <a:p>
            <a:r>
              <a:rPr lang="en-IN" dirty="0"/>
              <a:t>Command Injection</a:t>
            </a:r>
          </a:p>
          <a:p>
            <a:r>
              <a:rPr lang="en-IN" dirty="0"/>
              <a:t>Deserialization attack</a:t>
            </a:r>
          </a:p>
          <a:p>
            <a:r>
              <a:rPr lang="en-IN" dirty="0"/>
              <a:t>File upload exploit</a:t>
            </a:r>
          </a:p>
          <a:p>
            <a:r>
              <a:rPr lang="en-IN" dirty="0"/>
              <a:t>Remote Code Execution</a:t>
            </a:r>
          </a:p>
        </p:txBody>
      </p:sp>
    </p:spTree>
    <p:extLst>
      <p:ext uri="{BB962C8B-B14F-4D97-AF65-F5344CB8AC3E}">
        <p14:creationId xmlns:p14="http://schemas.microsoft.com/office/powerpoint/2010/main" val="20310115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5A903-73B0-AF7C-D233-0BF3AB2FB489}"/>
              </a:ext>
            </a:extLst>
          </p:cNvPr>
          <p:cNvSpPr>
            <a:spLocks noGrp="1"/>
          </p:cNvSpPr>
          <p:nvPr>
            <p:ph type="title"/>
          </p:nvPr>
        </p:nvSpPr>
        <p:spPr>
          <a:xfrm>
            <a:off x="149832" y="128820"/>
            <a:ext cx="11870932" cy="552218"/>
          </a:xfrm>
        </p:spPr>
        <p:txBody>
          <a:bodyPr>
            <a:noAutofit/>
          </a:bodyPr>
          <a:lstStyle/>
          <a:p>
            <a:r>
              <a:rPr lang="en-US" sz="2800" b="1" dirty="0">
                <a:latin typeface="Yu Gothic" panose="020B0400000000000000" pitchFamily="34" charset="-128"/>
                <a:ea typeface="Yu Gothic" panose="020B0400000000000000" pitchFamily="34" charset="-128"/>
              </a:rPr>
              <a:t>Credential Theft &amp; Secret Leakage Flow</a:t>
            </a:r>
            <a:endParaRPr lang="en-IN" sz="2800" b="1" dirty="0">
              <a:latin typeface="Yu Gothic" panose="020B0400000000000000" pitchFamily="34" charset="-128"/>
              <a:ea typeface="Yu Gothic" panose="020B0400000000000000" pitchFamily="34" charset="-128"/>
            </a:endParaRPr>
          </a:p>
        </p:txBody>
      </p:sp>
      <p:sp>
        <p:nvSpPr>
          <p:cNvPr id="3" name="Content Placeholder 2">
            <a:extLst>
              <a:ext uri="{FF2B5EF4-FFF2-40B4-BE49-F238E27FC236}">
                <a16:creationId xmlns:a16="http://schemas.microsoft.com/office/drawing/2014/main" id="{6D53493F-7150-6CDB-047C-C963DA53A4E5}"/>
              </a:ext>
            </a:extLst>
          </p:cNvPr>
          <p:cNvSpPr>
            <a:spLocks noGrp="1"/>
          </p:cNvSpPr>
          <p:nvPr>
            <p:ph idx="1"/>
          </p:nvPr>
        </p:nvSpPr>
        <p:spPr>
          <a:xfrm>
            <a:off x="149832" y="880401"/>
            <a:ext cx="11870932" cy="5725881"/>
          </a:xfrm>
        </p:spPr>
        <p:txBody>
          <a:bodyPr>
            <a:normAutofit fontScale="92500" lnSpcReduction="20000"/>
          </a:bodyPr>
          <a:lstStyle/>
          <a:p>
            <a:pPr>
              <a:lnSpc>
                <a:spcPct val="120000"/>
              </a:lnSpc>
              <a:spcBef>
                <a:spcPts val="0"/>
              </a:spcBef>
            </a:pPr>
            <a:r>
              <a:rPr lang="en-IN" sz="2000" dirty="0">
                <a:latin typeface="Yu Gothic" panose="020B0400000000000000" pitchFamily="34" charset="-128"/>
                <a:ea typeface="Yu Gothic" panose="020B0400000000000000" pitchFamily="34" charset="-128"/>
              </a:rPr>
              <a:t>Attacker</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Phishing / Credential stuffing / Password spray</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Compromise Developer or Admin account</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Login to Azure Portal / CLI / API</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Enumerate Resources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Retrieve:</a:t>
            </a:r>
          </a:p>
          <a:p>
            <a:pPr>
              <a:lnSpc>
                <a:spcPct val="120000"/>
              </a:lnSpc>
              <a:spcBef>
                <a:spcPts val="0"/>
              </a:spcBef>
            </a:pPr>
            <a:r>
              <a:rPr lang="en-IN" sz="2000" dirty="0">
                <a:latin typeface="Yu Gothic" panose="020B0400000000000000" pitchFamily="34" charset="-128"/>
                <a:ea typeface="Yu Gothic" panose="020B0400000000000000" pitchFamily="34" charset="-128"/>
              </a:rPr>
              <a:t>   ├─ App Service configuration</a:t>
            </a:r>
          </a:p>
          <a:p>
            <a:pPr>
              <a:lnSpc>
                <a:spcPct val="120000"/>
              </a:lnSpc>
              <a:spcBef>
                <a:spcPts val="0"/>
              </a:spcBef>
            </a:pPr>
            <a:r>
              <a:rPr lang="en-IN" sz="2000" dirty="0">
                <a:latin typeface="Yu Gothic" panose="020B0400000000000000" pitchFamily="34" charset="-128"/>
                <a:ea typeface="Yu Gothic" panose="020B0400000000000000" pitchFamily="34" charset="-128"/>
              </a:rPr>
              <a:t>   ├─ Function App settings</a:t>
            </a:r>
          </a:p>
          <a:p>
            <a:pPr>
              <a:lnSpc>
                <a:spcPct val="120000"/>
              </a:lnSpc>
              <a:spcBef>
                <a:spcPts val="0"/>
              </a:spcBef>
            </a:pPr>
            <a:r>
              <a:rPr lang="en-IN" sz="2000" dirty="0">
                <a:latin typeface="Yu Gothic" panose="020B0400000000000000" pitchFamily="34" charset="-128"/>
                <a:ea typeface="Yu Gothic" panose="020B0400000000000000" pitchFamily="34" charset="-128"/>
              </a:rPr>
              <a:t>   ├─ Managed identity permissions</a:t>
            </a:r>
          </a:p>
          <a:p>
            <a:pPr>
              <a:lnSpc>
                <a:spcPct val="120000"/>
              </a:lnSpc>
              <a:spcBef>
                <a:spcPts val="0"/>
              </a:spcBef>
            </a:pPr>
            <a:r>
              <a:rPr lang="en-IN" sz="2000" dirty="0">
                <a:latin typeface="Yu Gothic" panose="020B0400000000000000" pitchFamily="34" charset="-128"/>
                <a:ea typeface="Yu Gothic" panose="020B0400000000000000" pitchFamily="34" charset="-128"/>
              </a:rPr>
              <a:t>   └─ Storage keys / SAS tokens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Direct Storage Access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Mass Data Exfiltration</a:t>
            </a:r>
          </a:p>
        </p:txBody>
      </p:sp>
    </p:spTree>
    <p:extLst>
      <p:ext uri="{BB962C8B-B14F-4D97-AF65-F5344CB8AC3E}">
        <p14:creationId xmlns:p14="http://schemas.microsoft.com/office/powerpoint/2010/main" val="3104357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77DFA-7A06-7048-DF57-5269FC0FF6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F31CB8-D7F3-0DAE-AE9C-A928486D5687}"/>
              </a:ext>
            </a:extLst>
          </p:cNvPr>
          <p:cNvSpPr>
            <a:spLocks noGrp="1"/>
          </p:cNvSpPr>
          <p:nvPr>
            <p:ph type="title"/>
          </p:nvPr>
        </p:nvSpPr>
        <p:spPr>
          <a:xfrm>
            <a:off x="149832" y="128820"/>
            <a:ext cx="11870932" cy="552218"/>
          </a:xfrm>
        </p:spPr>
        <p:txBody>
          <a:bodyPr>
            <a:noAutofit/>
          </a:bodyPr>
          <a:lstStyle/>
          <a:p>
            <a:r>
              <a:rPr lang="en-US" sz="3200" b="1" dirty="0"/>
              <a:t>Exploiting Public Storage Exposure Flow</a:t>
            </a:r>
            <a:endParaRPr lang="en-IN" sz="3200" b="1" dirty="0"/>
          </a:p>
        </p:txBody>
      </p:sp>
      <p:sp>
        <p:nvSpPr>
          <p:cNvPr id="3" name="Content Placeholder 2">
            <a:extLst>
              <a:ext uri="{FF2B5EF4-FFF2-40B4-BE49-F238E27FC236}">
                <a16:creationId xmlns:a16="http://schemas.microsoft.com/office/drawing/2014/main" id="{A2A3C549-A108-2704-A3BA-0E68E08048F3}"/>
              </a:ext>
            </a:extLst>
          </p:cNvPr>
          <p:cNvSpPr>
            <a:spLocks noGrp="1"/>
          </p:cNvSpPr>
          <p:nvPr>
            <p:ph idx="1"/>
          </p:nvPr>
        </p:nvSpPr>
        <p:spPr>
          <a:xfrm>
            <a:off x="149832" y="880401"/>
            <a:ext cx="11870932" cy="5725881"/>
          </a:xfrm>
        </p:spPr>
        <p:txBody>
          <a:bodyPr>
            <a:normAutofit/>
          </a:bodyPr>
          <a:lstStyle/>
          <a:p>
            <a:pPr>
              <a:lnSpc>
                <a:spcPct val="120000"/>
              </a:lnSpc>
              <a:spcBef>
                <a:spcPts val="0"/>
              </a:spcBef>
            </a:pPr>
            <a:r>
              <a:rPr lang="en-IN" sz="2000" dirty="0">
                <a:latin typeface="Yu Gothic" panose="020B0400000000000000" pitchFamily="34" charset="-128"/>
                <a:ea typeface="Yu Gothic" panose="020B0400000000000000" pitchFamily="34" charset="-128"/>
              </a:rPr>
              <a:t>Attacker</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Enumerate Storage endpoints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Check anonymous/public blob access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Misconfiguration detected</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List containers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Download sensitive files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Data Exfiltration</a:t>
            </a:r>
          </a:p>
        </p:txBody>
      </p:sp>
    </p:spTree>
    <p:extLst>
      <p:ext uri="{BB962C8B-B14F-4D97-AF65-F5344CB8AC3E}">
        <p14:creationId xmlns:p14="http://schemas.microsoft.com/office/powerpoint/2010/main" val="2760963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9F9FB-F016-F480-BD59-C9BC1969D8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83D1FB-C5AC-6557-4896-61DBD46A49E9}"/>
              </a:ext>
            </a:extLst>
          </p:cNvPr>
          <p:cNvSpPr>
            <a:spLocks noGrp="1"/>
          </p:cNvSpPr>
          <p:nvPr>
            <p:ph type="title"/>
          </p:nvPr>
        </p:nvSpPr>
        <p:spPr>
          <a:xfrm>
            <a:off x="149832" y="128820"/>
            <a:ext cx="11870932" cy="552218"/>
          </a:xfrm>
        </p:spPr>
        <p:txBody>
          <a:bodyPr>
            <a:noAutofit/>
          </a:bodyPr>
          <a:lstStyle/>
          <a:p>
            <a:r>
              <a:rPr lang="en-US" sz="3200" b="1" dirty="0"/>
              <a:t>SAS Token Abuse Workflow</a:t>
            </a:r>
            <a:endParaRPr lang="en-IN" sz="3200" b="1" dirty="0"/>
          </a:p>
        </p:txBody>
      </p:sp>
      <p:sp>
        <p:nvSpPr>
          <p:cNvPr id="3" name="Content Placeholder 2">
            <a:extLst>
              <a:ext uri="{FF2B5EF4-FFF2-40B4-BE49-F238E27FC236}">
                <a16:creationId xmlns:a16="http://schemas.microsoft.com/office/drawing/2014/main" id="{C2543BEB-AC43-5500-B726-BB6DE53F8BB6}"/>
              </a:ext>
            </a:extLst>
          </p:cNvPr>
          <p:cNvSpPr>
            <a:spLocks noGrp="1"/>
          </p:cNvSpPr>
          <p:nvPr>
            <p:ph idx="1"/>
          </p:nvPr>
        </p:nvSpPr>
        <p:spPr>
          <a:xfrm>
            <a:off x="149832" y="880401"/>
            <a:ext cx="11870932" cy="5725881"/>
          </a:xfrm>
        </p:spPr>
        <p:txBody>
          <a:bodyPr>
            <a:normAutofit lnSpcReduction="10000"/>
          </a:bodyPr>
          <a:lstStyle/>
          <a:p>
            <a:pPr>
              <a:lnSpc>
                <a:spcPct val="120000"/>
              </a:lnSpc>
              <a:spcBef>
                <a:spcPts val="0"/>
              </a:spcBef>
            </a:pPr>
            <a:r>
              <a:rPr lang="en-IN" sz="2000" dirty="0">
                <a:latin typeface="Yu Gothic" panose="020B0400000000000000" pitchFamily="34" charset="-128"/>
                <a:ea typeface="Yu Gothic" panose="020B0400000000000000" pitchFamily="34" charset="-128"/>
              </a:rPr>
              <a:t>Attacker</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Obtain leaked SAS Token</a:t>
            </a:r>
          </a:p>
          <a:p>
            <a:pPr>
              <a:lnSpc>
                <a:spcPct val="120000"/>
              </a:lnSpc>
              <a:spcBef>
                <a:spcPts val="0"/>
              </a:spcBef>
            </a:pPr>
            <a:r>
              <a:rPr lang="en-IN" sz="2000" dirty="0">
                <a:latin typeface="Yu Gothic" panose="020B0400000000000000" pitchFamily="34" charset="-128"/>
                <a:ea typeface="Yu Gothic" panose="020B0400000000000000" pitchFamily="34" charset="-128"/>
              </a:rPr>
              <a:t>   ├─ Source code repo</a:t>
            </a:r>
          </a:p>
          <a:p>
            <a:pPr>
              <a:lnSpc>
                <a:spcPct val="120000"/>
              </a:lnSpc>
              <a:spcBef>
                <a:spcPts val="0"/>
              </a:spcBef>
            </a:pPr>
            <a:r>
              <a:rPr lang="en-IN" sz="2000" dirty="0">
                <a:latin typeface="Yu Gothic" panose="020B0400000000000000" pitchFamily="34" charset="-128"/>
                <a:ea typeface="Yu Gothic" panose="020B0400000000000000" pitchFamily="34" charset="-128"/>
              </a:rPr>
              <a:t>   ├─ Logs</a:t>
            </a:r>
          </a:p>
          <a:p>
            <a:pPr>
              <a:lnSpc>
                <a:spcPct val="120000"/>
              </a:lnSpc>
              <a:spcBef>
                <a:spcPts val="0"/>
              </a:spcBef>
            </a:pPr>
            <a:r>
              <a:rPr lang="en-IN" sz="2000" dirty="0">
                <a:latin typeface="Yu Gothic" panose="020B0400000000000000" pitchFamily="34" charset="-128"/>
                <a:ea typeface="Yu Gothic" panose="020B0400000000000000" pitchFamily="34" charset="-128"/>
              </a:rPr>
              <a:t>   ├─ Browser traffic</a:t>
            </a:r>
          </a:p>
          <a:p>
            <a:pPr>
              <a:lnSpc>
                <a:spcPct val="120000"/>
              </a:lnSpc>
              <a:spcBef>
                <a:spcPts val="0"/>
              </a:spcBef>
            </a:pPr>
            <a:r>
              <a:rPr lang="en-IN" sz="2000" dirty="0">
                <a:latin typeface="Yu Gothic" panose="020B0400000000000000" pitchFamily="34" charset="-128"/>
                <a:ea typeface="Yu Gothic" panose="020B0400000000000000" pitchFamily="34" charset="-128"/>
              </a:rPr>
              <a:t>   ├─ Web app response</a:t>
            </a:r>
          </a:p>
          <a:p>
            <a:pPr>
              <a:lnSpc>
                <a:spcPct val="120000"/>
              </a:lnSpc>
              <a:spcBef>
                <a:spcPts val="0"/>
              </a:spcBef>
            </a:pPr>
            <a:r>
              <a:rPr lang="en-IN" sz="2000" dirty="0">
                <a:latin typeface="Yu Gothic" panose="020B0400000000000000" pitchFamily="34" charset="-128"/>
                <a:ea typeface="Yu Gothic" panose="020B0400000000000000" pitchFamily="34" charset="-128"/>
              </a:rPr>
              <a:t>   └─ Client-side exposure</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Validate token permissions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Access Storage via SAS URL</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Download / Modify / Delete Data</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Persist access until token expiry</a:t>
            </a:r>
          </a:p>
        </p:txBody>
      </p:sp>
    </p:spTree>
    <p:extLst>
      <p:ext uri="{BB962C8B-B14F-4D97-AF65-F5344CB8AC3E}">
        <p14:creationId xmlns:p14="http://schemas.microsoft.com/office/powerpoint/2010/main" val="6431629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08B14-9FE8-E321-AF33-5D37200FF0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19E4D2-6B2F-00C8-9026-22C0997BBF96}"/>
              </a:ext>
            </a:extLst>
          </p:cNvPr>
          <p:cNvSpPr>
            <a:spLocks noGrp="1"/>
          </p:cNvSpPr>
          <p:nvPr>
            <p:ph type="title"/>
          </p:nvPr>
        </p:nvSpPr>
        <p:spPr>
          <a:xfrm>
            <a:off x="149832" y="128820"/>
            <a:ext cx="11870932" cy="552218"/>
          </a:xfrm>
        </p:spPr>
        <p:txBody>
          <a:bodyPr>
            <a:noAutofit/>
          </a:bodyPr>
          <a:lstStyle/>
          <a:p>
            <a:r>
              <a:rPr lang="en-US" sz="3200" b="1" dirty="0"/>
              <a:t>Function App Exploitation Flow</a:t>
            </a:r>
            <a:endParaRPr lang="en-IN" sz="3200" b="1" dirty="0"/>
          </a:p>
        </p:txBody>
      </p:sp>
      <p:sp>
        <p:nvSpPr>
          <p:cNvPr id="3" name="Content Placeholder 2">
            <a:extLst>
              <a:ext uri="{FF2B5EF4-FFF2-40B4-BE49-F238E27FC236}">
                <a16:creationId xmlns:a16="http://schemas.microsoft.com/office/drawing/2014/main" id="{72882B36-3324-26C4-B6F6-FCE1E8F1ADAC}"/>
              </a:ext>
            </a:extLst>
          </p:cNvPr>
          <p:cNvSpPr>
            <a:spLocks noGrp="1"/>
          </p:cNvSpPr>
          <p:nvPr>
            <p:ph idx="1"/>
          </p:nvPr>
        </p:nvSpPr>
        <p:spPr>
          <a:xfrm>
            <a:off x="149832" y="880401"/>
            <a:ext cx="11870932" cy="5725881"/>
          </a:xfrm>
        </p:spPr>
        <p:txBody>
          <a:bodyPr>
            <a:normAutofit fontScale="92500" lnSpcReduction="10000"/>
          </a:bodyPr>
          <a:lstStyle/>
          <a:p>
            <a:pPr>
              <a:lnSpc>
                <a:spcPct val="120000"/>
              </a:lnSpc>
              <a:spcBef>
                <a:spcPts val="0"/>
              </a:spcBef>
            </a:pPr>
            <a:r>
              <a:rPr lang="en-IN" sz="2000" dirty="0">
                <a:latin typeface="Yu Gothic" panose="020B0400000000000000" pitchFamily="34" charset="-128"/>
                <a:ea typeface="Yu Gothic" panose="020B0400000000000000" pitchFamily="34" charset="-128"/>
              </a:rPr>
              <a:t>Attacker</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Discover Function endpoint</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Weak authentication / Anonymous trigger</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Send crafted payload</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Exploit function logic flaw</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Execute malicious commands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Function uses trusted identity</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Access Storage Account</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Data extraction or manipulation</a:t>
            </a:r>
          </a:p>
        </p:txBody>
      </p:sp>
    </p:spTree>
    <p:extLst>
      <p:ext uri="{BB962C8B-B14F-4D97-AF65-F5344CB8AC3E}">
        <p14:creationId xmlns:p14="http://schemas.microsoft.com/office/powerpoint/2010/main" val="21048081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6E3A9-061F-508A-9649-55FF02B36A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8AA3B7-45EA-4D4D-38E0-79460AF97802}"/>
              </a:ext>
            </a:extLst>
          </p:cNvPr>
          <p:cNvSpPr>
            <a:spLocks noGrp="1"/>
          </p:cNvSpPr>
          <p:nvPr>
            <p:ph type="title"/>
          </p:nvPr>
        </p:nvSpPr>
        <p:spPr>
          <a:xfrm>
            <a:off x="149832" y="128820"/>
            <a:ext cx="11870932" cy="552218"/>
          </a:xfrm>
        </p:spPr>
        <p:txBody>
          <a:bodyPr>
            <a:noAutofit/>
          </a:bodyPr>
          <a:lstStyle/>
          <a:p>
            <a:r>
              <a:rPr lang="en-US" sz="3200" b="1" dirty="0"/>
              <a:t>Malicious File Upload → Malware Hosting Flow</a:t>
            </a:r>
            <a:endParaRPr lang="en-IN" sz="3200" b="1" dirty="0"/>
          </a:p>
        </p:txBody>
      </p:sp>
      <p:sp>
        <p:nvSpPr>
          <p:cNvPr id="3" name="Content Placeholder 2">
            <a:extLst>
              <a:ext uri="{FF2B5EF4-FFF2-40B4-BE49-F238E27FC236}">
                <a16:creationId xmlns:a16="http://schemas.microsoft.com/office/drawing/2014/main" id="{D32AFFBD-EB58-00CC-DB1D-709F5A890607}"/>
              </a:ext>
            </a:extLst>
          </p:cNvPr>
          <p:cNvSpPr>
            <a:spLocks noGrp="1"/>
          </p:cNvSpPr>
          <p:nvPr>
            <p:ph idx="1"/>
          </p:nvPr>
        </p:nvSpPr>
        <p:spPr>
          <a:xfrm>
            <a:off x="149832" y="880401"/>
            <a:ext cx="11870932" cy="5725881"/>
          </a:xfrm>
        </p:spPr>
        <p:txBody>
          <a:bodyPr>
            <a:normAutofit/>
          </a:bodyPr>
          <a:lstStyle/>
          <a:p>
            <a:pPr>
              <a:lnSpc>
                <a:spcPct val="120000"/>
              </a:lnSpc>
              <a:spcBef>
                <a:spcPts val="0"/>
              </a:spcBef>
            </a:pPr>
            <a:r>
              <a:rPr lang="en-IN" sz="2000" dirty="0">
                <a:latin typeface="Yu Gothic" panose="020B0400000000000000" pitchFamily="34" charset="-128"/>
                <a:ea typeface="Yu Gothic" panose="020B0400000000000000" pitchFamily="34" charset="-128"/>
              </a:rPr>
              <a:t>Attacker</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Upload malicious file via Web App</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Application stores file in Storage Account</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File becomes publicly accessible URL</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Attacker distributes download link</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Storage Account used as malware host</a:t>
            </a:r>
          </a:p>
        </p:txBody>
      </p:sp>
    </p:spTree>
    <p:extLst>
      <p:ext uri="{BB962C8B-B14F-4D97-AF65-F5344CB8AC3E}">
        <p14:creationId xmlns:p14="http://schemas.microsoft.com/office/powerpoint/2010/main" val="19753462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85A2A-33A2-EFB8-1619-5E294E0257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C5DBC8-EF75-3C91-7FCC-EE437E32E4ED}"/>
              </a:ext>
            </a:extLst>
          </p:cNvPr>
          <p:cNvSpPr>
            <a:spLocks noGrp="1"/>
          </p:cNvSpPr>
          <p:nvPr>
            <p:ph type="title"/>
          </p:nvPr>
        </p:nvSpPr>
        <p:spPr>
          <a:xfrm>
            <a:off x="149832" y="128820"/>
            <a:ext cx="11870932" cy="552218"/>
          </a:xfrm>
        </p:spPr>
        <p:txBody>
          <a:bodyPr>
            <a:noAutofit/>
          </a:bodyPr>
          <a:lstStyle/>
          <a:p>
            <a:r>
              <a:rPr lang="en-US" sz="3200" b="1" dirty="0">
                <a:latin typeface="Yu Gothic" panose="020B0400000000000000" pitchFamily="34" charset="-128"/>
                <a:ea typeface="Yu Gothic" panose="020B0400000000000000" pitchFamily="34" charset="-128"/>
              </a:rPr>
              <a:t>Server-Side Request Forgery (SSRF) Flow</a:t>
            </a:r>
            <a:endParaRPr lang="en-IN" sz="3200" b="1" dirty="0">
              <a:latin typeface="Yu Gothic" panose="020B0400000000000000" pitchFamily="34" charset="-128"/>
              <a:ea typeface="Yu Gothic" panose="020B0400000000000000" pitchFamily="34" charset="-128"/>
            </a:endParaRPr>
          </a:p>
        </p:txBody>
      </p:sp>
      <p:sp>
        <p:nvSpPr>
          <p:cNvPr id="3" name="Content Placeholder 2">
            <a:extLst>
              <a:ext uri="{FF2B5EF4-FFF2-40B4-BE49-F238E27FC236}">
                <a16:creationId xmlns:a16="http://schemas.microsoft.com/office/drawing/2014/main" id="{B18855E4-30F6-26C1-6126-A67ADD25515C}"/>
              </a:ext>
            </a:extLst>
          </p:cNvPr>
          <p:cNvSpPr>
            <a:spLocks noGrp="1"/>
          </p:cNvSpPr>
          <p:nvPr>
            <p:ph idx="1"/>
          </p:nvPr>
        </p:nvSpPr>
        <p:spPr>
          <a:xfrm>
            <a:off x="149832" y="880401"/>
            <a:ext cx="11870932" cy="5725881"/>
          </a:xfrm>
        </p:spPr>
        <p:txBody>
          <a:bodyPr>
            <a:normAutofit/>
          </a:bodyPr>
          <a:lstStyle/>
          <a:p>
            <a:pPr>
              <a:lnSpc>
                <a:spcPct val="120000"/>
              </a:lnSpc>
              <a:spcBef>
                <a:spcPts val="0"/>
              </a:spcBef>
            </a:pPr>
            <a:r>
              <a:rPr lang="en-IN" sz="2000" dirty="0">
                <a:latin typeface="Yu Gothic" panose="020B0400000000000000" pitchFamily="34" charset="-128"/>
                <a:ea typeface="Yu Gothic" panose="020B0400000000000000" pitchFamily="34" charset="-128"/>
              </a:rPr>
              <a:t>Attacker</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Exploit SSRF vulnerability in Web App</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Force server to call internal endpoints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Access Azure Instance Metadata Service (IMDS)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Retrieve Managed Identity Token</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Authenticate as App Identity</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Access Storage APIs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Download Data</a:t>
            </a:r>
          </a:p>
        </p:txBody>
      </p:sp>
    </p:spTree>
    <p:extLst>
      <p:ext uri="{BB962C8B-B14F-4D97-AF65-F5344CB8AC3E}">
        <p14:creationId xmlns:p14="http://schemas.microsoft.com/office/powerpoint/2010/main" val="1721268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AAC3A-1792-C205-71A7-1B63892420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EE6A18-85C1-7464-568F-49679814C15C}"/>
              </a:ext>
            </a:extLst>
          </p:cNvPr>
          <p:cNvSpPr>
            <a:spLocks noGrp="1"/>
          </p:cNvSpPr>
          <p:nvPr>
            <p:ph type="title"/>
          </p:nvPr>
        </p:nvSpPr>
        <p:spPr>
          <a:xfrm>
            <a:off x="149832" y="128820"/>
            <a:ext cx="11870932" cy="552218"/>
          </a:xfrm>
        </p:spPr>
        <p:txBody>
          <a:bodyPr>
            <a:noAutofit/>
          </a:bodyPr>
          <a:lstStyle/>
          <a:p>
            <a:r>
              <a:rPr lang="en-US" sz="3200" b="1" dirty="0">
                <a:latin typeface="Yu Gothic" panose="020B0400000000000000" pitchFamily="34" charset="-128"/>
                <a:ea typeface="Yu Gothic" panose="020B0400000000000000" pitchFamily="34" charset="-128"/>
              </a:rPr>
              <a:t>Supply Chain / Dependency Attack Flow</a:t>
            </a:r>
            <a:endParaRPr lang="en-IN" sz="3200" b="1" dirty="0">
              <a:latin typeface="Yu Gothic" panose="020B0400000000000000" pitchFamily="34" charset="-128"/>
              <a:ea typeface="Yu Gothic" panose="020B0400000000000000" pitchFamily="34" charset="-128"/>
            </a:endParaRPr>
          </a:p>
        </p:txBody>
      </p:sp>
      <p:sp>
        <p:nvSpPr>
          <p:cNvPr id="3" name="Content Placeholder 2">
            <a:extLst>
              <a:ext uri="{FF2B5EF4-FFF2-40B4-BE49-F238E27FC236}">
                <a16:creationId xmlns:a16="http://schemas.microsoft.com/office/drawing/2014/main" id="{7FADFAF4-548A-0642-7A7A-7A342E4672FD}"/>
              </a:ext>
            </a:extLst>
          </p:cNvPr>
          <p:cNvSpPr>
            <a:spLocks noGrp="1"/>
          </p:cNvSpPr>
          <p:nvPr>
            <p:ph idx="1"/>
          </p:nvPr>
        </p:nvSpPr>
        <p:spPr>
          <a:xfrm>
            <a:off x="149832" y="880401"/>
            <a:ext cx="11870932" cy="5725881"/>
          </a:xfrm>
        </p:spPr>
        <p:txBody>
          <a:bodyPr>
            <a:normAutofit/>
          </a:bodyPr>
          <a:lstStyle/>
          <a:p>
            <a:pPr>
              <a:lnSpc>
                <a:spcPct val="120000"/>
              </a:lnSpc>
              <a:spcBef>
                <a:spcPts val="0"/>
              </a:spcBef>
            </a:pPr>
            <a:r>
              <a:rPr lang="en-IN" sz="2000" dirty="0">
                <a:latin typeface="Yu Gothic" panose="020B0400000000000000" pitchFamily="34" charset="-128"/>
                <a:ea typeface="Yu Gothic" panose="020B0400000000000000" pitchFamily="34" charset="-128"/>
              </a:rPr>
              <a:t>Attacker</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Compromise package dependency</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Malicious library included during build</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Deployment to App Service</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Malicious code executes at runtime</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Read environment secrets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Access Storage Account</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Silent Data Exfiltration</a:t>
            </a:r>
          </a:p>
        </p:txBody>
      </p:sp>
    </p:spTree>
    <p:extLst>
      <p:ext uri="{BB962C8B-B14F-4D97-AF65-F5344CB8AC3E}">
        <p14:creationId xmlns:p14="http://schemas.microsoft.com/office/powerpoint/2010/main" val="20173178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99B19-8787-970C-BF5B-2E0930811A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6029FE-FCF3-BC72-A455-F2F0672F81CB}"/>
              </a:ext>
            </a:extLst>
          </p:cNvPr>
          <p:cNvSpPr>
            <a:spLocks noGrp="1"/>
          </p:cNvSpPr>
          <p:nvPr>
            <p:ph type="title"/>
          </p:nvPr>
        </p:nvSpPr>
        <p:spPr>
          <a:xfrm>
            <a:off x="149832" y="128820"/>
            <a:ext cx="11870932" cy="552218"/>
          </a:xfrm>
        </p:spPr>
        <p:txBody>
          <a:bodyPr>
            <a:noAutofit/>
          </a:bodyPr>
          <a:lstStyle/>
          <a:p>
            <a:r>
              <a:rPr lang="it-IT" sz="3200" b="1" dirty="0">
                <a:latin typeface="Yu Gothic" panose="020B0400000000000000" pitchFamily="34" charset="-128"/>
                <a:ea typeface="Yu Gothic" panose="020B0400000000000000" pitchFamily="34" charset="-128"/>
              </a:rPr>
              <a:t>CI/CD Pipeline Compromise Flow</a:t>
            </a:r>
            <a:endParaRPr lang="en-IN" sz="3200" b="1" dirty="0">
              <a:latin typeface="Yu Gothic" panose="020B0400000000000000" pitchFamily="34" charset="-128"/>
              <a:ea typeface="Yu Gothic" panose="020B0400000000000000" pitchFamily="34" charset="-128"/>
            </a:endParaRPr>
          </a:p>
        </p:txBody>
      </p:sp>
      <p:sp>
        <p:nvSpPr>
          <p:cNvPr id="3" name="Content Placeholder 2">
            <a:extLst>
              <a:ext uri="{FF2B5EF4-FFF2-40B4-BE49-F238E27FC236}">
                <a16:creationId xmlns:a16="http://schemas.microsoft.com/office/drawing/2014/main" id="{C743B7D9-AEDC-6A9B-101C-BFAD1BCE8D64}"/>
              </a:ext>
            </a:extLst>
          </p:cNvPr>
          <p:cNvSpPr>
            <a:spLocks noGrp="1"/>
          </p:cNvSpPr>
          <p:nvPr>
            <p:ph idx="1"/>
          </p:nvPr>
        </p:nvSpPr>
        <p:spPr>
          <a:xfrm>
            <a:off x="149832" y="880401"/>
            <a:ext cx="11870932" cy="5725881"/>
          </a:xfrm>
        </p:spPr>
        <p:txBody>
          <a:bodyPr>
            <a:normAutofit fontScale="92500" lnSpcReduction="10000"/>
          </a:bodyPr>
          <a:lstStyle/>
          <a:p>
            <a:pPr>
              <a:lnSpc>
                <a:spcPct val="120000"/>
              </a:lnSpc>
              <a:spcBef>
                <a:spcPts val="0"/>
              </a:spcBef>
            </a:pPr>
            <a:r>
              <a:rPr lang="en-IN" sz="2000" dirty="0">
                <a:latin typeface="Yu Gothic" panose="020B0400000000000000" pitchFamily="34" charset="-128"/>
                <a:ea typeface="Yu Gothic" panose="020B0400000000000000" pitchFamily="34" charset="-128"/>
              </a:rPr>
              <a:t>Attacker</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Compromise GitHub/Azure DevOps pipeline</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Modify deployment scripts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Inject backdoor code</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Auto deployment to App Service / Function App</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Backdoor executes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Extract secrets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Access Storage</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Data exfiltration</a:t>
            </a:r>
          </a:p>
        </p:txBody>
      </p:sp>
    </p:spTree>
    <p:extLst>
      <p:ext uri="{BB962C8B-B14F-4D97-AF65-F5344CB8AC3E}">
        <p14:creationId xmlns:p14="http://schemas.microsoft.com/office/powerpoint/2010/main" val="4074184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0F58F-44E3-0612-3A46-D0A8874436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244C7C-2A29-FB6A-CD08-2FC16AF0B2E4}"/>
              </a:ext>
            </a:extLst>
          </p:cNvPr>
          <p:cNvSpPr>
            <a:spLocks noGrp="1"/>
          </p:cNvSpPr>
          <p:nvPr>
            <p:ph type="title"/>
          </p:nvPr>
        </p:nvSpPr>
        <p:spPr>
          <a:xfrm>
            <a:off x="149832" y="128820"/>
            <a:ext cx="11870932" cy="552218"/>
          </a:xfrm>
        </p:spPr>
        <p:txBody>
          <a:bodyPr>
            <a:noAutofit/>
          </a:bodyPr>
          <a:lstStyle/>
          <a:p>
            <a:r>
              <a:rPr lang="en-US" sz="3200" b="1" dirty="0">
                <a:latin typeface="Yu Gothic" panose="020B0400000000000000" pitchFamily="34" charset="-128"/>
                <a:ea typeface="Yu Gothic" panose="020B0400000000000000" pitchFamily="34" charset="-128"/>
              </a:rPr>
              <a:t>API Abuse / Business Logic Attack Flow</a:t>
            </a:r>
            <a:endParaRPr lang="en-IN" sz="3200" b="1" dirty="0">
              <a:latin typeface="Yu Gothic" panose="020B0400000000000000" pitchFamily="34" charset="-128"/>
              <a:ea typeface="Yu Gothic" panose="020B0400000000000000" pitchFamily="34" charset="-128"/>
            </a:endParaRPr>
          </a:p>
        </p:txBody>
      </p:sp>
      <p:sp>
        <p:nvSpPr>
          <p:cNvPr id="3" name="Content Placeholder 2">
            <a:extLst>
              <a:ext uri="{FF2B5EF4-FFF2-40B4-BE49-F238E27FC236}">
                <a16:creationId xmlns:a16="http://schemas.microsoft.com/office/drawing/2014/main" id="{9010A68F-216B-4DE0-ED91-2F276A8C9469}"/>
              </a:ext>
            </a:extLst>
          </p:cNvPr>
          <p:cNvSpPr>
            <a:spLocks noGrp="1"/>
          </p:cNvSpPr>
          <p:nvPr>
            <p:ph idx="1"/>
          </p:nvPr>
        </p:nvSpPr>
        <p:spPr>
          <a:xfrm>
            <a:off x="149832" y="880401"/>
            <a:ext cx="11870932" cy="5725881"/>
          </a:xfrm>
        </p:spPr>
        <p:txBody>
          <a:bodyPr>
            <a:normAutofit/>
          </a:bodyPr>
          <a:lstStyle/>
          <a:p>
            <a:pPr>
              <a:lnSpc>
                <a:spcPct val="120000"/>
              </a:lnSpc>
              <a:spcBef>
                <a:spcPts val="0"/>
              </a:spcBef>
            </a:pPr>
            <a:r>
              <a:rPr lang="en-IN" sz="2000" dirty="0">
                <a:latin typeface="Yu Gothic" panose="020B0400000000000000" pitchFamily="34" charset="-128"/>
                <a:ea typeface="Yu Gothic" panose="020B0400000000000000" pitchFamily="34" charset="-128"/>
              </a:rPr>
              <a:t>Attacker</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Analyze application API </a:t>
            </a:r>
            <a:r>
              <a:rPr lang="en-IN" sz="2000" dirty="0" err="1">
                <a:latin typeface="Yu Gothic" panose="020B0400000000000000" pitchFamily="34" charset="-128"/>
                <a:ea typeface="Yu Gothic" panose="020B0400000000000000" pitchFamily="34" charset="-128"/>
              </a:rPr>
              <a:t>behavior</a:t>
            </a:r>
            <a:endParaRPr lang="en-IN" sz="2000" dirty="0">
              <a:latin typeface="Yu Gothic" panose="020B0400000000000000" pitchFamily="34" charset="-128"/>
              <a:ea typeface="Yu Gothic" panose="020B0400000000000000" pitchFamily="34" charset="-128"/>
            </a:endParaRP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Bypass authorization logic</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Call internal data APIs repeatedly</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Bulk data retrieval</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Automated scraping</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Data Exfiltration</a:t>
            </a:r>
          </a:p>
        </p:txBody>
      </p:sp>
    </p:spTree>
    <p:extLst>
      <p:ext uri="{BB962C8B-B14F-4D97-AF65-F5344CB8AC3E}">
        <p14:creationId xmlns:p14="http://schemas.microsoft.com/office/powerpoint/2010/main" val="35940004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82381-D144-A334-A9D9-2EDD6B0DCD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9A20FE-CFB7-55A5-BDB9-8D7D72978124}"/>
              </a:ext>
            </a:extLst>
          </p:cNvPr>
          <p:cNvSpPr>
            <a:spLocks noGrp="1"/>
          </p:cNvSpPr>
          <p:nvPr>
            <p:ph type="title"/>
          </p:nvPr>
        </p:nvSpPr>
        <p:spPr>
          <a:xfrm>
            <a:off x="149832" y="128820"/>
            <a:ext cx="11870932" cy="552218"/>
          </a:xfrm>
        </p:spPr>
        <p:txBody>
          <a:bodyPr>
            <a:noAutofit/>
          </a:bodyPr>
          <a:lstStyle/>
          <a:p>
            <a:r>
              <a:rPr lang="en-US" sz="3200" b="1" dirty="0">
                <a:latin typeface="Yu Gothic" panose="020B0400000000000000" pitchFamily="34" charset="-128"/>
                <a:ea typeface="Yu Gothic" panose="020B0400000000000000" pitchFamily="34" charset="-128"/>
              </a:rPr>
              <a:t>Cross-Site Scripting (XSS) → Session Hijack Flow</a:t>
            </a:r>
            <a:endParaRPr lang="en-IN" sz="3200" b="1" dirty="0">
              <a:latin typeface="Yu Gothic" panose="020B0400000000000000" pitchFamily="34" charset="-128"/>
              <a:ea typeface="Yu Gothic" panose="020B0400000000000000" pitchFamily="34" charset="-128"/>
            </a:endParaRPr>
          </a:p>
        </p:txBody>
      </p:sp>
      <p:sp>
        <p:nvSpPr>
          <p:cNvPr id="3" name="Content Placeholder 2">
            <a:extLst>
              <a:ext uri="{FF2B5EF4-FFF2-40B4-BE49-F238E27FC236}">
                <a16:creationId xmlns:a16="http://schemas.microsoft.com/office/drawing/2014/main" id="{1B368FE0-744E-AA95-F08E-A8B1B3A50386}"/>
              </a:ext>
            </a:extLst>
          </p:cNvPr>
          <p:cNvSpPr>
            <a:spLocks noGrp="1"/>
          </p:cNvSpPr>
          <p:nvPr>
            <p:ph idx="1"/>
          </p:nvPr>
        </p:nvSpPr>
        <p:spPr>
          <a:xfrm>
            <a:off x="149832" y="880401"/>
            <a:ext cx="11870932" cy="5725881"/>
          </a:xfrm>
        </p:spPr>
        <p:txBody>
          <a:bodyPr>
            <a:normAutofit/>
          </a:bodyPr>
          <a:lstStyle/>
          <a:p>
            <a:pPr>
              <a:lnSpc>
                <a:spcPct val="120000"/>
              </a:lnSpc>
              <a:spcBef>
                <a:spcPts val="0"/>
              </a:spcBef>
            </a:pPr>
            <a:r>
              <a:rPr lang="en-IN" sz="2000" dirty="0">
                <a:latin typeface="Yu Gothic" panose="020B0400000000000000" pitchFamily="34" charset="-128"/>
                <a:ea typeface="Yu Gothic" panose="020B0400000000000000" pitchFamily="34" charset="-128"/>
              </a:rPr>
              <a:t>Attacker</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Inject malicious script into Web App</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Victim user loads page</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Session cookie stolen</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Attacker impersonates user</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Access application data</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Download sensitive files</a:t>
            </a:r>
          </a:p>
        </p:txBody>
      </p:sp>
    </p:spTree>
    <p:extLst>
      <p:ext uri="{BB962C8B-B14F-4D97-AF65-F5344CB8AC3E}">
        <p14:creationId xmlns:p14="http://schemas.microsoft.com/office/powerpoint/2010/main" val="33063183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C4E88-9262-B900-4EAD-C450F58437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581491-80F0-7841-C27F-45BF3DCFD70C}"/>
              </a:ext>
            </a:extLst>
          </p:cNvPr>
          <p:cNvSpPr>
            <a:spLocks noGrp="1"/>
          </p:cNvSpPr>
          <p:nvPr>
            <p:ph type="title"/>
          </p:nvPr>
        </p:nvSpPr>
        <p:spPr>
          <a:xfrm>
            <a:off x="149832" y="128820"/>
            <a:ext cx="11870932" cy="552218"/>
          </a:xfrm>
        </p:spPr>
        <p:txBody>
          <a:bodyPr>
            <a:noAutofit/>
          </a:bodyPr>
          <a:lstStyle/>
          <a:p>
            <a:r>
              <a:rPr lang="en-US" sz="3200" b="1" dirty="0">
                <a:latin typeface="Yu Gothic" panose="020B0400000000000000" pitchFamily="34" charset="-128"/>
                <a:ea typeface="Yu Gothic" panose="020B0400000000000000" pitchFamily="34" charset="-128"/>
              </a:rPr>
              <a:t>Managed Identity Privilege Abuse Flow</a:t>
            </a:r>
            <a:endParaRPr lang="en-IN" sz="3200" b="1" dirty="0">
              <a:latin typeface="Yu Gothic" panose="020B0400000000000000" pitchFamily="34" charset="-128"/>
              <a:ea typeface="Yu Gothic" panose="020B0400000000000000" pitchFamily="34" charset="-128"/>
            </a:endParaRPr>
          </a:p>
        </p:txBody>
      </p:sp>
      <p:sp>
        <p:nvSpPr>
          <p:cNvPr id="3" name="Content Placeholder 2">
            <a:extLst>
              <a:ext uri="{FF2B5EF4-FFF2-40B4-BE49-F238E27FC236}">
                <a16:creationId xmlns:a16="http://schemas.microsoft.com/office/drawing/2014/main" id="{CC592E21-D9F0-9CD2-96E6-5F1D196D822B}"/>
              </a:ext>
            </a:extLst>
          </p:cNvPr>
          <p:cNvSpPr>
            <a:spLocks noGrp="1"/>
          </p:cNvSpPr>
          <p:nvPr>
            <p:ph idx="1"/>
          </p:nvPr>
        </p:nvSpPr>
        <p:spPr>
          <a:xfrm>
            <a:off x="149832" y="880401"/>
            <a:ext cx="11870932" cy="5725881"/>
          </a:xfrm>
        </p:spPr>
        <p:txBody>
          <a:bodyPr>
            <a:normAutofit/>
          </a:bodyPr>
          <a:lstStyle/>
          <a:p>
            <a:pPr>
              <a:lnSpc>
                <a:spcPct val="120000"/>
              </a:lnSpc>
              <a:spcBef>
                <a:spcPts val="0"/>
              </a:spcBef>
            </a:pPr>
            <a:r>
              <a:rPr lang="en-IN" sz="2000" dirty="0">
                <a:latin typeface="Yu Gothic" panose="020B0400000000000000" pitchFamily="34" charset="-128"/>
                <a:ea typeface="Yu Gothic" panose="020B0400000000000000" pitchFamily="34" charset="-128"/>
              </a:rPr>
              <a:t>Attacker gains Web App execution</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Enumerate Managed Identity permissions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Identity has Storage Contributor role</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Request access token</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Call Storage REST APIs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List containers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Download data</a:t>
            </a:r>
          </a:p>
        </p:txBody>
      </p:sp>
    </p:spTree>
    <p:extLst>
      <p:ext uri="{BB962C8B-B14F-4D97-AF65-F5344CB8AC3E}">
        <p14:creationId xmlns:p14="http://schemas.microsoft.com/office/powerpoint/2010/main" val="28624422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FD457-4F34-0F20-A132-EB4BF3C797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B7CC93-699C-CAF8-4139-B90E973361E5}"/>
              </a:ext>
            </a:extLst>
          </p:cNvPr>
          <p:cNvSpPr>
            <a:spLocks noGrp="1"/>
          </p:cNvSpPr>
          <p:nvPr>
            <p:ph type="title"/>
          </p:nvPr>
        </p:nvSpPr>
        <p:spPr>
          <a:xfrm>
            <a:off x="149832" y="128820"/>
            <a:ext cx="11870932" cy="552218"/>
          </a:xfrm>
        </p:spPr>
        <p:txBody>
          <a:bodyPr>
            <a:noAutofit/>
          </a:bodyPr>
          <a:lstStyle/>
          <a:p>
            <a:r>
              <a:rPr lang="en-US" sz="3200" b="1" dirty="0">
                <a:latin typeface="Yu Gothic" panose="020B0400000000000000" pitchFamily="34" charset="-128"/>
                <a:ea typeface="Yu Gothic" panose="020B0400000000000000" pitchFamily="34" charset="-128"/>
              </a:rPr>
              <a:t>Log Injection → Secret Discovery Flow</a:t>
            </a:r>
            <a:endParaRPr lang="en-IN" sz="3200" b="1" dirty="0">
              <a:latin typeface="Yu Gothic" panose="020B0400000000000000" pitchFamily="34" charset="-128"/>
              <a:ea typeface="Yu Gothic" panose="020B0400000000000000" pitchFamily="34" charset="-128"/>
            </a:endParaRPr>
          </a:p>
        </p:txBody>
      </p:sp>
      <p:sp>
        <p:nvSpPr>
          <p:cNvPr id="3" name="Content Placeholder 2">
            <a:extLst>
              <a:ext uri="{FF2B5EF4-FFF2-40B4-BE49-F238E27FC236}">
                <a16:creationId xmlns:a16="http://schemas.microsoft.com/office/drawing/2014/main" id="{E6746C95-4A87-2CC7-FC56-B5B1295FD43E}"/>
              </a:ext>
            </a:extLst>
          </p:cNvPr>
          <p:cNvSpPr>
            <a:spLocks noGrp="1"/>
          </p:cNvSpPr>
          <p:nvPr>
            <p:ph idx="1"/>
          </p:nvPr>
        </p:nvSpPr>
        <p:spPr>
          <a:xfrm>
            <a:off x="149832" y="880401"/>
            <a:ext cx="11870932" cy="5725881"/>
          </a:xfrm>
        </p:spPr>
        <p:txBody>
          <a:bodyPr>
            <a:normAutofit/>
          </a:bodyPr>
          <a:lstStyle/>
          <a:p>
            <a:pPr>
              <a:lnSpc>
                <a:spcPct val="120000"/>
              </a:lnSpc>
              <a:spcBef>
                <a:spcPts val="0"/>
              </a:spcBef>
            </a:pPr>
            <a:r>
              <a:rPr lang="en-IN" sz="2000" dirty="0">
                <a:latin typeface="Yu Gothic" panose="020B0400000000000000" pitchFamily="34" charset="-128"/>
                <a:ea typeface="Yu Gothic" panose="020B0400000000000000" pitchFamily="34" charset="-128"/>
              </a:rPr>
              <a:t>Attacker</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Inject payload causing verbose logging</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Secrets written into logs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Logs stored in Storage / Log Analytics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Attacker gains log access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Extract tokens / keys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Access Storage Account</a:t>
            </a:r>
          </a:p>
        </p:txBody>
      </p:sp>
    </p:spTree>
    <p:extLst>
      <p:ext uri="{BB962C8B-B14F-4D97-AF65-F5344CB8AC3E}">
        <p14:creationId xmlns:p14="http://schemas.microsoft.com/office/powerpoint/2010/main" val="3013072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752FC-866E-EAA8-F560-E9C45D94BB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E7186C-9E2B-B55E-5B84-3A93E9EE87CB}"/>
              </a:ext>
            </a:extLst>
          </p:cNvPr>
          <p:cNvSpPr>
            <a:spLocks noGrp="1"/>
          </p:cNvSpPr>
          <p:nvPr>
            <p:ph type="title"/>
          </p:nvPr>
        </p:nvSpPr>
        <p:spPr>
          <a:xfrm>
            <a:off x="149832" y="128820"/>
            <a:ext cx="11870932" cy="552218"/>
          </a:xfrm>
        </p:spPr>
        <p:txBody>
          <a:bodyPr>
            <a:noAutofit/>
          </a:bodyPr>
          <a:lstStyle/>
          <a:p>
            <a:r>
              <a:rPr lang="en-US" sz="3200" b="1" dirty="0">
                <a:latin typeface="Yu Gothic" panose="020B0400000000000000" pitchFamily="34" charset="-128"/>
                <a:ea typeface="Yu Gothic" panose="020B0400000000000000" pitchFamily="34" charset="-128"/>
              </a:rPr>
              <a:t>Denial-of-Service Leading to Security Bypass Flow</a:t>
            </a:r>
            <a:endParaRPr lang="en-IN" sz="3200" b="1" dirty="0">
              <a:latin typeface="Yu Gothic" panose="020B0400000000000000" pitchFamily="34" charset="-128"/>
              <a:ea typeface="Yu Gothic" panose="020B0400000000000000" pitchFamily="34" charset="-128"/>
            </a:endParaRPr>
          </a:p>
        </p:txBody>
      </p:sp>
      <p:sp>
        <p:nvSpPr>
          <p:cNvPr id="3" name="Content Placeholder 2">
            <a:extLst>
              <a:ext uri="{FF2B5EF4-FFF2-40B4-BE49-F238E27FC236}">
                <a16:creationId xmlns:a16="http://schemas.microsoft.com/office/drawing/2014/main" id="{AA9253DA-E0D2-ED83-B3AD-04C47521A093}"/>
              </a:ext>
            </a:extLst>
          </p:cNvPr>
          <p:cNvSpPr>
            <a:spLocks noGrp="1"/>
          </p:cNvSpPr>
          <p:nvPr>
            <p:ph idx="1"/>
          </p:nvPr>
        </p:nvSpPr>
        <p:spPr>
          <a:xfrm>
            <a:off x="149832" y="880401"/>
            <a:ext cx="11870932" cy="5725881"/>
          </a:xfrm>
        </p:spPr>
        <p:txBody>
          <a:bodyPr>
            <a:normAutofit/>
          </a:bodyPr>
          <a:lstStyle/>
          <a:p>
            <a:pPr>
              <a:lnSpc>
                <a:spcPct val="120000"/>
              </a:lnSpc>
              <a:spcBef>
                <a:spcPts val="0"/>
              </a:spcBef>
            </a:pPr>
            <a:r>
              <a:rPr lang="en-IN" sz="2000" dirty="0">
                <a:latin typeface="Yu Gothic" panose="020B0400000000000000" pitchFamily="34" charset="-128"/>
                <a:ea typeface="Yu Gothic" panose="020B0400000000000000" pitchFamily="34" charset="-128"/>
              </a:rPr>
              <a:t>Attacker</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Flood Web App requests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Application enters degraded mode</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Fallback security controls disabled</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Unauthorized access allowed</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Data retrieval</a:t>
            </a:r>
          </a:p>
        </p:txBody>
      </p:sp>
    </p:spTree>
    <p:extLst>
      <p:ext uri="{BB962C8B-B14F-4D97-AF65-F5344CB8AC3E}">
        <p14:creationId xmlns:p14="http://schemas.microsoft.com/office/powerpoint/2010/main" val="38378209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E85C0-04AC-024B-34DE-E2E86D3BB4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0B1DE3-3D24-C16C-97FB-9CF96CAF1FFF}"/>
              </a:ext>
            </a:extLst>
          </p:cNvPr>
          <p:cNvSpPr>
            <a:spLocks noGrp="1"/>
          </p:cNvSpPr>
          <p:nvPr>
            <p:ph type="title"/>
          </p:nvPr>
        </p:nvSpPr>
        <p:spPr>
          <a:xfrm>
            <a:off x="149832" y="128820"/>
            <a:ext cx="11870932" cy="552218"/>
          </a:xfrm>
        </p:spPr>
        <p:txBody>
          <a:bodyPr>
            <a:noAutofit/>
          </a:bodyPr>
          <a:lstStyle/>
          <a:p>
            <a:r>
              <a:rPr lang="en-IN" sz="3200" b="1" dirty="0">
                <a:latin typeface="Yu Gothic" panose="020B0400000000000000" pitchFamily="34" charset="-128"/>
                <a:ea typeface="Yu Gothic" panose="020B0400000000000000" pitchFamily="34" charset="-128"/>
              </a:rPr>
              <a:t>Lateral Movement Inside Azure Resources Flow</a:t>
            </a:r>
          </a:p>
        </p:txBody>
      </p:sp>
      <p:sp>
        <p:nvSpPr>
          <p:cNvPr id="3" name="Content Placeholder 2">
            <a:extLst>
              <a:ext uri="{FF2B5EF4-FFF2-40B4-BE49-F238E27FC236}">
                <a16:creationId xmlns:a16="http://schemas.microsoft.com/office/drawing/2014/main" id="{45A09A72-4116-BD98-2CD7-554ED76071A3}"/>
              </a:ext>
            </a:extLst>
          </p:cNvPr>
          <p:cNvSpPr>
            <a:spLocks noGrp="1"/>
          </p:cNvSpPr>
          <p:nvPr>
            <p:ph idx="1"/>
          </p:nvPr>
        </p:nvSpPr>
        <p:spPr>
          <a:xfrm>
            <a:off x="149832" y="880401"/>
            <a:ext cx="11870932" cy="5725881"/>
          </a:xfrm>
        </p:spPr>
        <p:txBody>
          <a:bodyPr>
            <a:normAutofit/>
          </a:bodyPr>
          <a:lstStyle/>
          <a:p>
            <a:pPr>
              <a:lnSpc>
                <a:spcPct val="120000"/>
              </a:lnSpc>
              <a:spcBef>
                <a:spcPts val="0"/>
              </a:spcBef>
            </a:pPr>
            <a:r>
              <a:rPr lang="en-IN" sz="2000" dirty="0">
                <a:latin typeface="Yu Gothic" panose="020B0400000000000000" pitchFamily="34" charset="-128"/>
                <a:ea typeface="Yu Gothic" panose="020B0400000000000000" pitchFamily="34" charset="-128"/>
              </a:rPr>
              <a:t>Initial foothold (Web App compromise)</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Enumerate Azure resources via API</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Identify Function App trust relationships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Token reuse / privilege escalation</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Move to Function App context</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Access Storage Account</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Data Exfiltration</a:t>
            </a:r>
          </a:p>
        </p:txBody>
      </p:sp>
    </p:spTree>
    <p:extLst>
      <p:ext uri="{BB962C8B-B14F-4D97-AF65-F5344CB8AC3E}">
        <p14:creationId xmlns:p14="http://schemas.microsoft.com/office/powerpoint/2010/main" val="15592965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AACD8-4DB0-090F-16E2-933C8CD25E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93D3AD-54CA-5416-B77F-3E533BBDD636}"/>
              </a:ext>
            </a:extLst>
          </p:cNvPr>
          <p:cNvSpPr>
            <a:spLocks noGrp="1"/>
          </p:cNvSpPr>
          <p:nvPr>
            <p:ph type="title"/>
          </p:nvPr>
        </p:nvSpPr>
        <p:spPr>
          <a:xfrm>
            <a:off x="149832" y="128820"/>
            <a:ext cx="11870932" cy="552218"/>
          </a:xfrm>
        </p:spPr>
        <p:txBody>
          <a:bodyPr>
            <a:noAutofit/>
          </a:bodyPr>
          <a:lstStyle/>
          <a:p>
            <a:r>
              <a:rPr lang="en-IN" sz="3200" b="1" dirty="0">
                <a:latin typeface="Yu Gothic" panose="020B0400000000000000" pitchFamily="34" charset="-128"/>
                <a:ea typeface="Yu Gothic" panose="020B0400000000000000" pitchFamily="34" charset="-128"/>
              </a:rPr>
              <a:t>DNS / Domain Hijacking Flow</a:t>
            </a:r>
          </a:p>
        </p:txBody>
      </p:sp>
      <p:sp>
        <p:nvSpPr>
          <p:cNvPr id="3" name="Content Placeholder 2">
            <a:extLst>
              <a:ext uri="{FF2B5EF4-FFF2-40B4-BE49-F238E27FC236}">
                <a16:creationId xmlns:a16="http://schemas.microsoft.com/office/drawing/2014/main" id="{82BEB817-EC66-B924-4B07-25F966A40186}"/>
              </a:ext>
            </a:extLst>
          </p:cNvPr>
          <p:cNvSpPr>
            <a:spLocks noGrp="1"/>
          </p:cNvSpPr>
          <p:nvPr>
            <p:ph idx="1"/>
          </p:nvPr>
        </p:nvSpPr>
        <p:spPr>
          <a:xfrm>
            <a:off x="149832" y="880401"/>
            <a:ext cx="11870932" cy="5725881"/>
          </a:xfrm>
        </p:spPr>
        <p:txBody>
          <a:bodyPr>
            <a:normAutofit/>
          </a:bodyPr>
          <a:lstStyle/>
          <a:p>
            <a:pPr>
              <a:lnSpc>
                <a:spcPct val="120000"/>
              </a:lnSpc>
              <a:spcBef>
                <a:spcPts val="0"/>
              </a:spcBef>
            </a:pPr>
            <a:r>
              <a:rPr lang="en-IN" sz="2000" dirty="0">
                <a:latin typeface="Yu Gothic" panose="020B0400000000000000" pitchFamily="34" charset="-128"/>
                <a:ea typeface="Yu Gothic" panose="020B0400000000000000" pitchFamily="34" charset="-128"/>
              </a:rPr>
              <a:t>Attacker</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Compromise DNS or subdomain</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Redirect traffic to attacker server</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Collect credentials/tokens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Replay authentication</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Access application backend</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Extract data</a:t>
            </a:r>
          </a:p>
        </p:txBody>
      </p:sp>
    </p:spTree>
    <p:extLst>
      <p:ext uri="{BB962C8B-B14F-4D97-AF65-F5344CB8AC3E}">
        <p14:creationId xmlns:p14="http://schemas.microsoft.com/office/powerpoint/2010/main" val="2739266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6DD0B-4A65-DA87-E488-2850EF7B71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78DA89-BA1F-F5B4-BA09-399B73467DD9}"/>
              </a:ext>
            </a:extLst>
          </p:cNvPr>
          <p:cNvSpPr>
            <a:spLocks noGrp="1"/>
          </p:cNvSpPr>
          <p:nvPr>
            <p:ph type="title"/>
          </p:nvPr>
        </p:nvSpPr>
        <p:spPr>
          <a:xfrm>
            <a:off x="149832" y="128820"/>
            <a:ext cx="11870932" cy="552218"/>
          </a:xfrm>
        </p:spPr>
        <p:txBody>
          <a:bodyPr>
            <a:noAutofit/>
          </a:bodyPr>
          <a:lstStyle/>
          <a:p>
            <a:r>
              <a:rPr lang="fr-FR" sz="3200" b="1" dirty="0">
                <a:latin typeface="Yu Gothic" panose="020B0400000000000000" pitchFamily="34" charset="-128"/>
                <a:ea typeface="Yu Gothic" panose="020B0400000000000000" pitchFamily="34" charset="-128"/>
              </a:rPr>
              <a:t>Configuration Drift / Mis-configuration Exploit Flow</a:t>
            </a:r>
            <a:endParaRPr lang="en-IN" sz="3200" b="1" dirty="0">
              <a:latin typeface="Yu Gothic" panose="020B0400000000000000" pitchFamily="34" charset="-128"/>
              <a:ea typeface="Yu Gothic" panose="020B0400000000000000" pitchFamily="34" charset="-128"/>
            </a:endParaRPr>
          </a:p>
        </p:txBody>
      </p:sp>
      <p:sp>
        <p:nvSpPr>
          <p:cNvPr id="3" name="Content Placeholder 2">
            <a:extLst>
              <a:ext uri="{FF2B5EF4-FFF2-40B4-BE49-F238E27FC236}">
                <a16:creationId xmlns:a16="http://schemas.microsoft.com/office/drawing/2014/main" id="{9B8CD658-0408-5B35-C4F2-940BE8EDBAFF}"/>
              </a:ext>
            </a:extLst>
          </p:cNvPr>
          <p:cNvSpPr>
            <a:spLocks noGrp="1"/>
          </p:cNvSpPr>
          <p:nvPr>
            <p:ph idx="1"/>
          </p:nvPr>
        </p:nvSpPr>
        <p:spPr>
          <a:xfrm>
            <a:off x="149832" y="880401"/>
            <a:ext cx="11870932" cy="5725881"/>
          </a:xfrm>
        </p:spPr>
        <p:txBody>
          <a:bodyPr>
            <a:normAutofit/>
          </a:bodyPr>
          <a:lstStyle/>
          <a:p>
            <a:pPr>
              <a:lnSpc>
                <a:spcPct val="120000"/>
              </a:lnSpc>
              <a:spcBef>
                <a:spcPts val="0"/>
              </a:spcBef>
            </a:pPr>
            <a:r>
              <a:rPr lang="en-IN" sz="2000" dirty="0">
                <a:latin typeface="Yu Gothic" panose="020B0400000000000000" pitchFamily="34" charset="-128"/>
                <a:ea typeface="Yu Gothic" panose="020B0400000000000000" pitchFamily="34" charset="-128"/>
              </a:rPr>
              <a:t>Attacker</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Scan Azure endpoints continuously</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Detect newly exposed endpoint</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Unprotected API / Debug endpoint found</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Access admin functionality</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Retrieve storage credentials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Download data</a:t>
            </a:r>
          </a:p>
        </p:txBody>
      </p:sp>
    </p:spTree>
    <p:extLst>
      <p:ext uri="{BB962C8B-B14F-4D97-AF65-F5344CB8AC3E}">
        <p14:creationId xmlns:p14="http://schemas.microsoft.com/office/powerpoint/2010/main" val="26579165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A9C7C-52A2-7F64-4E9B-0921F1C880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5259E5-96B1-0958-581C-8B78355D0427}"/>
              </a:ext>
            </a:extLst>
          </p:cNvPr>
          <p:cNvSpPr>
            <a:spLocks noGrp="1"/>
          </p:cNvSpPr>
          <p:nvPr>
            <p:ph type="title"/>
          </p:nvPr>
        </p:nvSpPr>
        <p:spPr>
          <a:xfrm>
            <a:off x="149832" y="128820"/>
            <a:ext cx="11870932" cy="552218"/>
          </a:xfrm>
        </p:spPr>
        <p:txBody>
          <a:bodyPr>
            <a:noAutofit/>
          </a:bodyPr>
          <a:lstStyle/>
          <a:p>
            <a:r>
              <a:rPr lang="en-US" sz="3200" b="1" dirty="0">
                <a:latin typeface="Yu Gothic" panose="020B0400000000000000" pitchFamily="34" charset="-128"/>
                <a:ea typeface="Yu Gothic" panose="020B0400000000000000" pitchFamily="34" charset="-128"/>
              </a:rPr>
              <a:t>Data Exfiltration via Outbound Channel Flow</a:t>
            </a:r>
            <a:endParaRPr lang="en-IN" sz="3200" b="1" dirty="0">
              <a:latin typeface="Yu Gothic" panose="020B0400000000000000" pitchFamily="34" charset="-128"/>
              <a:ea typeface="Yu Gothic" panose="020B0400000000000000" pitchFamily="34" charset="-128"/>
            </a:endParaRPr>
          </a:p>
        </p:txBody>
      </p:sp>
      <p:sp>
        <p:nvSpPr>
          <p:cNvPr id="3" name="Content Placeholder 2">
            <a:extLst>
              <a:ext uri="{FF2B5EF4-FFF2-40B4-BE49-F238E27FC236}">
                <a16:creationId xmlns:a16="http://schemas.microsoft.com/office/drawing/2014/main" id="{7E033E3D-6351-A756-EC30-0586C206D905}"/>
              </a:ext>
            </a:extLst>
          </p:cNvPr>
          <p:cNvSpPr>
            <a:spLocks noGrp="1"/>
          </p:cNvSpPr>
          <p:nvPr>
            <p:ph idx="1"/>
          </p:nvPr>
        </p:nvSpPr>
        <p:spPr>
          <a:xfrm>
            <a:off x="149832" y="880401"/>
            <a:ext cx="11870932" cy="5725881"/>
          </a:xfrm>
        </p:spPr>
        <p:txBody>
          <a:bodyPr>
            <a:normAutofit/>
          </a:bodyPr>
          <a:lstStyle/>
          <a:p>
            <a:pPr>
              <a:lnSpc>
                <a:spcPct val="120000"/>
              </a:lnSpc>
              <a:spcBef>
                <a:spcPts val="0"/>
              </a:spcBef>
            </a:pPr>
            <a:r>
              <a:rPr lang="en-IN" sz="2000" dirty="0">
                <a:latin typeface="Yu Gothic" panose="020B0400000000000000" pitchFamily="34" charset="-128"/>
                <a:ea typeface="Yu Gothic" panose="020B0400000000000000" pitchFamily="34" charset="-128"/>
              </a:rPr>
              <a:t>Attacker gains code execution</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Create outbound HTTPS connection</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Read Storage data via identity</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Encrypt data locally</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Send data to external server</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Stealth exfiltration</a:t>
            </a:r>
          </a:p>
        </p:txBody>
      </p:sp>
    </p:spTree>
    <p:extLst>
      <p:ext uri="{BB962C8B-B14F-4D97-AF65-F5344CB8AC3E}">
        <p14:creationId xmlns:p14="http://schemas.microsoft.com/office/powerpoint/2010/main" val="8573100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170CB-0BCA-7D6B-EDAC-A2A861F5D6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4E48EB-279D-4352-6B18-FA203181CE9E}"/>
              </a:ext>
            </a:extLst>
          </p:cNvPr>
          <p:cNvSpPr>
            <a:spLocks noGrp="1"/>
          </p:cNvSpPr>
          <p:nvPr>
            <p:ph type="title"/>
          </p:nvPr>
        </p:nvSpPr>
        <p:spPr>
          <a:xfrm>
            <a:off x="149832" y="128820"/>
            <a:ext cx="11870932" cy="552218"/>
          </a:xfrm>
        </p:spPr>
        <p:txBody>
          <a:bodyPr>
            <a:noAutofit/>
          </a:bodyPr>
          <a:lstStyle/>
          <a:p>
            <a:r>
              <a:rPr lang="en-US" sz="3200" b="1" dirty="0">
                <a:latin typeface="Yu Gothic" panose="020B0400000000000000" pitchFamily="34" charset="-128"/>
                <a:ea typeface="Yu Gothic" panose="020B0400000000000000" pitchFamily="34" charset="-128"/>
              </a:rPr>
              <a:t>Suspicious Web App Activity Detection Flow</a:t>
            </a:r>
            <a:endParaRPr lang="en-IN" sz="3200" b="1" dirty="0">
              <a:latin typeface="Yu Gothic" panose="020B0400000000000000" pitchFamily="34" charset="-128"/>
              <a:ea typeface="Yu Gothic" panose="020B0400000000000000" pitchFamily="34" charset="-128"/>
            </a:endParaRPr>
          </a:p>
        </p:txBody>
      </p:sp>
      <p:sp>
        <p:nvSpPr>
          <p:cNvPr id="3" name="Content Placeholder 2">
            <a:extLst>
              <a:ext uri="{FF2B5EF4-FFF2-40B4-BE49-F238E27FC236}">
                <a16:creationId xmlns:a16="http://schemas.microsoft.com/office/drawing/2014/main" id="{E807B603-A8B7-F987-A431-67BEF9F906D3}"/>
              </a:ext>
            </a:extLst>
          </p:cNvPr>
          <p:cNvSpPr>
            <a:spLocks noGrp="1"/>
          </p:cNvSpPr>
          <p:nvPr>
            <p:ph idx="1"/>
          </p:nvPr>
        </p:nvSpPr>
        <p:spPr>
          <a:xfrm>
            <a:off x="149832" y="880401"/>
            <a:ext cx="5480406" cy="5725881"/>
          </a:xfrm>
        </p:spPr>
        <p:txBody>
          <a:bodyPr>
            <a:normAutofit fontScale="77500" lnSpcReduction="20000"/>
          </a:bodyPr>
          <a:lstStyle/>
          <a:p>
            <a:pPr>
              <a:lnSpc>
                <a:spcPct val="120000"/>
              </a:lnSpc>
              <a:spcBef>
                <a:spcPts val="0"/>
              </a:spcBef>
            </a:pPr>
            <a:r>
              <a:rPr lang="en-IN" sz="2000" dirty="0">
                <a:latin typeface="Yu Gothic" panose="020B0400000000000000" pitchFamily="34" charset="-128"/>
                <a:ea typeface="Yu Gothic" panose="020B0400000000000000" pitchFamily="34" charset="-128"/>
              </a:rPr>
              <a:t>Internet Traffic</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Azure App Service receives requests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App Service Diagnostics + HTTP Logs generated</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Logs sent to Azure Monitor</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Microsoft Defender for Cloud </a:t>
            </a:r>
            <a:r>
              <a:rPr lang="en-IN" sz="2000" dirty="0" err="1">
                <a:latin typeface="Yu Gothic" panose="020B0400000000000000" pitchFamily="34" charset="-128"/>
                <a:ea typeface="Yu Gothic" panose="020B0400000000000000" pitchFamily="34" charset="-128"/>
              </a:rPr>
              <a:t>analyzes</a:t>
            </a:r>
            <a:r>
              <a:rPr lang="en-IN" sz="2000" dirty="0">
                <a:latin typeface="Yu Gothic" panose="020B0400000000000000" pitchFamily="34" charset="-128"/>
                <a:ea typeface="Yu Gothic" panose="020B0400000000000000" pitchFamily="34" charset="-128"/>
              </a:rPr>
              <a:t> signals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err="1">
                <a:latin typeface="Yu Gothic" panose="020B0400000000000000" pitchFamily="34" charset="-128"/>
                <a:ea typeface="Yu Gothic" panose="020B0400000000000000" pitchFamily="34" charset="-128"/>
              </a:rPr>
              <a:t>Behavior</a:t>
            </a:r>
            <a:r>
              <a:rPr lang="en-IN" sz="2000" dirty="0">
                <a:latin typeface="Yu Gothic" panose="020B0400000000000000" pitchFamily="34" charset="-128"/>
                <a:ea typeface="Yu Gothic" panose="020B0400000000000000" pitchFamily="34" charset="-128"/>
              </a:rPr>
              <a:t> analytics + Threat intelligence correlation</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Detect:</a:t>
            </a:r>
          </a:p>
          <a:p>
            <a:pPr>
              <a:lnSpc>
                <a:spcPct val="120000"/>
              </a:lnSpc>
              <a:spcBef>
                <a:spcPts val="0"/>
              </a:spcBef>
            </a:pPr>
            <a:r>
              <a:rPr lang="en-IN" sz="2000" dirty="0">
                <a:latin typeface="Yu Gothic" panose="020B0400000000000000" pitchFamily="34" charset="-128"/>
                <a:ea typeface="Yu Gothic" panose="020B0400000000000000" pitchFamily="34" charset="-128"/>
              </a:rPr>
              <a:t>   ├─ SQL Injection patterns</a:t>
            </a:r>
          </a:p>
          <a:p>
            <a:pPr>
              <a:lnSpc>
                <a:spcPct val="120000"/>
              </a:lnSpc>
              <a:spcBef>
                <a:spcPts val="0"/>
              </a:spcBef>
            </a:pPr>
            <a:r>
              <a:rPr lang="en-IN" sz="2000" dirty="0">
                <a:latin typeface="Yu Gothic" panose="020B0400000000000000" pitchFamily="34" charset="-128"/>
                <a:ea typeface="Yu Gothic" panose="020B0400000000000000" pitchFamily="34" charset="-128"/>
              </a:rPr>
              <a:t>   ├─ Command injection</a:t>
            </a:r>
          </a:p>
          <a:p>
            <a:pPr>
              <a:lnSpc>
                <a:spcPct val="120000"/>
              </a:lnSpc>
              <a:spcBef>
                <a:spcPts val="0"/>
              </a:spcBef>
            </a:pPr>
            <a:r>
              <a:rPr lang="en-IN" sz="2000" dirty="0">
                <a:latin typeface="Yu Gothic" panose="020B0400000000000000" pitchFamily="34" charset="-128"/>
                <a:ea typeface="Yu Gothic" panose="020B0400000000000000" pitchFamily="34" charset="-128"/>
              </a:rPr>
              <a:t>   ├─ Brute force attempts</a:t>
            </a:r>
          </a:p>
          <a:p>
            <a:pPr>
              <a:lnSpc>
                <a:spcPct val="120000"/>
              </a:lnSpc>
              <a:spcBef>
                <a:spcPts val="0"/>
              </a:spcBef>
            </a:pPr>
            <a:r>
              <a:rPr lang="en-IN" sz="2000" dirty="0">
                <a:latin typeface="Yu Gothic" panose="020B0400000000000000" pitchFamily="34" charset="-128"/>
                <a:ea typeface="Yu Gothic" panose="020B0400000000000000" pitchFamily="34" charset="-128"/>
              </a:rPr>
              <a:t>   └─ Abnormal request spikes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Security Alert Generated</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Alert sent to Defender for Cloud</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Incident created in Microsoft Sentinel</a:t>
            </a:r>
          </a:p>
        </p:txBody>
      </p:sp>
    </p:spTree>
    <p:extLst>
      <p:ext uri="{BB962C8B-B14F-4D97-AF65-F5344CB8AC3E}">
        <p14:creationId xmlns:p14="http://schemas.microsoft.com/office/powerpoint/2010/main" val="30050044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92FDB-DBE9-9E09-2042-D2543DF217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7BB93A-C959-E377-E682-2D0F6766DAAD}"/>
              </a:ext>
            </a:extLst>
          </p:cNvPr>
          <p:cNvSpPr>
            <a:spLocks noGrp="1"/>
          </p:cNvSpPr>
          <p:nvPr>
            <p:ph type="title"/>
          </p:nvPr>
        </p:nvSpPr>
        <p:spPr>
          <a:xfrm>
            <a:off x="149832" y="128820"/>
            <a:ext cx="11870932" cy="552218"/>
          </a:xfrm>
        </p:spPr>
        <p:txBody>
          <a:bodyPr>
            <a:noAutofit/>
          </a:bodyPr>
          <a:lstStyle/>
          <a:p>
            <a:r>
              <a:rPr lang="en-US" sz="3200" b="1" dirty="0">
                <a:latin typeface="Yu Gothic" panose="020B0400000000000000" pitchFamily="34" charset="-128"/>
                <a:ea typeface="Yu Gothic" panose="020B0400000000000000" pitchFamily="34" charset="-128"/>
              </a:rPr>
              <a:t>Storage Account Data Exfiltration Detection</a:t>
            </a:r>
            <a:endParaRPr lang="en-IN" sz="3200" b="1" dirty="0">
              <a:latin typeface="Yu Gothic" panose="020B0400000000000000" pitchFamily="34" charset="-128"/>
              <a:ea typeface="Yu Gothic" panose="020B0400000000000000" pitchFamily="34" charset="-128"/>
            </a:endParaRPr>
          </a:p>
        </p:txBody>
      </p:sp>
      <p:sp>
        <p:nvSpPr>
          <p:cNvPr id="3" name="Content Placeholder 2">
            <a:extLst>
              <a:ext uri="{FF2B5EF4-FFF2-40B4-BE49-F238E27FC236}">
                <a16:creationId xmlns:a16="http://schemas.microsoft.com/office/drawing/2014/main" id="{50DCF54C-8769-9A37-82D0-93B1BE21AB1F}"/>
              </a:ext>
            </a:extLst>
          </p:cNvPr>
          <p:cNvSpPr>
            <a:spLocks noGrp="1"/>
          </p:cNvSpPr>
          <p:nvPr>
            <p:ph idx="1"/>
          </p:nvPr>
        </p:nvSpPr>
        <p:spPr>
          <a:xfrm>
            <a:off x="149832" y="880401"/>
            <a:ext cx="11870932" cy="5725881"/>
          </a:xfrm>
        </p:spPr>
        <p:txBody>
          <a:bodyPr>
            <a:normAutofit fontScale="92500" lnSpcReduction="20000"/>
          </a:bodyPr>
          <a:lstStyle/>
          <a:p>
            <a:pPr>
              <a:lnSpc>
                <a:spcPct val="120000"/>
              </a:lnSpc>
              <a:spcBef>
                <a:spcPts val="0"/>
              </a:spcBef>
            </a:pPr>
            <a:r>
              <a:rPr lang="en-IN" sz="2000" dirty="0">
                <a:latin typeface="Yu Gothic" panose="020B0400000000000000" pitchFamily="34" charset="-128"/>
                <a:ea typeface="Yu Gothic" panose="020B0400000000000000" pitchFamily="34" charset="-128"/>
              </a:rPr>
              <a:t>Storage Account access activity</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Blob read/list/download operations logged</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Azure Storage Analytics + Diagnostic logs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Logs forwarded to Log Analytics Workspace</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Defender for Cloud anomaly detection</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Identify abnormal patterns:</a:t>
            </a:r>
          </a:p>
          <a:p>
            <a:pPr>
              <a:lnSpc>
                <a:spcPct val="120000"/>
              </a:lnSpc>
              <a:spcBef>
                <a:spcPts val="0"/>
              </a:spcBef>
            </a:pPr>
            <a:r>
              <a:rPr lang="en-IN" sz="2000" dirty="0">
                <a:latin typeface="Yu Gothic" panose="020B0400000000000000" pitchFamily="34" charset="-128"/>
                <a:ea typeface="Yu Gothic" panose="020B0400000000000000" pitchFamily="34" charset="-128"/>
              </a:rPr>
              <a:t>   ├─ Massive downloads</a:t>
            </a:r>
          </a:p>
          <a:p>
            <a:pPr>
              <a:lnSpc>
                <a:spcPct val="120000"/>
              </a:lnSpc>
              <a:spcBef>
                <a:spcPts val="0"/>
              </a:spcBef>
            </a:pPr>
            <a:r>
              <a:rPr lang="en-IN" sz="2000" dirty="0">
                <a:latin typeface="Yu Gothic" panose="020B0400000000000000" pitchFamily="34" charset="-128"/>
                <a:ea typeface="Yu Gothic" panose="020B0400000000000000" pitchFamily="34" charset="-128"/>
              </a:rPr>
              <a:t>   ├─ New geographic access</a:t>
            </a:r>
          </a:p>
          <a:p>
            <a:pPr>
              <a:lnSpc>
                <a:spcPct val="120000"/>
              </a:lnSpc>
              <a:spcBef>
                <a:spcPts val="0"/>
              </a:spcBef>
            </a:pPr>
            <a:r>
              <a:rPr lang="en-IN" sz="2000" dirty="0">
                <a:latin typeface="Yu Gothic" panose="020B0400000000000000" pitchFamily="34" charset="-128"/>
                <a:ea typeface="Yu Gothic" panose="020B0400000000000000" pitchFamily="34" charset="-128"/>
              </a:rPr>
              <a:t>   ├─ Unusual identity usage</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High-risk alert triggered</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SOC notified</a:t>
            </a:r>
          </a:p>
        </p:txBody>
      </p:sp>
    </p:spTree>
    <p:extLst>
      <p:ext uri="{BB962C8B-B14F-4D97-AF65-F5344CB8AC3E}">
        <p14:creationId xmlns:p14="http://schemas.microsoft.com/office/powerpoint/2010/main" val="11020622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76224-8C06-5565-F89A-30156FF06A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7F07EA-E290-5510-5503-38F400BA1987}"/>
              </a:ext>
            </a:extLst>
          </p:cNvPr>
          <p:cNvSpPr>
            <a:spLocks noGrp="1"/>
          </p:cNvSpPr>
          <p:nvPr>
            <p:ph type="title"/>
          </p:nvPr>
        </p:nvSpPr>
        <p:spPr>
          <a:xfrm>
            <a:off x="149832" y="128820"/>
            <a:ext cx="11870932" cy="552218"/>
          </a:xfrm>
        </p:spPr>
        <p:txBody>
          <a:bodyPr>
            <a:noAutofit/>
          </a:bodyPr>
          <a:lstStyle/>
          <a:p>
            <a:r>
              <a:rPr lang="en-IN" sz="3200" b="1" dirty="0">
                <a:latin typeface="Yu Gothic" panose="020B0400000000000000" pitchFamily="34" charset="-128"/>
                <a:ea typeface="Yu Gothic" panose="020B0400000000000000" pitchFamily="34" charset="-128"/>
              </a:rPr>
              <a:t>Compromised Managed Identity Detection</a:t>
            </a:r>
          </a:p>
        </p:txBody>
      </p:sp>
      <p:sp>
        <p:nvSpPr>
          <p:cNvPr id="3" name="Content Placeholder 2">
            <a:extLst>
              <a:ext uri="{FF2B5EF4-FFF2-40B4-BE49-F238E27FC236}">
                <a16:creationId xmlns:a16="http://schemas.microsoft.com/office/drawing/2014/main" id="{54066C34-1D5B-6AB4-28CF-651890820701}"/>
              </a:ext>
            </a:extLst>
          </p:cNvPr>
          <p:cNvSpPr>
            <a:spLocks noGrp="1"/>
          </p:cNvSpPr>
          <p:nvPr>
            <p:ph idx="1"/>
          </p:nvPr>
        </p:nvSpPr>
        <p:spPr>
          <a:xfrm>
            <a:off x="149832" y="880401"/>
            <a:ext cx="11870932" cy="5725881"/>
          </a:xfrm>
        </p:spPr>
        <p:txBody>
          <a:bodyPr>
            <a:normAutofit lnSpcReduction="10000"/>
          </a:bodyPr>
          <a:lstStyle/>
          <a:p>
            <a:pPr>
              <a:lnSpc>
                <a:spcPct val="120000"/>
              </a:lnSpc>
              <a:spcBef>
                <a:spcPts val="0"/>
              </a:spcBef>
            </a:pPr>
            <a:r>
              <a:rPr lang="en-IN" sz="2000" dirty="0">
                <a:latin typeface="Yu Gothic" panose="020B0400000000000000" pitchFamily="34" charset="-128"/>
                <a:ea typeface="Yu Gothic" panose="020B0400000000000000" pitchFamily="34" charset="-128"/>
              </a:rPr>
              <a:t>Managed Identity requests token</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Azure AD sign-in logs generated</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Token usage </a:t>
            </a:r>
            <a:r>
              <a:rPr lang="en-IN" sz="2000" dirty="0" err="1">
                <a:latin typeface="Yu Gothic" panose="020B0400000000000000" pitchFamily="34" charset="-128"/>
                <a:ea typeface="Yu Gothic" panose="020B0400000000000000" pitchFamily="34" charset="-128"/>
              </a:rPr>
              <a:t>analyzed</a:t>
            </a:r>
            <a:endParaRPr lang="en-IN" sz="2000" dirty="0">
              <a:latin typeface="Yu Gothic" panose="020B0400000000000000" pitchFamily="34" charset="-128"/>
              <a:ea typeface="Yu Gothic" panose="020B0400000000000000" pitchFamily="34" charset="-128"/>
            </a:endParaRP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Defender for Cloud UEBA analysis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Detect anomaly:</a:t>
            </a:r>
          </a:p>
          <a:p>
            <a:pPr>
              <a:lnSpc>
                <a:spcPct val="120000"/>
              </a:lnSpc>
              <a:spcBef>
                <a:spcPts val="0"/>
              </a:spcBef>
            </a:pPr>
            <a:r>
              <a:rPr lang="en-IN" sz="2000" dirty="0">
                <a:latin typeface="Yu Gothic" panose="020B0400000000000000" pitchFamily="34" charset="-128"/>
                <a:ea typeface="Yu Gothic" panose="020B0400000000000000" pitchFamily="34" charset="-128"/>
              </a:rPr>
              <a:t>   ├─ First-time Storage access</a:t>
            </a:r>
          </a:p>
          <a:p>
            <a:pPr>
              <a:lnSpc>
                <a:spcPct val="120000"/>
              </a:lnSpc>
              <a:spcBef>
                <a:spcPts val="0"/>
              </a:spcBef>
            </a:pPr>
            <a:r>
              <a:rPr lang="en-IN" sz="2000" dirty="0">
                <a:latin typeface="Yu Gothic" panose="020B0400000000000000" pitchFamily="34" charset="-128"/>
                <a:ea typeface="Yu Gothic" panose="020B0400000000000000" pitchFamily="34" charset="-128"/>
              </a:rPr>
              <a:t>   ├─ Privilege misuse</a:t>
            </a:r>
          </a:p>
          <a:p>
            <a:pPr>
              <a:lnSpc>
                <a:spcPct val="120000"/>
              </a:lnSpc>
              <a:spcBef>
                <a:spcPts val="0"/>
              </a:spcBef>
            </a:pPr>
            <a:r>
              <a:rPr lang="en-IN" sz="2000" dirty="0">
                <a:latin typeface="Yu Gothic" panose="020B0400000000000000" pitchFamily="34" charset="-128"/>
                <a:ea typeface="Yu Gothic" panose="020B0400000000000000" pitchFamily="34" charset="-128"/>
              </a:rPr>
              <a:t>   ├─ Abnormal API usage</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Identity risk elevated</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Security recommendation + alert raised</a:t>
            </a:r>
          </a:p>
        </p:txBody>
      </p:sp>
    </p:spTree>
    <p:extLst>
      <p:ext uri="{BB962C8B-B14F-4D97-AF65-F5344CB8AC3E}">
        <p14:creationId xmlns:p14="http://schemas.microsoft.com/office/powerpoint/2010/main" val="39806595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E1260-27B5-87DB-2255-F7B1A4B87C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25F1E8-FA80-FA82-71E9-B95CBFD71862}"/>
              </a:ext>
            </a:extLst>
          </p:cNvPr>
          <p:cNvSpPr>
            <a:spLocks noGrp="1"/>
          </p:cNvSpPr>
          <p:nvPr>
            <p:ph type="title"/>
          </p:nvPr>
        </p:nvSpPr>
        <p:spPr>
          <a:xfrm>
            <a:off x="149832" y="128820"/>
            <a:ext cx="11870932" cy="552218"/>
          </a:xfrm>
        </p:spPr>
        <p:txBody>
          <a:bodyPr>
            <a:noAutofit/>
          </a:bodyPr>
          <a:lstStyle/>
          <a:p>
            <a:r>
              <a:rPr lang="en-IN" sz="3200" b="1" dirty="0">
                <a:latin typeface="Yu Gothic" panose="020B0400000000000000" pitchFamily="34" charset="-128"/>
                <a:ea typeface="Yu Gothic" panose="020B0400000000000000" pitchFamily="34" charset="-128"/>
              </a:rPr>
              <a:t>Function App Exploitation Detection</a:t>
            </a:r>
          </a:p>
        </p:txBody>
      </p:sp>
      <p:sp>
        <p:nvSpPr>
          <p:cNvPr id="3" name="Content Placeholder 2">
            <a:extLst>
              <a:ext uri="{FF2B5EF4-FFF2-40B4-BE49-F238E27FC236}">
                <a16:creationId xmlns:a16="http://schemas.microsoft.com/office/drawing/2014/main" id="{5F46EDAF-6D40-7041-AC76-5ED6903F3F3F}"/>
              </a:ext>
            </a:extLst>
          </p:cNvPr>
          <p:cNvSpPr>
            <a:spLocks noGrp="1"/>
          </p:cNvSpPr>
          <p:nvPr>
            <p:ph idx="1"/>
          </p:nvPr>
        </p:nvSpPr>
        <p:spPr>
          <a:xfrm>
            <a:off x="149832" y="880401"/>
            <a:ext cx="11870932" cy="5725881"/>
          </a:xfrm>
        </p:spPr>
        <p:txBody>
          <a:bodyPr>
            <a:normAutofit fontScale="92500" lnSpcReduction="20000"/>
          </a:bodyPr>
          <a:lstStyle/>
          <a:p>
            <a:pPr>
              <a:lnSpc>
                <a:spcPct val="120000"/>
              </a:lnSpc>
              <a:spcBef>
                <a:spcPts val="0"/>
              </a:spcBef>
            </a:pPr>
            <a:r>
              <a:rPr lang="en-IN" sz="2000" dirty="0">
                <a:latin typeface="Yu Gothic" panose="020B0400000000000000" pitchFamily="34" charset="-128"/>
                <a:ea typeface="Yu Gothic" panose="020B0400000000000000" pitchFamily="34" charset="-128"/>
              </a:rPr>
              <a:t>Function App invocation</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Execution logs generated</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Unexpected payload </a:t>
            </a:r>
            <a:r>
              <a:rPr lang="en-IN" sz="2000" dirty="0" err="1">
                <a:latin typeface="Yu Gothic" panose="020B0400000000000000" pitchFamily="34" charset="-128"/>
                <a:ea typeface="Yu Gothic" panose="020B0400000000000000" pitchFamily="34" charset="-128"/>
              </a:rPr>
              <a:t>behavior</a:t>
            </a:r>
            <a:r>
              <a:rPr lang="en-IN" sz="2000" dirty="0">
                <a:latin typeface="Yu Gothic" panose="020B0400000000000000" pitchFamily="34" charset="-128"/>
                <a:ea typeface="Yu Gothic" panose="020B0400000000000000" pitchFamily="34" charset="-128"/>
              </a:rPr>
              <a:t> detected</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Outbound connection anomaly observed</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Defender for Cloud runtime protection</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Detect:</a:t>
            </a:r>
          </a:p>
          <a:p>
            <a:pPr>
              <a:lnSpc>
                <a:spcPct val="120000"/>
              </a:lnSpc>
              <a:spcBef>
                <a:spcPts val="0"/>
              </a:spcBef>
            </a:pPr>
            <a:r>
              <a:rPr lang="en-IN" sz="2000" dirty="0">
                <a:latin typeface="Yu Gothic" panose="020B0400000000000000" pitchFamily="34" charset="-128"/>
                <a:ea typeface="Yu Gothic" panose="020B0400000000000000" pitchFamily="34" charset="-128"/>
              </a:rPr>
              <a:t>   ├─ Suspicious command execution</a:t>
            </a:r>
          </a:p>
          <a:p>
            <a:pPr>
              <a:lnSpc>
                <a:spcPct val="120000"/>
              </a:lnSpc>
              <a:spcBef>
                <a:spcPts val="0"/>
              </a:spcBef>
            </a:pPr>
            <a:r>
              <a:rPr lang="en-IN" sz="2000" dirty="0">
                <a:latin typeface="Yu Gothic" panose="020B0400000000000000" pitchFamily="34" charset="-128"/>
                <a:ea typeface="Yu Gothic" panose="020B0400000000000000" pitchFamily="34" charset="-128"/>
              </a:rPr>
              <a:t>   ├─ Crypto miner indicators</a:t>
            </a:r>
          </a:p>
          <a:p>
            <a:pPr>
              <a:lnSpc>
                <a:spcPct val="120000"/>
              </a:lnSpc>
              <a:spcBef>
                <a:spcPts val="0"/>
              </a:spcBef>
            </a:pPr>
            <a:r>
              <a:rPr lang="en-IN" sz="2000" dirty="0">
                <a:latin typeface="Yu Gothic" panose="020B0400000000000000" pitchFamily="34" charset="-128"/>
                <a:ea typeface="Yu Gothic" panose="020B0400000000000000" pitchFamily="34" charset="-128"/>
              </a:rPr>
              <a:t>   ├─ Malware callback traffic</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Alert generated</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Automatic investigation initiated</a:t>
            </a:r>
          </a:p>
        </p:txBody>
      </p:sp>
    </p:spTree>
    <p:extLst>
      <p:ext uri="{BB962C8B-B14F-4D97-AF65-F5344CB8AC3E}">
        <p14:creationId xmlns:p14="http://schemas.microsoft.com/office/powerpoint/2010/main" val="31894886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CFA99-B506-CA78-2EAE-FD86E6CA86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1C824D-1D64-FD57-CCBA-D1D5C242D3C0}"/>
              </a:ext>
            </a:extLst>
          </p:cNvPr>
          <p:cNvSpPr>
            <a:spLocks noGrp="1"/>
          </p:cNvSpPr>
          <p:nvPr>
            <p:ph type="title"/>
          </p:nvPr>
        </p:nvSpPr>
        <p:spPr>
          <a:xfrm>
            <a:off x="149832" y="128820"/>
            <a:ext cx="11870932" cy="552218"/>
          </a:xfrm>
        </p:spPr>
        <p:txBody>
          <a:bodyPr>
            <a:noAutofit/>
          </a:bodyPr>
          <a:lstStyle/>
          <a:p>
            <a:r>
              <a:rPr lang="en-IN" sz="3200" b="1" dirty="0">
                <a:latin typeface="Yu Gothic" panose="020B0400000000000000" pitchFamily="34" charset="-128"/>
                <a:ea typeface="Yu Gothic" panose="020B0400000000000000" pitchFamily="34" charset="-128"/>
              </a:rPr>
              <a:t>Public Exposure / Misconfiguration Detection</a:t>
            </a:r>
          </a:p>
        </p:txBody>
      </p:sp>
      <p:sp>
        <p:nvSpPr>
          <p:cNvPr id="3" name="Content Placeholder 2">
            <a:extLst>
              <a:ext uri="{FF2B5EF4-FFF2-40B4-BE49-F238E27FC236}">
                <a16:creationId xmlns:a16="http://schemas.microsoft.com/office/drawing/2014/main" id="{8BA39756-5E00-F10C-7167-EFD877E27E70}"/>
              </a:ext>
            </a:extLst>
          </p:cNvPr>
          <p:cNvSpPr>
            <a:spLocks noGrp="1"/>
          </p:cNvSpPr>
          <p:nvPr>
            <p:ph idx="1"/>
          </p:nvPr>
        </p:nvSpPr>
        <p:spPr>
          <a:xfrm>
            <a:off x="149832" y="880401"/>
            <a:ext cx="11870932" cy="5725881"/>
          </a:xfrm>
        </p:spPr>
        <p:txBody>
          <a:bodyPr>
            <a:normAutofit lnSpcReduction="10000"/>
          </a:bodyPr>
          <a:lstStyle/>
          <a:p>
            <a:pPr>
              <a:lnSpc>
                <a:spcPct val="120000"/>
              </a:lnSpc>
              <a:spcBef>
                <a:spcPts val="0"/>
              </a:spcBef>
            </a:pPr>
            <a:r>
              <a:rPr lang="en-IN" sz="2000" dirty="0">
                <a:latin typeface="Yu Gothic" panose="020B0400000000000000" pitchFamily="34" charset="-128"/>
                <a:ea typeface="Yu Gothic" panose="020B0400000000000000" pitchFamily="34" charset="-128"/>
              </a:rPr>
              <a:t>Resource configuration evaluated</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Continuous posture assessment</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Azure Security Benchmark comparison</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Misconfiguration identified:</a:t>
            </a:r>
          </a:p>
          <a:p>
            <a:pPr>
              <a:lnSpc>
                <a:spcPct val="120000"/>
              </a:lnSpc>
              <a:spcBef>
                <a:spcPts val="0"/>
              </a:spcBef>
            </a:pPr>
            <a:r>
              <a:rPr lang="en-IN" sz="2000" dirty="0">
                <a:latin typeface="Yu Gothic" panose="020B0400000000000000" pitchFamily="34" charset="-128"/>
                <a:ea typeface="Yu Gothic" panose="020B0400000000000000" pitchFamily="34" charset="-128"/>
              </a:rPr>
              <a:t>   ├─ Public blob access enabled</a:t>
            </a:r>
          </a:p>
          <a:p>
            <a:pPr>
              <a:lnSpc>
                <a:spcPct val="120000"/>
              </a:lnSpc>
              <a:spcBef>
                <a:spcPts val="0"/>
              </a:spcBef>
            </a:pPr>
            <a:r>
              <a:rPr lang="en-IN" sz="2000" dirty="0">
                <a:latin typeface="Yu Gothic" panose="020B0400000000000000" pitchFamily="34" charset="-128"/>
                <a:ea typeface="Yu Gothic" panose="020B0400000000000000" pitchFamily="34" charset="-128"/>
              </a:rPr>
              <a:t>   ├─ Open endpoint</a:t>
            </a:r>
          </a:p>
          <a:p>
            <a:pPr>
              <a:lnSpc>
                <a:spcPct val="120000"/>
              </a:lnSpc>
              <a:spcBef>
                <a:spcPts val="0"/>
              </a:spcBef>
            </a:pPr>
            <a:r>
              <a:rPr lang="en-IN" sz="2000" dirty="0">
                <a:latin typeface="Yu Gothic" panose="020B0400000000000000" pitchFamily="34" charset="-128"/>
                <a:ea typeface="Yu Gothic" panose="020B0400000000000000" pitchFamily="34" charset="-128"/>
              </a:rPr>
              <a:t>   ├─ Missing authentication</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Secure Score impacted</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Defender recommendation generated</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SOC review required</a:t>
            </a:r>
          </a:p>
        </p:txBody>
      </p:sp>
    </p:spTree>
    <p:extLst>
      <p:ext uri="{BB962C8B-B14F-4D97-AF65-F5344CB8AC3E}">
        <p14:creationId xmlns:p14="http://schemas.microsoft.com/office/powerpoint/2010/main" val="27473741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CC3FD-00B4-1FA1-CDFA-984905F52B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5A89FF-214C-3E07-0457-739858FF8492}"/>
              </a:ext>
            </a:extLst>
          </p:cNvPr>
          <p:cNvSpPr>
            <a:spLocks noGrp="1"/>
          </p:cNvSpPr>
          <p:nvPr>
            <p:ph type="title"/>
          </p:nvPr>
        </p:nvSpPr>
        <p:spPr>
          <a:xfrm>
            <a:off x="149832" y="128820"/>
            <a:ext cx="11870932" cy="552218"/>
          </a:xfrm>
        </p:spPr>
        <p:txBody>
          <a:bodyPr>
            <a:noAutofit/>
          </a:bodyPr>
          <a:lstStyle/>
          <a:p>
            <a:r>
              <a:rPr lang="en-IN" sz="3200" b="1" dirty="0">
                <a:latin typeface="Yu Gothic" panose="020B0400000000000000" pitchFamily="34" charset="-128"/>
                <a:ea typeface="Yu Gothic" panose="020B0400000000000000" pitchFamily="34" charset="-128"/>
              </a:rPr>
              <a:t>Suspicious Deployment / Code Change Detection</a:t>
            </a:r>
          </a:p>
        </p:txBody>
      </p:sp>
      <p:sp>
        <p:nvSpPr>
          <p:cNvPr id="3" name="Content Placeholder 2">
            <a:extLst>
              <a:ext uri="{FF2B5EF4-FFF2-40B4-BE49-F238E27FC236}">
                <a16:creationId xmlns:a16="http://schemas.microsoft.com/office/drawing/2014/main" id="{FACB5A32-C3BC-8568-1286-1AFE97662532}"/>
              </a:ext>
            </a:extLst>
          </p:cNvPr>
          <p:cNvSpPr>
            <a:spLocks noGrp="1"/>
          </p:cNvSpPr>
          <p:nvPr>
            <p:ph idx="1"/>
          </p:nvPr>
        </p:nvSpPr>
        <p:spPr>
          <a:xfrm>
            <a:off x="149832" y="880401"/>
            <a:ext cx="11870932" cy="5725881"/>
          </a:xfrm>
        </p:spPr>
        <p:txBody>
          <a:bodyPr>
            <a:normAutofit/>
          </a:bodyPr>
          <a:lstStyle/>
          <a:p>
            <a:pPr>
              <a:lnSpc>
                <a:spcPct val="120000"/>
              </a:lnSpc>
              <a:spcBef>
                <a:spcPts val="0"/>
              </a:spcBef>
            </a:pPr>
            <a:r>
              <a:rPr lang="en-IN" sz="2000" dirty="0">
                <a:latin typeface="Yu Gothic" panose="020B0400000000000000" pitchFamily="34" charset="-128"/>
                <a:ea typeface="Yu Gothic" panose="020B0400000000000000" pitchFamily="34" charset="-128"/>
              </a:rPr>
              <a:t>Deployment activity occurs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Azure Activity Logs generated</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Defender for Cloud monitors control-plane events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Detect abnormal deployment:</a:t>
            </a:r>
          </a:p>
          <a:p>
            <a:pPr>
              <a:lnSpc>
                <a:spcPct val="120000"/>
              </a:lnSpc>
              <a:spcBef>
                <a:spcPts val="0"/>
              </a:spcBef>
            </a:pPr>
            <a:r>
              <a:rPr lang="en-IN" sz="2000" dirty="0">
                <a:latin typeface="Yu Gothic" panose="020B0400000000000000" pitchFamily="34" charset="-128"/>
                <a:ea typeface="Yu Gothic" panose="020B0400000000000000" pitchFamily="34" charset="-128"/>
              </a:rPr>
              <a:t>   ├─ Unknown IP deployment</a:t>
            </a:r>
          </a:p>
          <a:p>
            <a:pPr>
              <a:lnSpc>
                <a:spcPct val="120000"/>
              </a:lnSpc>
              <a:spcBef>
                <a:spcPts val="0"/>
              </a:spcBef>
            </a:pPr>
            <a:r>
              <a:rPr lang="en-IN" sz="2000" dirty="0">
                <a:latin typeface="Yu Gothic" panose="020B0400000000000000" pitchFamily="34" charset="-128"/>
                <a:ea typeface="Yu Gothic" panose="020B0400000000000000" pitchFamily="34" charset="-128"/>
              </a:rPr>
              <a:t>   ├─ Off-hours changes</a:t>
            </a:r>
          </a:p>
          <a:p>
            <a:pPr>
              <a:lnSpc>
                <a:spcPct val="120000"/>
              </a:lnSpc>
              <a:spcBef>
                <a:spcPts val="0"/>
              </a:spcBef>
            </a:pPr>
            <a:r>
              <a:rPr lang="en-IN" sz="2000" dirty="0">
                <a:latin typeface="Yu Gothic" panose="020B0400000000000000" pitchFamily="34" charset="-128"/>
                <a:ea typeface="Yu Gothic" panose="020B0400000000000000" pitchFamily="34" charset="-128"/>
              </a:rPr>
              <a:t>   ├─ Privileged role usage</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Alert triggered</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Incident correlated with identity risk</a:t>
            </a:r>
          </a:p>
        </p:txBody>
      </p:sp>
    </p:spTree>
    <p:extLst>
      <p:ext uri="{BB962C8B-B14F-4D97-AF65-F5344CB8AC3E}">
        <p14:creationId xmlns:p14="http://schemas.microsoft.com/office/powerpoint/2010/main" val="14383148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9A30E-7A89-B773-B5CF-AE0BEDD678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2DF349-D301-9C38-FA72-AE259181B802}"/>
              </a:ext>
            </a:extLst>
          </p:cNvPr>
          <p:cNvSpPr>
            <a:spLocks noGrp="1"/>
          </p:cNvSpPr>
          <p:nvPr>
            <p:ph type="title"/>
          </p:nvPr>
        </p:nvSpPr>
        <p:spPr>
          <a:xfrm>
            <a:off x="149832" y="128820"/>
            <a:ext cx="11870932" cy="552218"/>
          </a:xfrm>
        </p:spPr>
        <p:txBody>
          <a:bodyPr>
            <a:noAutofit/>
          </a:bodyPr>
          <a:lstStyle/>
          <a:p>
            <a:r>
              <a:rPr lang="en-US" sz="3200" b="1" dirty="0">
                <a:latin typeface="Yu Gothic" panose="020B0400000000000000" pitchFamily="34" charset="-128"/>
                <a:ea typeface="Yu Gothic" panose="020B0400000000000000" pitchFamily="34" charset="-128"/>
              </a:rPr>
              <a:t>Malware Hosting or Upload Detection</a:t>
            </a:r>
            <a:endParaRPr lang="en-IN" sz="3200" b="1" dirty="0">
              <a:latin typeface="Yu Gothic" panose="020B0400000000000000" pitchFamily="34" charset="-128"/>
              <a:ea typeface="Yu Gothic" panose="020B0400000000000000" pitchFamily="34" charset="-128"/>
            </a:endParaRPr>
          </a:p>
        </p:txBody>
      </p:sp>
      <p:sp>
        <p:nvSpPr>
          <p:cNvPr id="3" name="Content Placeholder 2">
            <a:extLst>
              <a:ext uri="{FF2B5EF4-FFF2-40B4-BE49-F238E27FC236}">
                <a16:creationId xmlns:a16="http://schemas.microsoft.com/office/drawing/2014/main" id="{F83CEFBC-6AB4-28C6-5166-D8C1AC9DA32E}"/>
              </a:ext>
            </a:extLst>
          </p:cNvPr>
          <p:cNvSpPr>
            <a:spLocks noGrp="1"/>
          </p:cNvSpPr>
          <p:nvPr>
            <p:ph idx="1"/>
          </p:nvPr>
        </p:nvSpPr>
        <p:spPr>
          <a:xfrm>
            <a:off x="149832" y="880401"/>
            <a:ext cx="11870932" cy="5725881"/>
          </a:xfrm>
        </p:spPr>
        <p:txBody>
          <a:bodyPr>
            <a:normAutofit/>
          </a:bodyPr>
          <a:lstStyle/>
          <a:p>
            <a:pPr>
              <a:lnSpc>
                <a:spcPct val="120000"/>
              </a:lnSpc>
              <a:spcBef>
                <a:spcPts val="0"/>
              </a:spcBef>
            </a:pPr>
            <a:r>
              <a:rPr lang="en-IN" sz="2000" dirty="0">
                <a:latin typeface="Yu Gothic" panose="020B0400000000000000" pitchFamily="34" charset="-128"/>
                <a:ea typeface="Yu Gothic" panose="020B0400000000000000" pitchFamily="34" charset="-128"/>
              </a:rPr>
              <a:t>File uploaded to Storage Account</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Defender for Storage scanning</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File hash analysis + reputation check</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Malicious signature detected</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Malware alert generated</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SOC notified for containment</a:t>
            </a:r>
          </a:p>
        </p:txBody>
      </p:sp>
    </p:spTree>
    <p:extLst>
      <p:ext uri="{BB962C8B-B14F-4D97-AF65-F5344CB8AC3E}">
        <p14:creationId xmlns:p14="http://schemas.microsoft.com/office/powerpoint/2010/main" val="32417425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D549A-F9B5-D968-44EA-6249A9D948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832EC7-1B4F-9D1C-6AC1-6C25B8AFEBCF}"/>
              </a:ext>
            </a:extLst>
          </p:cNvPr>
          <p:cNvSpPr>
            <a:spLocks noGrp="1"/>
          </p:cNvSpPr>
          <p:nvPr>
            <p:ph type="title"/>
          </p:nvPr>
        </p:nvSpPr>
        <p:spPr>
          <a:xfrm>
            <a:off x="149832" y="128820"/>
            <a:ext cx="11870932" cy="552218"/>
          </a:xfrm>
        </p:spPr>
        <p:txBody>
          <a:bodyPr>
            <a:noAutofit/>
          </a:bodyPr>
          <a:lstStyle/>
          <a:p>
            <a:r>
              <a:rPr lang="en-IN" sz="3200" b="1" dirty="0">
                <a:latin typeface="Yu Gothic" panose="020B0400000000000000" pitchFamily="34" charset="-128"/>
                <a:ea typeface="Yu Gothic" panose="020B0400000000000000" pitchFamily="34" charset="-128"/>
              </a:rPr>
              <a:t>SOC Incident Intake Workflow</a:t>
            </a:r>
          </a:p>
        </p:txBody>
      </p:sp>
      <p:sp>
        <p:nvSpPr>
          <p:cNvPr id="3" name="Content Placeholder 2">
            <a:extLst>
              <a:ext uri="{FF2B5EF4-FFF2-40B4-BE49-F238E27FC236}">
                <a16:creationId xmlns:a16="http://schemas.microsoft.com/office/drawing/2014/main" id="{74AFE027-A06E-23B8-0F1F-4799825300E6}"/>
              </a:ext>
            </a:extLst>
          </p:cNvPr>
          <p:cNvSpPr>
            <a:spLocks noGrp="1"/>
          </p:cNvSpPr>
          <p:nvPr>
            <p:ph idx="1"/>
          </p:nvPr>
        </p:nvSpPr>
        <p:spPr>
          <a:xfrm>
            <a:off x="149832" y="880401"/>
            <a:ext cx="11870932" cy="5725881"/>
          </a:xfrm>
        </p:spPr>
        <p:txBody>
          <a:bodyPr>
            <a:normAutofit/>
          </a:bodyPr>
          <a:lstStyle/>
          <a:p>
            <a:pPr>
              <a:lnSpc>
                <a:spcPct val="120000"/>
              </a:lnSpc>
              <a:spcBef>
                <a:spcPts val="0"/>
              </a:spcBef>
            </a:pPr>
            <a:r>
              <a:rPr lang="en-IN" sz="2000" dirty="0">
                <a:latin typeface="Yu Gothic" panose="020B0400000000000000" pitchFamily="34" charset="-128"/>
                <a:ea typeface="Yu Gothic" panose="020B0400000000000000" pitchFamily="34" charset="-128"/>
              </a:rPr>
              <a:t>Defender for Cloud alert generated</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Alert forwarded to Microsoft Sentinel</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Analytics rule triggers Incident</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Incident severity assigned</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SOC Analyst Tier-1 review</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Validate true positive or false positive</a:t>
            </a:r>
          </a:p>
        </p:txBody>
      </p:sp>
    </p:spTree>
    <p:extLst>
      <p:ext uri="{BB962C8B-B14F-4D97-AF65-F5344CB8AC3E}">
        <p14:creationId xmlns:p14="http://schemas.microsoft.com/office/powerpoint/2010/main" val="15571988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4A354-3603-A1E6-1CBC-737A91588E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2851F0-728A-072A-E694-74FDD5163676}"/>
              </a:ext>
            </a:extLst>
          </p:cNvPr>
          <p:cNvSpPr>
            <a:spLocks noGrp="1"/>
          </p:cNvSpPr>
          <p:nvPr>
            <p:ph type="title"/>
          </p:nvPr>
        </p:nvSpPr>
        <p:spPr>
          <a:xfrm>
            <a:off x="149832" y="128820"/>
            <a:ext cx="11870932" cy="552218"/>
          </a:xfrm>
        </p:spPr>
        <p:txBody>
          <a:bodyPr>
            <a:noAutofit/>
          </a:bodyPr>
          <a:lstStyle/>
          <a:p>
            <a:r>
              <a:rPr lang="en-IN" sz="3200" b="1" dirty="0">
                <a:latin typeface="Yu Gothic" panose="020B0400000000000000" pitchFamily="34" charset="-128"/>
                <a:ea typeface="Yu Gothic" panose="020B0400000000000000" pitchFamily="34" charset="-128"/>
              </a:rPr>
              <a:t>Web App Compromise Response Flow</a:t>
            </a:r>
          </a:p>
        </p:txBody>
      </p:sp>
      <p:sp>
        <p:nvSpPr>
          <p:cNvPr id="3" name="Content Placeholder 2">
            <a:extLst>
              <a:ext uri="{FF2B5EF4-FFF2-40B4-BE49-F238E27FC236}">
                <a16:creationId xmlns:a16="http://schemas.microsoft.com/office/drawing/2014/main" id="{73C0D62A-D8B2-9775-3B25-058C77EA33D5}"/>
              </a:ext>
            </a:extLst>
          </p:cNvPr>
          <p:cNvSpPr>
            <a:spLocks noGrp="1"/>
          </p:cNvSpPr>
          <p:nvPr>
            <p:ph idx="1"/>
          </p:nvPr>
        </p:nvSpPr>
        <p:spPr>
          <a:xfrm>
            <a:off x="149832" y="880401"/>
            <a:ext cx="11870932" cy="5725881"/>
          </a:xfrm>
        </p:spPr>
        <p:txBody>
          <a:bodyPr>
            <a:normAutofit lnSpcReduction="10000"/>
          </a:bodyPr>
          <a:lstStyle/>
          <a:p>
            <a:pPr>
              <a:lnSpc>
                <a:spcPct val="120000"/>
              </a:lnSpc>
              <a:spcBef>
                <a:spcPts val="0"/>
              </a:spcBef>
            </a:pPr>
            <a:r>
              <a:rPr lang="en-IN" sz="2000" dirty="0">
                <a:latin typeface="Yu Gothic" panose="020B0400000000000000" pitchFamily="34" charset="-128"/>
                <a:ea typeface="Yu Gothic" panose="020B0400000000000000" pitchFamily="34" charset="-128"/>
              </a:rPr>
              <a:t>Suspicious App Service alert received</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SOC investigates logs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Identify malicious IP/User agent</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Check request patterns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Confirm exploitation attempt</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Containment actions:</a:t>
            </a:r>
          </a:p>
          <a:p>
            <a:pPr>
              <a:lnSpc>
                <a:spcPct val="120000"/>
              </a:lnSpc>
              <a:spcBef>
                <a:spcPts val="0"/>
              </a:spcBef>
            </a:pPr>
            <a:r>
              <a:rPr lang="en-IN" sz="2000" dirty="0">
                <a:latin typeface="Yu Gothic" panose="020B0400000000000000" pitchFamily="34" charset="-128"/>
                <a:ea typeface="Yu Gothic" panose="020B0400000000000000" pitchFamily="34" charset="-128"/>
              </a:rPr>
              <a:t>   ├─ Block IP via WAF</a:t>
            </a:r>
          </a:p>
          <a:p>
            <a:pPr>
              <a:lnSpc>
                <a:spcPct val="120000"/>
              </a:lnSpc>
              <a:spcBef>
                <a:spcPts val="0"/>
              </a:spcBef>
            </a:pPr>
            <a:r>
              <a:rPr lang="en-IN" sz="2000" dirty="0">
                <a:latin typeface="Yu Gothic" panose="020B0400000000000000" pitchFamily="34" charset="-128"/>
                <a:ea typeface="Yu Gothic" panose="020B0400000000000000" pitchFamily="34" charset="-128"/>
              </a:rPr>
              <a:t>   ├─ Disable endpoint</a:t>
            </a:r>
          </a:p>
          <a:p>
            <a:pPr>
              <a:lnSpc>
                <a:spcPct val="120000"/>
              </a:lnSpc>
              <a:spcBef>
                <a:spcPts val="0"/>
              </a:spcBef>
            </a:pPr>
            <a:r>
              <a:rPr lang="en-IN" sz="2000" dirty="0">
                <a:latin typeface="Yu Gothic" panose="020B0400000000000000" pitchFamily="34" charset="-128"/>
                <a:ea typeface="Yu Gothic" panose="020B0400000000000000" pitchFamily="34" charset="-128"/>
              </a:rPr>
              <a:t>   ├─ Scale isolation slot</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Escalate to Tier-2</a:t>
            </a:r>
          </a:p>
        </p:txBody>
      </p:sp>
    </p:spTree>
    <p:extLst>
      <p:ext uri="{BB962C8B-B14F-4D97-AF65-F5344CB8AC3E}">
        <p14:creationId xmlns:p14="http://schemas.microsoft.com/office/powerpoint/2010/main" val="13477593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03204-643B-3B08-960C-5EF4599EB3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133A6E-1AAE-05BF-A2AA-36BF82AEF154}"/>
              </a:ext>
            </a:extLst>
          </p:cNvPr>
          <p:cNvSpPr>
            <a:spLocks noGrp="1"/>
          </p:cNvSpPr>
          <p:nvPr>
            <p:ph type="title"/>
          </p:nvPr>
        </p:nvSpPr>
        <p:spPr>
          <a:xfrm>
            <a:off x="149832" y="128820"/>
            <a:ext cx="11870932" cy="552218"/>
          </a:xfrm>
        </p:spPr>
        <p:txBody>
          <a:bodyPr>
            <a:noAutofit/>
          </a:bodyPr>
          <a:lstStyle/>
          <a:p>
            <a:r>
              <a:rPr lang="en-IN" sz="3200" b="1" dirty="0">
                <a:latin typeface="Yu Gothic" panose="020B0400000000000000" pitchFamily="34" charset="-128"/>
                <a:ea typeface="Yu Gothic" panose="020B0400000000000000" pitchFamily="34" charset="-128"/>
              </a:rPr>
              <a:t>Storage Data Exfiltration Response Flow</a:t>
            </a:r>
          </a:p>
        </p:txBody>
      </p:sp>
      <p:sp>
        <p:nvSpPr>
          <p:cNvPr id="3" name="Content Placeholder 2">
            <a:extLst>
              <a:ext uri="{FF2B5EF4-FFF2-40B4-BE49-F238E27FC236}">
                <a16:creationId xmlns:a16="http://schemas.microsoft.com/office/drawing/2014/main" id="{B4977189-BCF5-DA39-257D-B25D0E301D94}"/>
              </a:ext>
            </a:extLst>
          </p:cNvPr>
          <p:cNvSpPr>
            <a:spLocks noGrp="1"/>
          </p:cNvSpPr>
          <p:nvPr>
            <p:ph idx="1"/>
          </p:nvPr>
        </p:nvSpPr>
        <p:spPr>
          <a:xfrm>
            <a:off x="149832" y="880401"/>
            <a:ext cx="11870932" cy="5725881"/>
          </a:xfrm>
        </p:spPr>
        <p:txBody>
          <a:bodyPr>
            <a:normAutofit/>
          </a:bodyPr>
          <a:lstStyle/>
          <a:p>
            <a:pPr>
              <a:lnSpc>
                <a:spcPct val="120000"/>
              </a:lnSpc>
              <a:spcBef>
                <a:spcPts val="0"/>
              </a:spcBef>
            </a:pPr>
            <a:r>
              <a:rPr lang="en-IN" sz="2000" dirty="0">
                <a:latin typeface="Yu Gothic" panose="020B0400000000000000" pitchFamily="34" charset="-128"/>
                <a:ea typeface="Yu Gothic" panose="020B0400000000000000" pitchFamily="34" charset="-128"/>
              </a:rPr>
              <a:t>Large data download alert</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SOC validates identity used</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Check geo-location anomaly</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Verify access legitimacy</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If malicious:</a:t>
            </a:r>
          </a:p>
          <a:p>
            <a:pPr>
              <a:lnSpc>
                <a:spcPct val="120000"/>
              </a:lnSpc>
              <a:spcBef>
                <a:spcPts val="0"/>
              </a:spcBef>
            </a:pPr>
            <a:r>
              <a:rPr lang="en-IN" sz="2000" dirty="0">
                <a:latin typeface="Yu Gothic" panose="020B0400000000000000" pitchFamily="34" charset="-128"/>
                <a:ea typeface="Yu Gothic" panose="020B0400000000000000" pitchFamily="34" charset="-128"/>
              </a:rPr>
              <a:t>   ├─ Revoke SAS tokens</a:t>
            </a:r>
          </a:p>
          <a:p>
            <a:pPr>
              <a:lnSpc>
                <a:spcPct val="120000"/>
              </a:lnSpc>
              <a:spcBef>
                <a:spcPts val="0"/>
              </a:spcBef>
            </a:pPr>
            <a:r>
              <a:rPr lang="en-IN" sz="2000" dirty="0">
                <a:latin typeface="Yu Gothic" panose="020B0400000000000000" pitchFamily="34" charset="-128"/>
                <a:ea typeface="Yu Gothic" panose="020B0400000000000000" pitchFamily="34" charset="-128"/>
              </a:rPr>
              <a:t>   ├─ Rotate storage keys</a:t>
            </a:r>
          </a:p>
          <a:p>
            <a:pPr>
              <a:lnSpc>
                <a:spcPct val="120000"/>
              </a:lnSpc>
              <a:spcBef>
                <a:spcPts val="0"/>
              </a:spcBef>
            </a:pPr>
            <a:r>
              <a:rPr lang="en-IN" sz="2000" dirty="0">
                <a:latin typeface="Yu Gothic" panose="020B0400000000000000" pitchFamily="34" charset="-128"/>
                <a:ea typeface="Yu Gothic" panose="020B0400000000000000" pitchFamily="34" charset="-128"/>
              </a:rPr>
              <a:t>   ├─ Disable public access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Start forensic investigation</a:t>
            </a:r>
          </a:p>
        </p:txBody>
      </p:sp>
    </p:spTree>
    <p:extLst>
      <p:ext uri="{BB962C8B-B14F-4D97-AF65-F5344CB8AC3E}">
        <p14:creationId xmlns:p14="http://schemas.microsoft.com/office/powerpoint/2010/main" val="22948686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8811C-7600-16CF-B43C-A1FAE8A81A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EEBF14-C1A8-B0E5-4423-3A83298DD0A6}"/>
              </a:ext>
            </a:extLst>
          </p:cNvPr>
          <p:cNvSpPr>
            <a:spLocks noGrp="1"/>
          </p:cNvSpPr>
          <p:nvPr>
            <p:ph type="title"/>
          </p:nvPr>
        </p:nvSpPr>
        <p:spPr>
          <a:xfrm>
            <a:off x="149832" y="128820"/>
            <a:ext cx="11870932" cy="552218"/>
          </a:xfrm>
        </p:spPr>
        <p:txBody>
          <a:bodyPr>
            <a:noAutofit/>
          </a:bodyPr>
          <a:lstStyle/>
          <a:p>
            <a:r>
              <a:rPr lang="en-IN" sz="3200" b="1" dirty="0">
                <a:latin typeface="Yu Gothic" panose="020B0400000000000000" pitchFamily="34" charset="-128"/>
                <a:ea typeface="Yu Gothic" panose="020B0400000000000000" pitchFamily="34" charset="-128"/>
              </a:rPr>
              <a:t>Identity Compromise Response Flow</a:t>
            </a:r>
          </a:p>
        </p:txBody>
      </p:sp>
      <p:sp>
        <p:nvSpPr>
          <p:cNvPr id="3" name="Content Placeholder 2">
            <a:extLst>
              <a:ext uri="{FF2B5EF4-FFF2-40B4-BE49-F238E27FC236}">
                <a16:creationId xmlns:a16="http://schemas.microsoft.com/office/drawing/2014/main" id="{002E1B43-BF00-B738-5347-015121EC698A}"/>
              </a:ext>
            </a:extLst>
          </p:cNvPr>
          <p:cNvSpPr>
            <a:spLocks noGrp="1"/>
          </p:cNvSpPr>
          <p:nvPr>
            <p:ph idx="1"/>
          </p:nvPr>
        </p:nvSpPr>
        <p:spPr>
          <a:xfrm>
            <a:off x="149832" y="880401"/>
            <a:ext cx="11870932" cy="5725881"/>
          </a:xfrm>
        </p:spPr>
        <p:txBody>
          <a:bodyPr>
            <a:normAutofit/>
          </a:bodyPr>
          <a:lstStyle/>
          <a:p>
            <a:pPr>
              <a:lnSpc>
                <a:spcPct val="120000"/>
              </a:lnSpc>
              <a:spcBef>
                <a:spcPts val="0"/>
              </a:spcBef>
            </a:pPr>
            <a:r>
              <a:rPr lang="en-IN" sz="2000" dirty="0">
                <a:latin typeface="Yu Gothic" panose="020B0400000000000000" pitchFamily="34" charset="-128"/>
                <a:ea typeface="Yu Gothic" panose="020B0400000000000000" pitchFamily="34" charset="-128"/>
              </a:rPr>
              <a:t>Risky sign-in alert triggered</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SOC reviews Azure AD logs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Confirm suspicious login</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Immediate actions:</a:t>
            </a:r>
          </a:p>
          <a:p>
            <a:pPr>
              <a:lnSpc>
                <a:spcPct val="120000"/>
              </a:lnSpc>
              <a:spcBef>
                <a:spcPts val="0"/>
              </a:spcBef>
            </a:pPr>
            <a:r>
              <a:rPr lang="en-IN" sz="2000" dirty="0">
                <a:latin typeface="Yu Gothic" panose="020B0400000000000000" pitchFamily="34" charset="-128"/>
                <a:ea typeface="Yu Gothic" panose="020B0400000000000000" pitchFamily="34" charset="-128"/>
              </a:rPr>
              <a:t>   ├─ Force password reset</a:t>
            </a:r>
          </a:p>
          <a:p>
            <a:pPr>
              <a:lnSpc>
                <a:spcPct val="120000"/>
              </a:lnSpc>
              <a:spcBef>
                <a:spcPts val="0"/>
              </a:spcBef>
            </a:pPr>
            <a:r>
              <a:rPr lang="en-IN" sz="2000" dirty="0">
                <a:latin typeface="Yu Gothic" panose="020B0400000000000000" pitchFamily="34" charset="-128"/>
                <a:ea typeface="Yu Gothic" panose="020B0400000000000000" pitchFamily="34" charset="-128"/>
              </a:rPr>
              <a:t>   ├─ Revoke active sessions</a:t>
            </a:r>
          </a:p>
          <a:p>
            <a:pPr>
              <a:lnSpc>
                <a:spcPct val="120000"/>
              </a:lnSpc>
              <a:spcBef>
                <a:spcPts val="0"/>
              </a:spcBef>
            </a:pPr>
            <a:r>
              <a:rPr lang="en-IN" sz="2000" dirty="0">
                <a:latin typeface="Yu Gothic" panose="020B0400000000000000" pitchFamily="34" charset="-128"/>
                <a:ea typeface="Yu Gothic" panose="020B0400000000000000" pitchFamily="34" charset="-128"/>
              </a:rPr>
              <a:t>   ├─ Disable account temporarily</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Review RBAC permissions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Check accessed resources</a:t>
            </a:r>
          </a:p>
        </p:txBody>
      </p:sp>
    </p:spTree>
    <p:extLst>
      <p:ext uri="{BB962C8B-B14F-4D97-AF65-F5344CB8AC3E}">
        <p14:creationId xmlns:p14="http://schemas.microsoft.com/office/powerpoint/2010/main" val="19370616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5A3B8-4DE2-95A0-9534-3712044E70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11E558-D437-63CD-B95E-5F634E687664}"/>
              </a:ext>
            </a:extLst>
          </p:cNvPr>
          <p:cNvSpPr>
            <a:spLocks noGrp="1"/>
          </p:cNvSpPr>
          <p:nvPr>
            <p:ph type="title"/>
          </p:nvPr>
        </p:nvSpPr>
        <p:spPr>
          <a:xfrm>
            <a:off x="149832" y="128820"/>
            <a:ext cx="11870932" cy="552218"/>
          </a:xfrm>
        </p:spPr>
        <p:txBody>
          <a:bodyPr>
            <a:noAutofit/>
          </a:bodyPr>
          <a:lstStyle/>
          <a:p>
            <a:r>
              <a:rPr lang="en-US" sz="3200" b="1" dirty="0">
                <a:latin typeface="Yu Gothic" panose="020B0400000000000000" pitchFamily="34" charset="-128"/>
                <a:ea typeface="Yu Gothic" panose="020B0400000000000000" pitchFamily="34" charset="-128"/>
              </a:rPr>
              <a:t>Function App Malware Execution Response</a:t>
            </a:r>
            <a:endParaRPr lang="en-IN" sz="3200" b="1" dirty="0">
              <a:latin typeface="Yu Gothic" panose="020B0400000000000000" pitchFamily="34" charset="-128"/>
              <a:ea typeface="Yu Gothic" panose="020B0400000000000000" pitchFamily="34" charset="-128"/>
            </a:endParaRPr>
          </a:p>
        </p:txBody>
      </p:sp>
      <p:sp>
        <p:nvSpPr>
          <p:cNvPr id="3" name="Content Placeholder 2">
            <a:extLst>
              <a:ext uri="{FF2B5EF4-FFF2-40B4-BE49-F238E27FC236}">
                <a16:creationId xmlns:a16="http://schemas.microsoft.com/office/drawing/2014/main" id="{8EC0A3DE-4DF3-BAB1-8FB1-6F54FFD9F6A1}"/>
              </a:ext>
            </a:extLst>
          </p:cNvPr>
          <p:cNvSpPr>
            <a:spLocks noGrp="1"/>
          </p:cNvSpPr>
          <p:nvPr>
            <p:ph idx="1"/>
          </p:nvPr>
        </p:nvSpPr>
        <p:spPr>
          <a:xfrm>
            <a:off x="149832" y="880401"/>
            <a:ext cx="11870932" cy="5725881"/>
          </a:xfrm>
        </p:spPr>
        <p:txBody>
          <a:bodyPr>
            <a:normAutofit/>
          </a:bodyPr>
          <a:lstStyle/>
          <a:p>
            <a:pPr>
              <a:lnSpc>
                <a:spcPct val="120000"/>
              </a:lnSpc>
              <a:spcBef>
                <a:spcPts val="0"/>
              </a:spcBef>
            </a:pPr>
            <a:r>
              <a:rPr lang="en-IN" sz="2000" dirty="0">
                <a:latin typeface="Yu Gothic" panose="020B0400000000000000" pitchFamily="34" charset="-128"/>
                <a:ea typeface="Yu Gothic" panose="020B0400000000000000" pitchFamily="34" charset="-128"/>
              </a:rPr>
              <a:t>Runtime anomaly alert</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SOC collects execution logs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Identify malicious process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Containment:</a:t>
            </a:r>
          </a:p>
          <a:p>
            <a:pPr>
              <a:lnSpc>
                <a:spcPct val="120000"/>
              </a:lnSpc>
              <a:spcBef>
                <a:spcPts val="0"/>
              </a:spcBef>
            </a:pPr>
            <a:r>
              <a:rPr lang="en-IN" sz="2000" dirty="0">
                <a:latin typeface="Yu Gothic" panose="020B0400000000000000" pitchFamily="34" charset="-128"/>
                <a:ea typeface="Yu Gothic" panose="020B0400000000000000" pitchFamily="34" charset="-128"/>
              </a:rPr>
              <a:t>   ├─ Stop Function App</a:t>
            </a:r>
          </a:p>
          <a:p>
            <a:pPr>
              <a:lnSpc>
                <a:spcPct val="120000"/>
              </a:lnSpc>
              <a:spcBef>
                <a:spcPts val="0"/>
              </a:spcBef>
            </a:pPr>
            <a:r>
              <a:rPr lang="en-IN" sz="2000" dirty="0">
                <a:latin typeface="Yu Gothic" panose="020B0400000000000000" pitchFamily="34" charset="-128"/>
                <a:ea typeface="Yu Gothic" panose="020B0400000000000000" pitchFamily="34" charset="-128"/>
              </a:rPr>
              <a:t>   ├─ Remove deployment package</a:t>
            </a:r>
          </a:p>
          <a:p>
            <a:pPr>
              <a:lnSpc>
                <a:spcPct val="120000"/>
              </a:lnSpc>
              <a:spcBef>
                <a:spcPts val="0"/>
              </a:spcBef>
            </a:pPr>
            <a:r>
              <a:rPr lang="en-IN" sz="2000" dirty="0">
                <a:latin typeface="Yu Gothic" panose="020B0400000000000000" pitchFamily="34" charset="-128"/>
                <a:ea typeface="Yu Gothic" panose="020B0400000000000000" pitchFamily="34" charset="-128"/>
              </a:rPr>
              <a:t>   ├─ Rotate secrets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Redeploy trusted version</a:t>
            </a:r>
          </a:p>
        </p:txBody>
      </p:sp>
    </p:spTree>
    <p:extLst>
      <p:ext uri="{BB962C8B-B14F-4D97-AF65-F5344CB8AC3E}">
        <p14:creationId xmlns:p14="http://schemas.microsoft.com/office/powerpoint/2010/main" val="33150816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36523-D46D-9AC5-73D5-C58D9FA639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E72AA0-5025-6716-3A28-CF637B39F9B2}"/>
              </a:ext>
            </a:extLst>
          </p:cNvPr>
          <p:cNvSpPr>
            <a:spLocks noGrp="1"/>
          </p:cNvSpPr>
          <p:nvPr>
            <p:ph type="title"/>
          </p:nvPr>
        </p:nvSpPr>
        <p:spPr>
          <a:xfrm>
            <a:off x="149832" y="128820"/>
            <a:ext cx="11870932" cy="552218"/>
          </a:xfrm>
        </p:spPr>
        <p:txBody>
          <a:bodyPr>
            <a:noAutofit/>
          </a:bodyPr>
          <a:lstStyle/>
          <a:p>
            <a:r>
              <a:rPr lang="en-IN" sz="3200" b="1" dirty="0">
                <a:latin typeface="Yu Gothic" panose="020B0400000000000000" pitchFamily="34" charset="-128"/>
                <a:ea typeface="Yu Gothic" panose="020B0400000000000000" pitchFamily="34" charset="-128"/>
              </a:rPr>
              <a:t>Automated SOAR Response Workflow</a:t>
            </a:r>
          </a:p>
        </p:txBody>
      </p:sp>
      <p:sp>
        <p:nvSpPr>
          <p:cNvPr id="3" name="Content Placeholder 2">
            <a:extLst>
              <a:ext uri="{FF2B5EF4-FFF2-40B4-BE49-F238E27FC236}">
                <a16:creationId xmlns:a16="http://schemas.microsoft.com/office/drawing/2014/main" id="{EC5CC4C5-5CAD-8362-1BB4-4479283FB321}"/>
              </a:ext>
            </a:extLst>
          </p:cNvPr>
          <p:cNvSpPr>
            <a:spLocks noGrp="1"/>
          </p:cNvSpPr>
          <p:nvPr>
            <p:ph idx="1"/>
          </p:nvPr>
        </p:nvSpPr>
        <p:spPr>
          <a:xfrm>
            <a:off x="149832" y="880401"/>
            <a:ext cx="11870932" cy="5725881"/>
          </a:xfrm>
        </p:spPr>
        <p:txBody>
          <a:bodyPr>
            <a:normAutofit/>
          </a:bodyPr>
          <a:lstStyle/>
          <a:p>
            <a:pPr>
              <a:lnSpc>
                <a:spcPct val="120000"/>
              </a:lnSpc>
              <a:spcBef>
                <a:spcPts val="0"/>
              </a:spcBef>
            </a:pPr>
            <a:r>
              <a:rPr lang="en-IN" sz="2000" dirty="0">
                <a:latin typeface="Yu Gothic" panose="020B0400000000000000" pitchFamily="34" charset="-128"/>
                <a:ea typeface="Yu Gothic" panose="020B0400000000000000" pitchFamily="34" charset="-128"/>
              </a:rPr>
              <a:t>Alert created in Sentinel</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Automation rule triggered</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Logic App executes playbook</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Automated actions:</a:t>
            </a:r>
          </a:p>
          <a:p>
            <a:pPr>
              <a:lnSpc>
                <a:spcPct val="120000"/>
              </a:lnSpc>
              <a:spcBef>
                <a:spcPts val="0"/>
              </a:spcBef>
            </a:pPr>
            <a:r>
              <a:rPr lang="en-IN" sz="2000" dirty="0">
                <a:latin typeface="Yu Gothic" panose="020B0400000000000000" pitchFamily="34" charset="-128"/>
                <a:ea typeface="Yu Gothic" panose="020B0400000000000000" pitchFamily="34" charset="-128"/>
              </a:rPr>
              <a:t>   ├─ Block IP in WAF</a:t>
            </a:r>
          </a:p>
          <a:p>
            <a:pPr>
              <a:lnSpc>
                <a:spcPct val="120000"/>
              </a:lnSpc>
              <a:spcBef>
                <a:spcPts val="0"/>
              </a:spcBef>
            </a:pPr>
            <a:r>
              <a:rPr lang="en-IN" sz="2000" dirty="0">
                <a:latin typeface="Yu Gothic" panose="020B0400000000000000" pitchFamily="34" charset="-128"/>
                <a:ea typeface="Yu Gothic" panose="020B0400000000000000" pitchFamily="34" charset="-128"/>
              </a:rPr>
              <a:t>   ├─ Disable identity</a:t>
            </a:r>
          </a:p>
          <a:p>
            <a:pPr>
              <a:lnSpc>
                <a:spcPct val="120000"/>
              </a:lnSpc>
              <a:spcBef>
                <a:spcPts val="0"/>
              </a:spcBef>
            </a:pPr>
            <a:r>
              <a:rPr lang="en-IN" sz="2000" dirty="0">
                <a:latin typeface="Yu Gothic" panose="020B0400000000000000" pitchFamily="34" charset="-128"/>
                <a:ea typeface="Yu Gothic" panose="020B0400000000000000" pitchFamily="34" charset="-128"/>
              </a:rPr>
              <a:t>   ├─ Notify SOC Teams channel</a:t>
            </a:r>
          </a:p>
          <a:p>
            <a:pPr>
              <a:lnSpc>
                <a:spcPct val="120000"/>
              </a:lnSpc>
              <a:spcBef>
                <a:spcPts val="0"/>
              </a:spcBef>
            </a:pPr>
            <a:r>
              <a:rPr lang="en-IN" sz="2000" dirty="0">
                <a:latin typeface="Yu Gothic" panose="020B0400000000000000" pitchFamily="34" charset="-128"/>
                <a:ea typeface="Yu Gothic" panose="020B0400000000000000" pitchFamily="34" charset="-128"/>
              </a:rPr>
              <a:t>   ├─ Create ticket in ITSM</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SOC validates automation outcome</a:t>
            </a:r>
          </a:p>
        </p:txBody>
      </p:sp>
    </p:spTree>
    <p:extLst>
      <p:ext uri="{BB962C8B-B14F-4D97-AF65-F5344CB8AC3E}">
        <p14:creationId xmlns:p14="http://schemas.microsoft.com/office/powerpoint/2010/main" val="36401880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4F4F3-2CD6-0A06-B35A-D59888BC8C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823156-A8B9-5C24-8BBB-6FEA3F475C49}"/>
              </a:ext>
            </a:extLst>
          </p:cNvPr>
          <p:cNvSpPr>
            <a:spLocks noGrp="1"/>
          </p:cNvSpPr>
          <p:nvPr>
            <p:ph type="title"/>
          </p:nvPr>
        </p:nvSpPr>
        <p:spPr>
          <a:xfrm>
            <a:off x="149832" y="128820"/>
            <a:ext cx="11870932" cy="552218"/>
          </a:xfrm>
        </p:spPr>
        <p:txBody>
          <a:bodyPr>
            <a:noAutofit/>
          </a:bodyPr>
          <a:lstStyle/>
          <a:p>
            <a:r>
              <a:rPr lang="en-US" sz="3200" b="1" dirty="0">
                <a:latin typeface="Yu Gothic" panose="020B0400000000000000" pitchFamily="34" charset="-128"/>
                <a:ea typeface="Yu Gothic" panose="020B0400000000000000" pitchFamily="34" charset="-128"/>
              </a:rPr>
              <a:t>Threat Hunting Workflow (Proactive SOC)</a:t>
            </a:r>
            <a:endParaRPr lang="en-IN" sz="3200" b="1" dirty="0">
              <a:latin typeface="Yu Gothic" panose="020B0400000000000000" pitchFamily="34" charset="-128"/>
              <a:ea typeface="Yu Gothic" panose="020B0400000000000000" pitchFamily="34" charset="-128"/>
            </a:endParaRPr>
          </a:p>
        </p:txBody>
      </p:sp>
      <p:sp>
        <p:nvSpPr>
          <p:cNvPr id="3" name="Content Placeholder 2">
            <a:extLst>
              <a:ext uri="{FF2B5EF4-FFF2-40B4-BE49-F238E27FC236}">
                <a16:creationId xmlns:a16="http://schemas.microsoft.com/office/drawing/2014/main" id="{2C0831AB-000F-1355-0FF1-28E0AFEF56D8}"/>
              </a:ext>
            </a:extLst>
          </p:cNvPr>
          <p:cNvSpPr>
            <a:spLocks noGrp="1"/>
          </p:cNvSpPr>
          <p:nvPr>
            <p:ph idx="1"/>
          </p:nvPr>
        </p:nvSpPr>
        <p:spPr>
          <a:xfrm>
            <a:off x="149832" y="880401"/>
            <a:ext cx="11870932" cy="5725881"/>
          </a:xfrm>
        </p:spPr>
        <p:txBody>
          <a:bodyPr>
            <a:normAutofit/>
          </a:bodyPr>
          <a:lstStyle/>
          <a:p>
            <a:pPr>
              <a:lnSpc>
                <a:spcPct val="120000"/>
              </a:lnSpc>
              <a:spcBef>
                <a:spcPts val="0"/>
              </a:spcBef>
            </a:pPr>
            <a:r>
              <a:rPr lang="en-IN" sz="2000" dirty="0">
                <a:latin typeface="Yu Gothic" panose="020B0400000000000000" pitchFamily="34" charset="-128"/>
                <a:ea typeface="Yu Gothic" panose="020B0400000000000000" pitchFamily="34" charset="-128"/>
              </a:rPr>
              <a:t>Threat hunting hypothesis created</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Query Log Analytics (KQL)</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Search anomalies:</a:t>
            </a:r>
          </a:p>
          <a:p>
            <a:pPr>
              <a:lnSpc>
                <a:spcPct val="120000"/>
              </a:lnSpc>
              <a:spcBef>
                <a:spcPts val="0"/>
              </a:spcBef>
            </a:pPr>
            <a:r>
              <a:rPr lang="en-IN" sz="2000" dirty="0">
                <a:latin typeface="Yu Gothic" panose="020B0400000000000000" pitchFamily="34" charset="-128"/>
                <a:ea typeface="Yu Gothic" panose="020B0400000000000000" pitchFamily="34" charset="-128"/>
              </a:rPr>
              <a:t>   ├─ Unusual Storage reads</a:t>
            </a:r>
          </a:p>
          <a:p>
            <a:pPr>
              <a:lnSpc>
                <a:spcPct val="120000"/>
              </a:lnSpc>
              <a:spcBef>
                <a:spcPts val="0"/>
              </a:spcBef>
            </a:pPr>
            <a:r>
              <a:rPr lang="en-IN" sz="2000" dirty="0">
                <a:latin typeface="Yu Gothic" panose="020B0400000000000000" pitchFamily="34" charset="-128"/>
                <a:ea typeface="Yu Gothic" panose="020B0400000000000000" pitchFamily="34" charset="-128"/>
              </a:rPr>
              <a:t>   ├─ Token abuse</a:t>
            </a:r>
          </a:p>
          <a:p>
            <a:pPr>
              <a:lnSpc>
                <a:spcPct val="120000"/>
              </a:lnSpc>
              <a:spcBef>
                <a:spcPts val="0"/>
              </a:spcBef>
            </a:pPr>
            <a:r>
              <a:rPr lang="en-IN" sz="2000" dirty="0">
                <a:latin typeface="Yu Gothic" panose="020B0400000000000000" pitchFamily="34" charset="-128"/>
                <a:ea typeface="Yu Gothic" panose="020B0400000000000000" pitchFamily="34" charset="-128"/>
              </a:rPr>
              <a:t>   ├─ Rare API calls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Suspicious pattern identified</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Create custom detection rule</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Improve detection coverage</a:t>
            </a:r>
          </a:p>
        </p:txBody>
      </p:sp>
    </p:spTree>
    <p:extLst>
      <p:ext uri="{BB962C8B-B14F-4D97-AF65-F5344CB8AC3E}">
        <p14:creationId xmlns:p14="http://schemas.microsoft.com/office/powerpoint/2010/main" val="16387402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4FC2C-BAD1-A15A-FC8F-92FCA935FE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0F97A2-C4CA-D5F6-443E-3458CD75D740}"/>
              </a:ext>
            </a:extLst>
          </p:cNvPr>
          <p:cNvSpPr>
            <a:spLocks noGrp="1"/>
          </p:cNvSpPr>
          <p:nvPr>
            <p:ph type="title"/>
          </p:nvPr>
        </p:nvSpPr>
        <p:spPr>
          <a:xfrm>
            <a:off x="149832" y="128820"/>
            <a:ext cx="11870932" cy="552218"/>
          </a:xfrm>
        </p:spPr>
        <p:txBody>
          <a:bodyPr>
            <a:noAutofit/>
          </a:bodyPr>
          <a:lstStyle/>
          <a:p>
            <a:r>
              <a:rPr lang="en-IN" sz="3200" b="1" dirty="0">
                <a:latin typeface="Yu Gothic" panose="020B0400000000000000" pitchFamily="34" charset="-128"/>
                <a:ea typeface="Yu Gothic" panose="020B0400000000000000" pitchFamily="34" charset="-128"/>
              </a:rPr>
              <a:t>Post-Incident Recovery Workflow</a:t>
            </a:r>
          </a:p>
        </p:txBody>
      </p:sp>
      <p:sp>
        <p:nvSpPr>
          <p:cNvPr id="3" name="Content Placeholder 2">
            <a:extLst>
              <a:ext uri="{FF2B5EF4-FFF2-40B4-BE49-F238E27FC236}">
                <a16:creationId xmlns:a16="http://schemas.microsoft.com/office/drawing/2014/main" id="{14987529-B8A6-0BDD-A14F-6B14C5F60BFA}"/>
              </a:ext>
            </a:extLst>
          </p:cNvPr>
          <p:cNvSpPr>
            <a:spLocks noGrp="1"/>
          </p:cNvSpPr>
          <p:nvPr>
            <p:ph idx="1"/>
          </p:nvPr>
        </p:nvSpPr>
        <p:spPr>
          <a:xfrm>
            <a:off x="149832" y="880401"/>
            <a:ext cx="11870932" cy="5725881"/>
          </a:xfrm>
        </p:spPr>
        <p:txBody>
          <a:bodyPr>
            <a:normAutofit/>
          </a:bodyPr>
          <a:lstStyle/>
          <a:p>
            <a:pPr>
              <a:lnSpc>
                <a:spcPct val="120000"/>
              </a:lnSpc>
              <a:spcBef>
                <a:spcPts val="0"/>
              </a:spcBef>
            </a:pPr>
            <a:r>
              <a:rPr lang="en-IN" sz="2000" dirty="0">
                <a:latin typeface="Yu Gothic" panose="020B0400000000000000" pitchFamily="34" charset="-128"/>
                <a:ea typeface="Yu Gothic" panose="020B0400000000000000" pitchFamily="34" charset="-128"/>
              </a:rPr>
              <a:t>Incident contained</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Root cause analysis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Identify control gaps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Implement improvements:</a:t>
            </a:r>
          </a:p>
          <a:p>
            <a:pPr>
              <a:lnSpc>
                <a:spcPct val="120000"/>
              </a:lnSpc>
              <a:spcBef>
                <a:spcPts val="0"/>
              </a:spcBef>
            </a:pPr>
            <a:r>
              <a:rPr lang="en-IN" sz="2000" dirty="0">
                <a:latin typeface="Yu Gothic" panose="020B0400000000000000" pitchFamily="34" charset="-128"/>
                <a:ea typeface="Yu Gothic" panose="020B0400000000000000" pitchFamily="34" charset="-128"/>
              </a:rPr>
              <a:t>   ├─ Enable Private Endpoints</a:t>
            </a:r>
          </a:p>
          <a:p>
            <a:pPr>
              <a:lnSpc>
                <a:spcPct val="120000"/>
              </a:lnSpc>
              <a:spcBef>
                <a:spcPts val="0"/>
              </a:spcBef>
            </a:pPr>
            <a:r>
              <a:rPr lang="en-IN" sz="2000" dirty="0">
                <a:latin typeface="Yu Gothic" panose="020B0400000000000000" pitchFamily="34" charset="-128"/>
                <a:ea typeface="Yu Gothic" panose="020B0400000000000000" pitchFamily="34" charset="-128"/>
              </a:rPr>
              <a:t>   ├─ Least privilege RBAC</a:t>
            </a:r>
          </a:p>
          <a:p>
            <a:pPr>
              <a:lnSpc>
                <a:spcPct val="120000"/>
              </a:lnSpc>
              <a:spcBef>
                <a:spcPts val="0"/>
              </a:spcBef>
            </a:pPr>
            <a:r>
              <a:rPr lang="en-IN" sz="2000" dirty="0">
                <a:latin typeface="Yu Gothic" panose="020B0400000000000000" pitchFamily="34" charset="-128"/>
                <a:ea typeface="Yu Gothic" panose="020B0400000000000000" pitchFamily="34" charset="-128"/>
              </a:rPr>
              <a:t>   ├─ WAF rules tuning</a:t>
            </a:r>
          </a:p>
          <a:p>
            <a:pPr>
              <a:lnSpc>
                <a:spcPct val="120000"/>
              </a:lnSpc>
              <a:spcBef>
                <a:spcPts val="0"/>
              </a:spcBef>
            </a:pPr>
            <a:r>
              <a:rPr lang="en-IN" sz="2000" dirty="0">
                <a:latin typeface="Yu Gothic" panose="020B0400000000000000" pitchFamily="34" charset="-128"/>
                <a:ea typeface="Yu Gothic" panose="020B0400000000000000" pitchFamily="34" charset="-128"/>
              </a:rPr>
              <a:t>   ├─ Defender plans enabled</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Update detection rules</a:t>
            </a:r>
          </a:p>
          <a:p>
            <a:pPr>
              <a:lnSpc>
                <a:spcPct val="120000"/>
              </a:lnSpc>
              <a:spcBef>
                <a:spcPts val="0"/>
              </a:spcBef>
            </a:pPr>
            <a:r>
              <a:rPr lang="en-IN" sz="2000" dirty="0">
                <a:latin typeface="Yu Gothic" panose="020B0400000000000000" pitchFamily="34" charset="-128"/>
                <a:ea typeface="Yu Gothic" panose="020B0400000000000000" pitchFamily="34" charset="-128"/>
              </a:rPr>
              <a:t>   ↓</a:t>
            </a:r>
          </a:p>
          <a:p>
            <a:pPr>
              <a:lnSpc>
                <a:spcPct val="120000"/>
              </a:lnSpc>
              <a:spcBef>
                <a:spcPts val="0"/>
              </a:spcBef>
            </a:pPr>
            <a:r>
              <a:rPr lang="en-IN" sz="2000" dirty="0">
                <a:latin typeface="Yu Gothic" panose="020B0400000000000000" pitchFamily="34" charset="-128"/>
                <a:ea typeface="Yu Gothic" panose="020B0400000000000000" pitchFamily="34" charset="-128"/>
              </a:rPr>
              <a:t>Close incident</a:t>
            </a:r>
          </a:p>
        </p:txBody>
      </p:sp>
    </p:spTree>
    <p:extLst>
      <p:ext uri="{BB962C8B-B14F-4D97-AF65-F5344CB8AC3E}">
        <p14:creationId xmlns:p14="http://schemas.microsoft.com/office/powerpoint/2010/main" val="20771607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F3DFB-E6DE-DDE4-F430-070E8BEC4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4927E3-EE42-6610-9691-A7D7FBE9AD8B}"/>
              </a:ext>
            </a:extLst>
          </p:cNvPr>
          <p:cNvSpPr>
            <a:spLocks noGrp="1"/>
          </p:cNvSpPr>
          <p:nvPr>
            <p:ph type="title"/>
          </p:nvPr>
        </p:nvSpPr>
        <p:spPr>
          <a:xfrm>
            <a:off x="149832" y="128820"/>
            <a:ext cx="11870932" cy="552218"/>
          </a:xfrm>
        </p:spPr>
        <p:txBody>
          <a:bodyPr>
            <a:noAutofit/>
          </a:bodyPr>
          <a:lstStyle/>
          <a:p>
            <a:r>
              <a:rPr lang="en-US" sz="3200" b="1" dirty="0">
                <a:latin typeface="Yu Gothic" panose="020B0400000000000000" pitchFamily="34" charset="-128"/>
                <a:ea typeface="Yu Gothic" panose="020B0400000000000000" pitchFamily="34" charset="-128"/>
              </a:rPr>
              <a:t>Continuous Monitoring Loop (SOC Operations)</a:t>
            </a:r>
            <a:endParaRPr lang="en-IN" sz="3200" b="1" dirty="0">
              <a:latin typeface="Yu Gothic" panose="020B0400000000000000" pitchFamily="34" charset="-128"/>
              <a:ea typeface="Yu Gothic" panose="020B0400000000000000" pitchFamily="34" charset="-128"/>
            </a:endParaRPr>
          </a:p>
        </p:txBody>
      </p:sp>
      <p:sp>
        <p:nvSpPr>
          <p:cNvPr id="3" name="Content Placeholder 2">
            <a:extLst>
              <a:ext uri="{FF2B5EF4-FFF2-40B4-BE49-F238E27FC236}">
                <a16:creationId xmlns:a16="http://schemas.microsoft.com/office/drawing/2014/main" id="{2F139BE4-4B9B-DEF1-2C9A-E56CDFDEF534}"/>
              </a:ext>
            </a:extLst>
          </p:cNvPr>
          <p:cNvSpPr>
            <a:spLocks noGrp="1"/>
          </p:cNvSpPr>
          <p:nvPr>
            <p:ph idx="1"/>
          </p:nvPr>
        </p:nvSpPr>
        <p:spPr>
          <a:xfrm>
            <a:off x="149832" y="880401"/>
            <a:ext cx="11870932" cy="5725881"/>
          </a:xfrm>
        </p:spPr>
        <p:txBody>
          <a:bodyPr>
            <a:normAutofit/>
          </a:bodyPr>
          <a:lstStyle/>
          <a:p>
            <a:pPr>
              <a:lnSpc>
                <a:spcPct val="120000"/>
              </a:lnSpc>
              <a:spcBef>
                <a:spcPts val="0"/>
              </a:spcBef>
            </a:pPr>
            <a:r>
              <a:rPr lang="en-US" sz="2000" dirty="0">
                <a:latin typeface="Yu Gothic" panose="020B0400000000000000" pitchFamily="34" charset="-128"/>
                <a:ea typeface="Yu Gothic" panose="020B0400000000000000" pitchFamily="34" charset="-128"/>
              </a:rPr>
              <a:t>Telemetry collection</a:t>
            </a:r>
          </a:p>
          <a:p>
            <a:pPr>
              <a:lnSpc>
                <a:spcPct val="120000"/>
              </a:lnSpc>
              <a:spcBef>
                <a:spcPts val="0"/>
              </a:spcBef>
            </a:pPr>
            <a:r>
              <a:rPr lang="en-US" sz="2000" dirty="0">
                <a:latin typeface="Yu Gothic" panose="020B0400000000000000" pitchFamily="34" charset="-128"/>
                <a:ea typeface="Yu Gothic" panose="020B0400000000000000" pitchFamily="34" charset="-128"/>
              </a:rPr>
              <a:t>   ↓</a:t>
            </a:r>
          </a:p>
          <a:p>
            <a:pPr>
              <a:lnSpc>
                <a:spcPct val="120000"/>
              </a:lnSpc>
              <a:spcBef>
                <a:spcPts val="0"/>
              </a:spcBef>
            </a:pPr>
            <a:r>
              <a:rPr lang="en-US" sz="2000" dirty="0">
                <a:latin typeface="Yu Gothic" panose="020B0400000000000000" pitchFamily="34" charset="-128"/>
                <a:ea typeface="Yu Gothic" panose="020B0400000000000000" pitchFamily="34" charset="-128"/>
              </a:rPr>
              <a:t>Centralized logging (LAW)</a:t>
            </a:r>
          </a:p>
          <a:p>
            <a:pPr>
              <a:lnSpc>
                <a:spcPct val="120000"/>
              </a:lnSpc>
              <a:spcBef>
                <a:spcPts val="0"/>
              </a:spcBef>
            </a:pPr>
            <a:r>
              <a:rPr lang="en-US" sz="2000" dirty="0">
                <a:latin typeface="Yu Gothic" panose="020B0400000000000000" pitchFamily="34" charset="-128"/>
                <a:ea typeface="Yu Gothic" panose="020B0400000000000000" pitchFamily="34" charset="-128"/>
              </a:rPr>
              <a:t>   ↓</a:t>
            </a:r>
          </a:p>
          <a:p>
            <a:pPr>
              <a:lnSpc>
                <a:spcPct val="120000"/>
              </a:lnSpc>
              <a:spcBef>
                <a:spcPts val="0"/>
              </a:spcBef>
            </a:pPr>
            <a:r>
              <a:rPr lang="en-US" sz="2000" dirty="0">
                <a:latin typeface="Yu Gothic" panose="020B0400000000000000" pitchFamily="34" charset="-128"/>
                <a:ea typeface="Yu Gothic" panose="020B0400000000000000" pitchFamily="34" charset="-128"/>
              </a:rPr>
              <a:t>Detection analytics</a:t>
            </a:r>
          </a:p>
          <a:p>
            <a:pPr>
              <a:lnSpc>
                <a:spcPct val="120000"/>
              </a:lnSpc>
              <a:spcBef>
                <a:spcPts val="0"/>
              </a:spcBef>
            </a:pPr>
            <a:r>
              <a:rPr lang="en-US" sz="2000" dirty="0">
                <a:latin typeface="Yu Gothic" panose="020B0400000000000000" pitchFamily="34" charset="-128"/>
                <a:ea typeface="Yu Gothic" panose="020B0400000000000000" pitchFamily="34" charset="-128"/>
              </a:rPr>
              <a:t>   ↓</a:t>
            </a:r>
          </a:p>
          <a:p>
            <a:pPr>
              <a:lnSpc>
                <a:spcPct val="120000"/>
              </a:lnSpc>
              <a:spcBef>
                <a:spcPts val="0"/>
              </a:spcBef>
            </a:pPr>
            <a:r>
              <a:rPr lang="en-US" sz="2000" dirty="0">
                <a:latin typeface="Yu Gothic" panose="020B0400000000000000" pitchFamily="34" charset="-128"/>
                <a:ea typeface="Yu Gothic" panose="020B0400000000000000" pitchFamily="34" charset="-128"/>
              </a:rPr>
              <a:t>Incident response</a:t>
            </a:r>
          </a:p>
          <a:p>
            <a:pPr>
              <a:lnSpc>
                <a:spcPct val="120000"/>
              </a:lnSpc>
              <a:spcBef>
                <a:spcPts val="0"/>
              </a:spcBef>
            </a:pPr>
            <a:r>
              <a:rPr lang="en-US" sz="2000" dirty="0">
                <a:latin typeface="Yu Gothic" panose="020B0400000000000000" pitchFamily="34" charset="-128"/>
                <a:ea typeface="Yu Gothic" panose="020B0400000000000000" pitchFamily="34" charset="-128"/>
              </a:rPr>
              <a:t>   ↓</a:t>
            </a:r>
          </a:p>
          <a:p>
            <a:pPr>
              <a:lnSpc>
                <a:spcPct val="120000"/>
              </a:lnSpc>
              <a:spcBef>
                <a:spcPts val="0"/>
              </a:spcBef>
            </a:pPr>
            <a:r>
              <a:rPr lang="en-US" sz="2000" dirty="0">
                <a:latin typeface="Yu Gothic" panose="020B0400000000000000" pitchFamily="34" charset="-128"/>
                <a:ea typeface="Yu Gothic" panose="020B0400000000000000" pitchFamily="34" charset="-128"/>
              </a:rPr>
              <a:t>Lessons learned</a:t>
            </a:r>
          </a:p>
          <a:p>
            <a:pPr>
              <a:lnSpc>
                <a:spcPct val="120000"/>
              </a:lnSpc>
              <a:spcBef>
                <a:spcPts val="0"/>
              </a:spcBef>
            </a:pPr>
            <a:r>
              <a:rPr lang="en-US" sz="2000" dirty="0">
                <a:latin typeface="Yu Gothic" panose="020B0400000000000000" pitchFamily="34" charset="-128"/>
                <a:ea typeface="Yu Gothic" panose="020B0400000000000000" pitchFamily="34" charset="-128"/>
              </a:rPr>
              <a:t>   ↓</a:t>
            </a:r>
          </a:p>
          <a:p>
            <a:pPr>
              <a:lnSpc>
                <a:spcPct val="120000"/>
              </a:lnSpc>
              <a:spcBef>
                <a:spcPts val="0"/>
              </a:spcBef>
            </a:pPr>
            <a:r>
              <a:rPr lang="en-US" sz="2000" dirty="0">
                <a:latin typeface="Yu Gothic" panose="020B0400000000000000" pitchFamily="34" charset="-128"/>
                <a:ea typeface="Yu Gothic" panose="020B0400000000000000" pitchFamily="34" charset="-128"/>
              </a:rPr>
              <a:t>Security posture improvement</a:t>
            </a:r>
          </a:p>
          <a:p>
            <a:pPr>
              <a:lnSpc>
                <a:spcPct val="120000"/>
              </a:lnSpc>
              <a:spcBef>
                <a:spcPts val="0"/>
              </a:spcBef>
            </a:pPr>
            <a:r>
              <a:rPr lang="en-US" sz="2000" dirty="0">
                <a:latin typeface="Yu Gothic" panose="020B0400000000000000" pitchFamily="34" charset="-128"/>
                <a:ea typeface="Yu Gothic" panose="020B0400000000000000" pitchFamily="34" charset="-128"/>
              </a:rPr>
              <a:t>   ↓</a:t>
            </a:r>
          </a:p>
          <a:p>
            <a:pPr>
              <a:lnSpc>
                <a:spcPct val="120000"/>
              </a:lnSpc>
              <a:spcBef>
                <a:spcPts val="0"/>
              </a:spcBef>
            </a:pPr>
            <a:r>
              <a:rPr lang="en-US" sz="2000" dirty="0">
                <a:latin typeface="Yu Gothic" panose="020B0400000000000000" pitchFamily="34" charset="-128"/>
                <a:ea typeface="Yu Gothic" panose="020B0400000000000000" pitchFamily="34" charset="-128"/>
              </a:rPr>
              <a:t>Back to monitoring</a:t>
            </a:r>
            <a:endParaRPr lang="en-IN" sz="2000"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25965035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6F395-54D5-D298-19BD-F3DA4C71BE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F52887-9F0D-0ACE-7197-1465B8F2542C}"/>
              </a:ext>
            </a:extLst>
          </p:cNvPr>
          <p:cNvSpPr>
            <a:spLocks noGrp="1"/>
          </p:cNvSpPr>
          <p:nvPr>
            <p:ph type="title"/>
          </p:nvPr>
        </p:nvSpPr>
        <p:spPr>
          <a:xfrm>
            <a:off x="149832" y="128820"/>
            <a:ext cx="11870932" cy="552218"/>
          </a:xfrm>
        </p:spPr>
        <p:txBody>
          <a:bodyPr>
            <a:noAutofit/>
          </a:bodyPr>
          <a:lstStyle/>
          <a:p>
            <a:r>
              <a:rPr lang="en-IN" sz="3200" b="1" dirty="0">
                <a:latin typeface="Yu Gothic" panose="020B0400000000000000" pitchFamily="34" charset="-128"/>
                <a:ea typeface="Yu Gothic" panose="020B0400000000000000" pitchFamily="34" charset="-128"/>
              </a:rPr>
              <a:t>s</a:t>
            </a:r>
          </a:p>
        </p:txBody>
      </p:sp>
      <p:sp>
        <p:nvSpPr>
          <p:cNvPr id="3" name="Content Placeholder 2">
            <a:extLst>
              <a:ext uri="{FF2B5EF4-FFF2-40B4-BE49-F238E27FC236}">
                <a16:creationId xmlns:a16="http://schemas.microsoft.com/office/drawing/2014/main" id="{C9DEC204-0768-6B77-1246-5B83E3A0D61B}"/>
              </a:ext>
            </a:extLst>
          </p:cNvPr>
          <p:cNvSpPr>
            <a:spLocks noGrp="1"/>
          </p:cNvSpPr>
          <p:nvPr>
            <p:ph idx="1"/>
          </p:nvPr>
        </p:nvSpPr>
        <p:spPr>
          <a:xfrm>
            <a:off x="149832" y="880401"/>
            <a:ext cx="11870932" cy="5725881"/>
          </a:xfrm>
        </p:spPr>
        <p:txBody>
          <a:bodyPr>
            <a:normAutofit/>
          </a:bodyPr>
          <a:lstStyle/>
          <a:p>
            <a:pPr>
              <a:lnSpc>
                <a:spcPct val="120000"/>
              </a:lnSpc>
              <a:spcBef>
                <a:spcPts val="0"/>
              </a:spcBef>
            </a:pPr>
            <a:endParaRPr lang="en-IN" sz="2000"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8090777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61F5B-EA6B-0266-EF93-2A547C14F6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8FB461-5BD6-ACC0-260A-823E4C9F07BB}"/>
              </a:ext>
            </a:extLst>
          </p:cNvPr>
          <p:cNvSpPr>
            <a:spLocks noGrp="1"/>
          </p:cNvSpPr>
          <p:nvPr>
            <p:ph type="title"/>
          </p:nvPr>
        </p:nvSpPr>
        <p:spPr>
          <a:xfrm>
            <a:off x="149832" y="128820"/>
            <a:ext cx="11870932" cy="552218"/>
          </a:xfrm>
        </p:spPr>
        <p:txBody>
          <a:bodyPr>
            <a:noAutofit/>
          </a:bodyPr>
          <a:lstStyle/>
          <a:p>
            <a:r>
              <a:rPr lang="en-IN" sz="3200" b="1" dirty="0">
                <a:latin typeface="Yu Gothic" panose="020B0400000000000000" pitchFamily="34" charset="-128"/>
                <a:ea typeface="Yu Gothic" panose="020B0400000000000000" pitchFamily="34" charset="-128"/>
              </a:rPr>
              <a:t>s</a:t>
            </a:r>
          </a:p>
        </p:txBody>
      </p:sp>
      <p:sp>
        <p:nvSpPr>
          <p:cNvPr id="3" name="Content Placeholder 2">
            <a:extLst>
              <a:ext uri="{FF2B5EF4-FFF2-40B4-BE49-F238E27FC236}">
                <a16:creationId xmlns:a16="http://schemas.microsoft.com/office/drawing/2014/main" id="{F97D8DEB-E09B-8C11-515D-054DD18FED3C}"/>
              </a:ext>
            </a:extLst>
          </p:cNvPr>
          <p:cNvSpPr>
            <a:spLocks noGrp="1"/>
          </p:cNvSpPr>
          <p:nvPr>
            <p:ph idx="1"/>
          </p:nvPr>
        </p:nvSpPr>
        <p:spPr>
          <a:xfrm>
            <a:off x="149832" y="880401"/>
            <a:ext cx="11870932" cy="5725881"/>
          </a:xfrm>
        </p:spPr>
        <p:txBody>
          <a:bodyPr>
            <a:normAutofit/>
          </a:bodyPr>
          <a:lstStyle/>
          <a:p>
            <a:pPr>
              <a:lnSpc>
                <a:spcPct val="120000"/>
              </a:lnSpc>
              <a:spcBef>
                <a:spcPts val="0"/>
              </a:spcBef>
            </a:pPr>
            <a:endParaRPr lang="en-IN" sz="2000"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17614532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1ADC3-3021-396C-1AB4-CD552DFAA3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FDE8D2-878B-3FED-A267-8953852F5B5A}"/>
              </a:ext>
            </a:extLst>
          </p:cNvPr>
          <p:cNvSpPr>
            <a:spLocks noGrp="1"/>
          </p:cNvSpPr>
          <p:nvPr>
            <p:ph type="title"/>
          </p:nvPr>
        </p:nvSpPr>
        <p:spPr>
          <a:xfrm>
            <a:off x="149832" y="128820"/>
            <a:ext cx="11870932" cy="552218"/>
          </a:xfrm>
        </p:spPr>
        <p:txBody>
          <a:bodyPr>
            <a:noAutofit/>
          </a:bodyPr>
          <a:lstStyle/>
          <a:p>
            <a:r>
              <a:rPr lang="en-IN" sz="3200" b="1" dirty="0">
                <a:latin typeface="Yu Gothic" panose="020B0400000000000000" pitchFamily="34" charset="-128"/>
                <a:ea typeface="Yu Gothic" panose="020B0400000000000000" pitchFamily="34" charset="-128"/>
              </a:rPr>
              <a:t>s</a:t>
            </a:r>
          </a:p>
        </p:txBody>
      </p:sp>
      <p:sp>
        <p:nvSpPr>
          <p:cNvPr id="3" name="Content Placeholder 2">
            <a:extLst>
              <a:ext uri="{FF2B5EF4-FFF2-40B4-BE49-F238E27FC236}">
                <a16:creationId xmlns:a16="http://schemas.microsoft.com/office/drawing/2014/main" id="{D896A2E9-E716-3F41-9AA2-DC3FB550AB29}"/>
              </a:ext>
            </a:extLst>
          </p:cNvPr>
          <p:cNvSpPr>
            <a:spLocks noGrp="1"/>
          </p:cNvSpPr>
          <p:nvPr>
            <p:ph idx="1"/>
          </p:nvPr>
        </p:nvSpPr>
        <p:spPr>
          <a:xfrm>
            <a:off x="149832" y="880401"/>
            <a:ext cx="11870932" cy="5725881"/>
          </a:xfrm>
        </p:spPr>
        <p:txBody>
          <a:bodyPr>
            <a:normAutofit/>
          </a:bodyPr>
          <a:lstStyle/>
          <a:p>
            <a:pPr>
              <a:lnSpc>
                <a:spcPct val="120000"/>
              </a:lnSpc>
              <a:spcBef>
                <a:spcPts val="0"/>
              </a:spcBef>
            </a:pPr>
            <a:endParaRPr lang="en-IN" sz="2000"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10377543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D6617-B648-0A74-7B82-8F39AF48F6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122D20-5475-E59B-EA4C-B53EFB67FC17}"/>
              </a:ext>
            </a:extLst>
          </p:cNvPr>
          <p:cNvSpPr>
            <a:spLocks noGrp="1"/>
          </p:cNvSpPr>
          <p:nvPr>
            <p:ph type="title"/>
          </p:nvPr>
        </p:nvSpPr>
        <p:spPr>
          <a:xfrm>
            <a:off x="149832" y="128820"/>
            <a:ext cx="11870932" cy="552218"/>
          </a:xfrm>
        </p:spPr>
        <p:txBody>
          <a:bodyPr>
            <a:noAutofit/>
          </a:bodyPr>
          <a:lstStyle/>
          <a:p>
            <a:r>
              <a:rPr lang="en-IN" sz="3200" b="1" dirty="0">
                <a:latin typeface="Yu Gothic" panose="020B0400000000000000" pitchFamily="34" charset="-128"/>
                <a:ea typeface="Yu Gothic" panose="020B0400000000000000" pitchFamily="34" charset="-128"/>
              </a:rPr>
              <a:t>s</a:t>
            </a:r>
          </a:p>
        </p:txBody>
      </p:sp>
      <p:sp>
        <p:nvSpPr>
          <p:cNvPr id="3" name="Content Placeholder 2">
            <a:extLst>
              <a:ext uri="{FF2B5EF4-FFF2-40B4-BE49-F238E27FC236}">
                <a16:creationId xmlns:a16="http://schemas.microsoft.com/office/drawing/2014/main" id="{2D42A364-96BB-A6CF-998F-1B5F36D5B087}"/>
              </a:ext>
            </a:extLst>
          </p:cNvPr>
          <p:cNvSpPr>
            <a:spLocks noGrp="1"/>
          </p:cNvSpPr>
          <p:nvPr>
            <p:ph idx="1"/>
          </p:nvPr>
        </p:nvSpPr>
        <p:spPr>
          <a:xfrm>
            <a:off x="149832" y="880401"/>
            <a:ext cx="11870932" cy="5725881"/>
          </a:xfrm>
        </p:spPr>
        <p:txBody>
          <a:bodyPr>
            <a:normAutofit/>
          </a:bodyPr>
          <a:lstStyle/>
          <a:p>
            <a:pPr>
              <a:lnSpc>
                <a:spcPct val="120000"/>
              </a:lnSpc>
              <a:spcBef>
                <a:spcPts val="0"/>
              </a:spcBef>
            </a:pPr>
            <a:endParaRPr lang="en-IN" sz="2000"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31806962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78C6E-0B4F-7802-47C6-807A517945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9920CC-E49E-D950-67BD-C6AE969DC7CC}"/>
              </a:ext>
            </a:extLst>
          </p:cNvPr>
          <p:cNvSpPr>
            <a:spLocks noGrp="1"/>
          </p:cNvSpPr>
          <p:nvPr>
            <p:ph type="title"/>
          </p:nvPr>
        </p:nvSpPr>
        <p:spPr>
          <a:xfrm>
            <a:off x="149832" y="128820"/>
            <a:ext cx="11870932" cy="552218"/>
          </a:xfrm>
        </p:spPr>
        <p:txBody>
          <a:bodyPr>
            <a:noAutofit/>
          </a:bodyPr>
          <a:lstStyle/>
          <a:p>
            <a:r>
              <a:rPr lang="en-IN" sz="3200" b="1" dirty="0">
                <a:latin typeface="Yu Gothic" panose="020B0400000000000000" pitchFamily="34" charset="-128"/>
                <a:ea typeface="Yu Gothic" panose="020B0400000000000000" pitchFamily="34" charset="-128"/>
              </a:rPr>
              <a:t>s</a:t>
            </a:r>
          </a:p>
        </p:txBody>
      </p:sp>
      <p:sp>
        <p:nvSpPr>
          <p:cNvPr id="3" name="Content Placeholder 2">
            <a:extLst>
              <a:ext uri="{FF2B5EF4-FFF2-40B4-BE49-F238E27FC236}">
                <a16:creationId xmlns:a16="http://schemas.microsoft.com/office/drawing/2014/main" id="{6D42E44E-F9B9-13AA-5699-ECCAC2DBFBAE}"/>
              </a:ext>
            </a:extLst>
          </p:cNvPr>
          <p:cNvSpPr>
            <a:spLocks noGrp="1"/>
          </p:cNvSpPr>
          <p:nvPr>
            <p:ph idx="1"/>
          </p:nvPr>
        </p:nvSpPr>
        <p:spPr>
          <a:xfrm>
            <a:off x="149832" y="880401"/>
            <a:ext cx="11870932" cy="5725881"/>
          </a:xfrm>
        </p:spPr>
        <p:txBody>
          <a:bodyPr>
            <a:normAutofit/>
          </a:bodyPr>
          <a:lstStyle/>
          <a:p>
            <a:pPr>
              <a:lnSpc>
                <a:spcPct val="120000"/>
              </a:lnSpc>
              <a:spcBef>
                <a:spcPts val="0"/>
              </a:spcBef>
            </a:pPr>
            <a:endParaRPr lang="en-IN" sz="2000"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22612612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2FCF9-2D2F-66FF-35A7-83609A48D6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52853C-7C82-9C6F-CF4F-A9A8364F685A}"/>
              </a:ext>
            </a:extLst>
          </p:cNvPr>
          <p:cNvSpPr>
            <a:spLocks noGrp="1"/>
          </p:cNvSpPr>
          <p:nvPr>
            <p:ph type="title"/>
          </p:nvPr>
        </p:nvSpPr>
        <p:spPr>
          <a:xfrm>
            <a:off x="149832" y="128820"/>
            <a:ext cx="11870932" cy="552218"/>
          </a:xfrm>
        </p:spPr>
        <p:txBody>
          <a:bodyPr>
            <a:noAutofit/>
          </a:bodyPr>
          <a:lstStyle/>
          <a:p>
            <a:r>
              <a:rPr lang="en-IN" sz="3200" b="1" dirty="0">
                <a:latin typeface="Yu Gothic" panose="020B0400000000000000" pitchFamily="34" charset="-128"/>
                <a:ea typeface="Yu Gothic" panose="020B0400000000000000" pitchFamily="34" charset="-128"/>
              </a:rPr>
              <a:t>s</a:t>
            </a:r>
          </a:p>
        </p:txBody>
      </p:sp>
      <p:sp>
        <p:nvSpPr>
          <p:cNvPr id="3" name="Content Placeholder 2">
            <a:extLst>
              <a:ext uri="{FF2B5EF4-FFF2-40B4-BE49-F238E27FC236}">
                <a16:creationId xmlns:a16="http://schemas.microsoft.com/office/drawing/2014/main" id="{14E61952-53D6-20A2-D63E-3DC9F2481BFF}"/>
              </a:ext>
            </a:extLst>
          </p:cNvPr>
          <p:cNvSpPr>
            <a:spLocks noGrp="1"/>
          </p:cNvSpPr>
          <p:nvPr>
            <p:ph idx="1"/>
          </p:nvPr>
        </p:nvSpPr>
        <p:spPr>
          <a:xfrm>
            <a:off x="149832" y="880401"/>
            <a:ext cx="11870932" cy="5725881"/>
          </a:xfrm>
        </p:spPr>
        <p:txBody>
          <a:bodyPr>
            <a:normAutofit/>
          </a:bodyPr>
          <a:lstStyle/>
          <a:p>
            <a:pPr>
              <a:lnSpc>
                <a:spcPct val="120000"/>
              </a:lnSpc>
              <a:spcBef>
                <a:spcPts val="0"/>
              </a:spcBef>
            </a:pPr>
            <a:endParaRPr lang="en-IN" sz="2000"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36499933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1A8CA-8B73-6F96-540F-F2F763D509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5B62AA-444E-5905-1602-D882D3E9778B}"/>
              </a:ext>
            </a:extLst>
          </p:cNvPr>
          <p:cNvSpPr>
            <a:spLocks noGrp="1"/>
          </p:cNvSpPr>
          <p:nvPr>
            <p:ph type="title"/>
          </p:nvPr>
        </p:nvSpPr>
        <p:spPr>
          <a:xfrm>
            <a:off x="149832" y="128820"/>
            <a:ext cx="11870932" cy="552218"/>
          </a:xfrm>
        </p:spPr>
        <p:txBody>
          <a:bodyPr>
            <a:noAutofit/>
          </a:bodyPr>
          <a:lstStyle/>
          <a:p>
            <a:r>
              <a:rPr lang="en-IN" sz="3200" b="1" dirty="0">
                <a:latin typeface="Yu Gothic" panose="020B0400000000000000" pitchFamily="34" charset="-128"/>
                <a:ea typeface="Yu Gothic" panose="020B0400000000000000" pitchFamily="34" charset="-128"/>
              </a:rPr>
              <a:t>s</a:t>
            </a:r>
          </a:p>
        </p:txBody>
      </p:sp>
      <p:sp>
        <p:nvSpPr>
          <p:cNvPr id="3" name="Content Placeholder 2">
            <a:extLst>
              <a:ext uri="{FF2B5EF4-FFF2-40B4-BE49-F238E27FC236}">
                <a16:creationId xmlns:a16="http://schemas.microsoft.com/office/drawing/2014/main" id="{BA1D916F-D90E-F9FC-0241-F3B50FBA531A}"/>
              </a:ext>
            </a:extLst>
          </p:cNvPr>
          <p:cNvSpPr>
            <a:spLocks noGrp="1"/>
          </p:cNvSpPr>
          <p:nvPr>
            <p:ph idx="1"/>
          </p:nvPr>
        </p:nvSpPr>
        <p:spPr>
          <a:xfrm>
            <a:off x="149832" y="880401"/>
            <a:ext cx="11870932" cy="5725881"/>
          </a:xfrm>
        </p:spPr>
        <p:txBody>
          <a:bodyPr>
            <a:normAutofit/>
          </a:bodyPr>
          <a:lstStyle/>
          <a:p>
            <a:pPr>
              <a:lnSpc>
                <a:spcPct val="120000"/>
              </a:lnSpc>
              <a:spcBef>
                <a:spcPts val="0"/>
              </a:spcBef>
            </a:pPr>
            <a:endParaRPr lang="en-IN" sz="2000"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16858147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945F7-D6A6-0D1C-2D80-3B5D09B590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DA39D4-339C-44C2-208A-F607331BEE54}"/>
              </a:ext>
            </a:extLst>
          </p:cNvPr>
          <p:cNvSpPr>
            <a:spLocks noGrp="1"/>
          </p:cNvSpPr>
          <p:nvPr>
            <p:ph type="title"/>
          </p:nvPr>
        </p:nvSpPr>
        <p:spPr>
          <a:xfrm>
            <a:off x="149832" y="128820"/>
            <a:ext cx="11870932" cy="552218"/>
          </a:xfrm>
        </p:spPr>
        <p:txBody>
          <a:bodyPr>
            <a:noAutofit/>
          </a:bodyPr>
          <a:lstStyle/>
          <a:p>
            <a:r>
              <a:rPr lang="en-IN" sz="3200" b="1" dirty="0">
                <a:latin typeface="Yu Gothic" panose="020B0400000000000000" pitchFamily="34" charset="-128"/>
                <a:ea typeface="Yu Gothic" panose="020B0400000000000000" pitchFamily="34" charset="-128"/>
              </a:rPr>
              <a:t>s</a:t>
            </a:r>
          </a:p>
        </p:txBody>
      </p:sp>
      <p:sp>
        <p:nvSpPr>
          <p:cNvPr id="3" name="Content Placeholder 2">
            <a:extLst>
              <a:ext uri="{FF2B5EF4-FFF2-40B4-BE49-F238E27FC236}">
                <a16:creationId xmlns:a16="http://schemas.microsoft.com/office/drawing/2014/main" id="{73308F2C-C37F-D7F7-F889-4262A2BA0A4F}"/>
              </a:ext>
            </a:extLst>
          </p:cNvPr>
          <p:cNvSpPr>
            <a:spLocks noGrp="1"/>
          </p:cNvSpPr>
          <p:nvPr>
            <p:ph idx="1"/>
          </p:nvPr>
        </p:nvSpPr>
        <p:spPr>
          <a:xfrm>
            <a:off x="149832" y="880401"/>
            <a:ext cx="11870932" cy="5725881"/>
          </a:xfrm>
        </p:spPr>
        <p:txBody>
          <a:bodyPr>
            <a:normAutofit/>
          </a:bodyPr>
          <a:lstStyle/>
          <a:p>
            <a:pPr>
              <a:lnSpc>
                <a:spcPct val="120000"/>
              </a:lnSpc>
              <a:spcBef>
                <a:spcPts val="0"/>
              </a:spcBef>
            </a:pPr>
            <a:endParaRPr lang="en-IN" sz="2000"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24566062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12537-6A73-F30D-9140-624D694A84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E674F6-2B1A-77DC-73BE-ADC2E34A0F09}"/>
              </a:ext>
            </a:extLst>
          </p:cNvPr>
          <p:cNvSpPr>
            <a:spLocks noGrp="1"/>
          </p:cNvSpPr>
          <p:nvPr>
            <p:ph type="title"/>
          </p:nvPr>
        </p:nvSpPr>
        <p:spPr>
          <a:xfrm>
            <a:off x="149832" y="128820"/>
            <a:ext cx="11870932" cy="552218"/>
          </a:xfrm>
        </p:spPr>
        <p:txBody>
          <a:bodyPr>
            <a:noAutofit/>
          </a:bodyPr>
          <a:lstStyle/>
          <a:p>
            <a:r>
              <a:rPr lang="en-IN" sz="3200" b="1" dirty="0">
                <a:latin typeface="Yu Gothic" panose="020B0400000000000000" pitchFamily="34" charset="-128"/>
                <a:ea typeface="Yu Gothic" panose="020B0400000000000000" pitchFamily="34" charset="-128"/>
              </a:rPr>
              <a:t>s</a:t>
            </a:r>
          </a:p>
        </p:txBody>
      </p:sp>
      <p:sp>
        <p:nvSpPr>
          <p:cNvPr id="3" name="Content Placeholder 2">
            <a:extLst>
              <a:ext uri="{FF2B5EF4-FFF2-40B4-BE49-F238E27FC236}">
                <a16:creationId xmlns:a16="http://schemas.microsoft.com/office/drawing/2014/main" id="{37B91A13-CBFD-B57F-BCAF-5C508B770049}"/>
              </a:ext>
            </a:extLst>
          </p:cNvPr>
          <p:cNvSpPr>
            <a:spLocks noGrp="1"/>
          </p:cNvSpPr>
          <p:nvPr>
            <p:ph idx="1"/>
          </p:nvPr>
        </p:nvSpPr>
        <p:spPr>
          <a:xfrm>
            <a:off x="149832" y="880401"/>
            <a:ext cx="11870932" cy="5725881"/>
          </a:xfrm>
        </p:spPr>
        <p:txBody>
          <a:bodyPr>
            <a:normAutofit/>
          </a:bodyPr>
          <a:lstStyle/>
          <a:p>
            <a:pPr>
              <a:lnSpc>
                <a:spcPct val="120000"/>
              </a:lnSpc>
              <a:spcBef>
                <a:spcPts val="0"/>
              </a:spcBef>
            </a:pPr>
            <a:endParaRPr lang="en-IN" sz="2000"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17825421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4BDE5-C816-83F5-3F61-D724CF11EB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5EE27D-C5A9-F437-C1EE-9C1DD5221427}"/>
              </a:ext>
            </a:extLst>
          </p:cNvPr>
          <p:cNvSpPr>
            <a:spLocks noGrp="1"/>
          </p:cNvSpPr>
          <p:nvPr>
            <p:ph type="title"/>
          </p:nvPr>
        </p:nvSpPr>
        <p:spPr>
          <a:xfrm>
            <a:off x="149832" y="128820"/>
            <a:ext cx="11870932" cy="552218"/>
          </a:xfrm>
        </p:spPr>
        <p:txBody>
          <a:bodyPr>
            <a:noAutofit/>
          </a:bodyPr>
          <a:lstStyle/>
          <a:p>
            <a:r>
              <a:rPr lang="en-IN" sz="3200" b="1" dirty="0">
                <a:latin typeface="Yu Gothic" panose="020B0400000000000000" pitchFamily="34" charset="-128"/>
                <a:ea typeface="Yu Gothic" panose="020B0400000000000000" pitchFamily="34" charset="-128"/>
              </a:rPr>
              <a:t>s</a:t>
            </a:r>
          </a:p>
        </p:txBody>
      </p:sp>
      <p:sp>
        <p:nvSpPr>
          <p:cNvPr id="3" name="Content Placeholder 2">
            <a:extLst>
              <a:ext uri="{FF2B5EF4-FFF2-40B4-BE49-F238E27FC236}">
                <a16:creationId xmlns:a16="http://schemas.microsoft.com/office/drawing/2014/main" id="{1E5064BE-F240-724D-16F8-F63FC0F31FA6}"/>
              </a:ext>
            </a:extLst>
          </p:cNvPr>
          <p:cNvSpPr>
            <a:spLocks noGrp="1"/>
          </p:cNvSpPr>
          <p:nvPr>
            <p:ph idx="1"/>
          </p:nvPr>
        </p:nvSpPr>
        <p:spPr>
          <a:xfrm>
            <a:off x="149832" y="880401"/>
            <a:ext cx="11870932" cy="5725881"/>
          </a:xfrm>
        </p:spPr>
        <p:txBody>
          <a:bodyPr>
            <a:normAutofit/>
          </a:bodyPr>
          <a:lstStyle/>
          <a:p>
            <a:pPr>
              <a:lnSpc>
                <a:spcPct val="120000"/>
              </a:lnSpc>
              <a:spcBef>
                <a:spcPts val="0"/>
              </a:spcBef>
            </a:pPr>
            <a:endParaRPr lang="en-IN" sz="2000"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27781130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DC727-E4C8-03FD-6AA8-8B807C77F9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9F1559-097F-1787-02E8-4DE1FE1397A5}"/>
              </a:ext>
            </a:extLst>
          </p:cNvPr>
          <p:cNvSpPr>
            <a:spLocks noGrp="1"/>
          </p:cNvSpPr>
          <p:nvPr>
            <p:ph type="title"/>
          </p:nvPr>
        </p:nvSpPr>
        <p:spPr>
          <a:xfrm>
            <a:off x="149832" y="128820"/>
            <a:ext cx="11870932" cy="552218"/>
          </a:xfrm>
        </p:spPr>
        <p:txBody>
          <a:bodyPr>
            <a:noAutofit/>
          </a:bodyPr>
          <a:lstStyle/>
          <a:p>
            <a:r>
              <a:rPr lang="en-IN" sz="3200" b="1" dirty="0">
                <a:latin typeface="Yu Gothic" panose="020B0400000000000000" pitchFamily="34" charset="-128"/>
                <a:ea typeface="Yu Gothic" panose="020B0400000000000000" pitchFamily="34" charset="-128"/>
              </a:rPr>
              <a:t>s</a:t>
            </a:r>
          </a:p>
        </p:txBody>
      </p:sp>
      <p:sp>
        <p:nvSpPr>
          <p:cNvPr id="3" name="Content Placeholder 2">
            <a:extLst>
              <a:ext uri="{FF2B5EF4-FFF2-40B4-BE49-F238E27FC236}">
                <a16:creationId xmlns:a16="http://schemas.microsoft.com/office/drawing/2014/main" id="{FB83C0BA-C31C-439D-43C2-0CE4B5C3326E}"/>
              </a:ext>
            </a:extLst>
          </p:cNvPr>
          <p:cNvSpPr>
            <a:spLocks noGrp="1"/>
          </p:cNvSpPr>
          <p:nvPr>
            <p:ph idx="1"/>
          </p:nvPr>
        </p:nvSpPr>
        <p:spPr>
          <a:xfrm>
            <a:off x="149832" y="880401"/>
            <a:ext cx="11870932" cy="5725881"/>
          </a:xfrm>
        </p:spPr>
        <p:txBody>
          <a:bodyPr>
            <a:normAutofit/>
          </a:bodyPr>
          <a:lstStyle/>
          <a:p>
            <a:pPr>
              <a:lnSpc>
                <a:spcPct val="120000"/>
              </a:lnSpc>
              <a:spcBef>
                <a:spcPts val="0"/>
              </a:spcBef>
            </a:pPr>
            <a:endParaRPr lang="en-IN" sz="2000"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3520835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C2E12-BCFD-7F75-CAB9-230CEAFDD7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9C30C5-3CC5-8362-43A0-3E4291709557}"/>
              </a:ext>
            </a:extLst>
          </p:cNvPr>
          <p:cNvSpPr>
            <a:spLocks noGrp="1"/>
          </p:cNvSpPr>
          <p:nvPr>
            <p:ph type="title"/>
          </p:nvPr>
        </p:nvSpPr>
        <p:spPr>
          <a:xfrm>
            <a:off x="149832" y="128820"/>
            <a:ext cx="11870932" cy="552218"/>
          </a:xfrm>
        </p:spPr>
        <p:txBody>
          <a:bodyPr>
            <a:noAutofit/>
          </a:bodyPr>
          <a:lstStyle/>
          <a:p>
            <a:r>
              <a:rPr lang="en-IN" sz="3200" b="1" dirty="0">
                <a:latin typeface="Yu Gothic" panose="020B0400000000000000" pitchFamily="34" charset="-128"/>
                <a:ea typeface="Yu Gothic" panose="020B0400000000000000" pitchFamily="34" charset="-128"/>
              </a:rPr>
              <a:t>s</a:t>
            </a:r>
          </a:p>
        </p:txBody>
      </p:sp>
      <p:sp>
        <p:nvSpPr>
          <p:cNvPr id="3" name="Content Placeholder 2">
            <a:extLst>
              <a:ext uri="{FF2B5EF4-FFF2-40B4-BE49-F238E27FC236}">
                <a16:creationId xmlns:a16="http://schemas.microsoft.com/office/drawing/2014/main" id="{C807C901-BE7C-8D9D-9968-70F01F6D9DFF}"/>
              </a:ext>
            </a:extLst>
          </p:cNvPr>
          <p:cNvSpPr>
            <a:spLocks noGrp="1"/>
          </p:cNvSpPr>
          <p:nvPr>
            <p:ph idx="1"/>
          </p:nvPr>
        </p:nvSpPr>
        <p:spPr>
          <a:xfrm>
            <a:off x="149832" y="880401"/>
            <a:ext cx="11870932" cy="5725881"/>
          </a:xfrm>
        </p:spPr>
        <p:txBody>
          <a:bodyPr>
            <a:normAutofit/>
          </a:bodyPr>
          <a:lstStyle/>
          <a:p>
            <a:pPr>
              <a:lnSpc>
                <a:spcPct val="120000"/>
              </a:lnSpc>
              <a:spcBef>
                <a:spcPts val="0"/>
              </a:spcBef>
            </a:pPr>
            <a:endParaRPr lang="en-IN" sz="2000"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38269174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121FE-24C4-AB54-3D77-264566F629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F5D262-7926-19DA-7D31-381E23504E14}"/>
              </a:ext>
            </a:extLst>
          </p:cNvPr>
          <p:cNvSpPr>
            <a:spLocks noGrp="1"/>
          </p:cNvSpPr>
          <p:nvPr>
            <p:ph type="title"/>
          </p:nvPr>
        </p:nvSpPr>
        <p:spPr>
          <a:xfrm>
            <a:off x="149832" y="128820"/>
            <a:ext cx="11870932" cy="552218"/>
          </a:xfrm>
        </p:spPr>
        <p:txBody>
          <a:bodyPr>
            <a:noAutofit/>
          </a:bodyPr>
          <a:lstStyle/>
          <a:p>
            <a:r>
              <a:rPr lang="en-IN" sz="3200" b="1" dirty="0">
                <a:latin typeface="Yu Gothic" panose="020B0400000000000000" pitchFamily="34" charset="-128"/>
                <a:ea typeface="Yu Gothic" panose="020B0400000000000000" pitchFamily="34" charset="-128"/>
              </a:rPr>
              <a:t>s</a:t>
            </a:r>
          </a:p>
        </p:txBody>
      </p:sp>
      <p:sp>
        <p:nvSpPr>
          <p:cNvPr id="3" name="Content Placeholder 2">
            <a:extLst>
              <a:ext uri="{FF2B5EF4-FFF2-40B4-BE49-F238E27FC236}">
                <a16:creationId xmlns:a16="http://schemas.microsoft.com/office/drawing/2014/main" id="{4FEBE9BC-43A3-B508-BBD3-0AF82EB19D90}"/>
              </a:ext>
            </a:extLst>
          </p:cNvPr>
          <p:cNvSpPr>
            <a:spLocks noGrp="1"/>
          </p:cNvSpPr>
          <p:nvPr>
            <p:ph idx="1"/>
          </p:nvPr>
        </p:nvSpPr>
        <p:spPr>
          <a:xfrm>
            <a:off x="149832" y="880401"/>
            <a:ext cx="11870932" cy="5725881"/>
          </a:xfrm>
        </p:spPr>
        <p:txBody>
          <a:bodyPr>
            <a:normAutofit/>
          </a:bodyPr>
          <a:lstStyle/>
          <a:p>
            <a:pPr>
              <a:lnSpc>
                <a:spcPct val="120000"/>
              </a:lnSpc>
              <a:spcBef>
                <a:spcPts val="0"/>
              </a:spcBef>
            </a:pPr>
            <a:endParaRPr lang="en-IN" sz="2000"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23992441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2B13F-B01F-28E6-9B58-81871CF307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776787-8B58-F435-BCEC-9E20FCD59C9A}"/>
              </a:ext>
            </a:extLst>
          </p:cNvPr>
          <p:cNvSpPr>
            <a:spLocks noGrp="1"/>
          </p:cNvSpPr>
          <p:nvPr>
            <p:ph type="title"/>
          </p:nvPr>
        </p:nvSpPr>
        <p:spPr>
          <a:xfrm>
            <a:off x="149832" y="128820"/>
            <a:ext cx="11870932" cy="552218"/>
          </a:xfrm>
        </p:spPr>
        <p:txBody>
          <a:bodyPr>
            <a:noAutofit/>
          </a:bodyPr>
          <a:lstStyle/>
          <a:p>
            <a:r>
              <a:rPr lang="en-IN" sz="3200" b="1" dirty="0">
                <a:latin typeface="Yu Gothic" panose="020B0400000000000000" pitchFamily="34" charset="-128"/>
                <a:ea typeface="Yu Gothic" panose="020B0400000000000000" pitchFamily="34" charset="-128"/>
              </a:rPr>
              <a:t>s</a:t>
            </a:r>
          </a:p>
        </p:txBody>
      </p:sp>
      <p:sp>
        <p:nvSpPr>
          <p:cNvPr id="3" name="Content Placeholder 2">
            <a:extLst>
              <a:ext uri="{FF2B5EF4-FFF2-40B4-BE49-F238E27FC236}">
                <a16:creationId xmlns:a16="http://schemas.microsoft.com/office/drawing/2014/main" id="{A677128B-BBF6-E8E4-6CF3-BB30B946AF2B}"/>
              </a:ext>
            </a:extLst>
          </p:cNvPr>
          <p:cNvSpPr>
            <a:spLocks noGrp="1"/>
          </p:cNvSpPr>
          <p:nvPr>
            <p:ph idx="1"/>
          </p:nvPr>
        </p:nvSpPr>
        <p:spPr>
          <a:xfrm>
            <a:off x="149832" y="880401"/>
            <a:ext cx="11870932" cy="5725881"/>
          </a:xfrm>
        </p:spPr>
        <p:txBody>
          <a:bodyPr>
            <a:normAutofit/>
          </a:bodyPr>
          <a:lstStyle/>
          <a:p>
            <a:pPr>
              <a:lnSpc>
                <a:spcPct val="120000"/>
              </a:lnSpc>
              <a:spcBef>
                <a:spcPts val="0"/>
              </a:spcBef>
            </a:pPr>
            <a:endParaRPr lang="en-IN" sz="2000"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13330972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85C30-2BAF-44E8-5EF9-FAA6A1786A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C75303-8BDE-0BAB-0EED-177E2DD680D8}"/>
              </a:ext>
            </a:extLst>
          </p:cNvPr>
          <p:cNvSpPr>
            <a:spLocks noGrp="1"/>
          </p:cNvSpPr>
          <p:nvPr>
            <p:ph type="title"/>
          </p:nvPr>
        </p:nvSpPr>
        <p:spPr>
          <a:xfrm>
            <a:off x="149832" y="128820"/>
            <a:ext cx="11870932" cy="552218"/>
          </a:xfrm>
        </p:spPr>
        <p:txBody>
          <a:bodyPr>
            <a:noAutofit/>
          </a:bodyPr>
          <a:lstStyle/>
          <a:p>
            <a:r>
              <a:rPr lang="en-IN" sz="3200" b="1" dirty="0">
                <a:latin typeface="Yu Gothic" panose="020B0400000000000000" pitchFamily="34" charset="-128"/>
                <a:ea typeface="Yu Gothic" panose="020B0400000000000000" pitchFamily="34" charset="-128"/>
              </a:rPr>
              <a:t>s</a:t>
            </a:r>
          </a:p>
        </p:txBody>
      </p:sp>
      <p:sp>
        <p:nvSpPr>
          <p:cNvPr id="3" name="Content Placeholder 2">
            <a:extLst>
              <a:ext uri="{FF2B5EF4-FFF2-40B4-BE49-F238E27FC236}">
                <a16:creationId xmlns:a16="http://schemas.microsoft.com/office/drawing/2014/main" id="{0CEB5DAC-64CA-ED51-7C3D-B871E2BFE8DA}"/>
              </a:ext>
            </a:extLst>
          </p:cNvPr>
          <p:cNvSpPr>
            <a:spLocks noGrp="1"/>
          </p:cNvSpPr>
          <p:nvPr>
            <p:ph idx="1"/>
          </p:nvPr>
        </p:nvSpPr>
        <p:spPr>
          <a:xfrm>
            <a:off x="149832" y="880401"/>
            <a:ext cx="11870932" cy="5725881"/>
          </a:xfrm>
        </p:spPr>
        <p:txBody>
          <a:bodyPr>
            <a:normAutofit/>
          </a:bodyPr>
          <a:lstStyle/>
          <a:p>
            <a:pPr>
              <a:lnSpc>
                <a:spcPct val="120000"/>
              </a:lnSpc>
              <a:spcBef>
                <a:spcPts val="0"/>
              </a:spcBef>
            </a:pPr>
            <a:endParaRPr lang="en-IN" sz="2000"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390930553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CE393-049D-BAC3-56AA-C9D7964E69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E28766-CD8D-8CD4-A085-CEAA049C5FF9}"/>
              </a:ext>
            </a:extLst>
          </p:cNvPr>
          <p:cNvSpPr>
            <a:spLocks noGrp="1"/>
          </p:cNvSpPr>
          <p:nvPr>
            <p:ph type="title"/>
          </p:nvPr>
        </p:nvSpPr>
        <p:spPr>
          <a:xfrm>
            <a:off x="149832" y="128820"/>
            <a:ext cx="11870932" cy="552218"/>
          </a:xfrm>
        </p:spPr>
        <p:txBody>
          <a:bodyPr>
            <a:noAutofit/>
          </a:bodyPr>
          <a:lstStyle/>
          <a:p>
            <a:r>
              <a:rPr lang="en-IN" sz="3200" b="1" dirty="0">
                <a:latin typeface="Yu Gothic" panose="020B0400000000000000" pitchFamily="34" charset="-128"/>
                <a:ea typeface="Yu Gothic" panose="020B0400000000000000" pitchFamily="34" charset="-128"/>
              </a:rPr>
              <a:t>s</a:t>
            </a:r>
          </a:p>
        </p:txBody>
      </p:sp>
      <p:sp>
        <p:nvSpPr>
          <p:cNvPr id="3" name="Content Placeholder 2">
            <a:extLst>
              <a:ext uri="{FF2B5EF4-FFF2-40B4-BE49-F238E27FC236}">
                <a16:creationId xmlns:a16="http://schemas.microsoft.com/office/drawing/2014/main" id="{1DE28C01-AF8B-3606-0ECB-7487C2C66F54}"/>
              </a:ext>
            </a:extLst>
          </p:cNvPr>
          <p:cNvSpPr>
            <a:spLocks noGrp="1"/>
          </p:cNvSpPr>
          <p:nvPr>
            <p:ph idx="1"/>
          </p:nvPr>
        </p:nvSpPr>
        <p:spPr>
          <a:xfrm>
            <a:off x="149832" y="880401"/>
            <a:ext cx="11870932" cy="5725881"/>
          </a:xfrm>
        </p:spPr>
        <p:txBody>
          <a:bodyPr>
            <a:normAutofit/>
          </a:bodyPr>
          <a:lstStyle/>
          <a:p>
            <a:pPr>
              <a:lnSpc>
                <a:spcPct val="120000"/>
              </a:lnSpc>
              <a:spcBef>
                <a:spcPts val="0"/>
              </a:spcBef>
            </a:pPr>
            <a:endParaRPr lang="en-IN" sz="2000"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36971398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3C10D-2B49-01B9-3551-E02EC3516D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CD771B-2C22-D3F2-9DF5-E2AE42D7A757}"/>
              </a:ext>
            </a:extLst>
          </p:cNvPr>
          <p:cNvSpPr>
            <a:spLocks noGrp="1"/>
          </p:cNvSpPr>
          <p:nvPr>
            <p:ph type="title"/>
          </p:nvPr>
        </p:nvSpPr>
        <p:spPr>
          <a:xfrm>
            <a:off x="149832" y="128820"/>
            <a:ext cx="11870932" cy="552218"/>
          </a:xfrm>
        </p:spPr>
        <p:txBody>
          <a:bodyPr>
            <a:noAutofit/>
          </a:bodyPr>
          <a:lstStyle/>
          <a:p>
            <a:r>
              <a:rPr lang="en-IN" sz="3200" b="1" dirty="0">
                <a:latin typeface="Yu Gothic" panose="020B0400000000000000" pitchFamily="34" charset="-128"/>
                <a:ea typeface="Yu Gothic" panose="020B0400000000000000" pitchFamily="34" charset="-128"/>
              </a:rPr>
              <a:t>s</a:t>
            </a:r>
          </a:p>
        </p:txBody>
      </p:sp>
      <p:sp>
        <p:nvSpPr>
          <p:cNvPr id="3" name="Content Placeholder 2">
            <a:extLst>
              <a:ext uri="{FF2B5EF4-FFF2-40B4-BE49-F238E27FC236}">
                <a16:creationId xmlns:a16="http://schemas.microsoft.com/office/drawing/2014/main" id="{939525AD-2C52-E311-64EC-37A7EB3BF7BC}"/>
              </a:ext>
            </a:extLst>
          </p:cNvPr>
          <p:cNvSpPr>
            <a:spLocks noGrp="1"/>
          </p:cNvSpPr>
          <p:nvPr>
            <p:ph idx="1"/>
          </p:nvPr>
        </p:nvSpPr>
        <p:spPr>
          <a:xfrm>
            <a:off x="149832" y="880401"/>
            <a:ext cx="11870932" cy="5725881"/>
          </a:xfrm>
        </p:spPr>
        <p:txBody>
          <a:bodyPr>
            <a:normAutofit/>
          </a:bodyPr>
          <a:lstStyle/>
          <a:p>
            <a:pPr>
              <a:lnSpc>
                <a:spcPct val="120000"/>
              </a:lnSpc>
              <a:spcBef>
                <a:spcPts val="0"/>
              </a:spcBef>
            </a:pPr>
            <a:endParaRPr lang="en-IN" sz="2000"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9982319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TotalTime>
  <Words>2140</Words>
  <Application>Microsoft Office PowerPoint</Application>
  <PresentationFormat>Widescreen</PresentationFormat>
  <Paragraphs>605</Paragraphs>
  <Slides>55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55</vt:i4>
      </vt:variant>
    </vt:vector>
  </HeadingPairs>
  <TitlesOfParts>
    <vt:vector size="61" baseType="lpstr">
      <vt:lpstr>Yu Gothic</vt:lpstr>
      <vt:lpstr>Arial</vt:lpstr>
      <vt:lpstr>Calibri</vt:lpstr>
      <vt:lpstr>Calibri Light</vt:lpstr>
      <vt:lpstr>Segoe UI</vt:lpstr>
      <vt:lpstr>Office Theme</vt:lpstr>
      <vt:lpstr>Internet facing Webapp</vt:lpstr>
      <vt:lpstr>Cloud Access Security Broker</vt:lpstr>
      <vt:lpstr>Problem Statement: If I have internet facing Webapp deployed on Azure App service, Data stored on Storage account, Function app used for actions between Azure App service and Storage account. How many ways attacker would try to exfiltrate data, run malicious script, or download malware or perform different types of attacks on this? please share detailed list. </vt:lpstr>
      <vt:lpstr>Direct Web Application Exploitation Flow</vt:lpstr>
      <vt:lpstr>Direct Web Application Exploitation Flow</vt:lpstr>
      <vt:lpstr>Credential Theft &amp; Secret Leakage Flow</vt:lpstr>
      <vt:lpstr>Exploiting Public Storage Exposure Flow</vt:lpstr>
      <vt:lpstr>SAS Token Abuse Workflow</vt:lpstr>
      <vt:lpstr>Function App Exploitation Flow</vt:lpstr>
      <vt:lpstr>Malicious File Upload → Malware Hosting Flow</vt:lpstr>
      <vt:lpstr>Server-Side Request Forgery (SSRF) Flow</vt:lpstr>
      <vt:lpstr>Supply Chain / Dependency Attack Flow</vt:lpstr>
      <vt:lpstr>CI/CD Pipeline Compromise Flow</vt:lpstr>
      <vt:lpstr>API Abuse / Business Logic Attack Flow</vt:lpstr>
      <vt:lpstr>Cross-Site Scripting (XSS) → Session Hijack Flow</vt:lpstr>
      <vt:lpstr>Managed Identity Privilege Abuse Flow</vt:lpstr>
      <vt:lpstr>Log Injection → Secret Discovery Flow</vt:lpstr>
      <vt:lpstr>Denial-of-Service Leading to Security Bypass Flow</vt:lpstr>
      <vt:lpstr>Lateral Movement Inside Azure Resources Flow</vt:lpstr>
      <vt:lpstr>DNS / Domain Hijacking Flow</vt:lpstr>
      <vt:lpstr>Configuration Drift / Mis-configuration Exploit Flow</vt:lpstr>
      <vt:lpstr>Data Exfiltration via Outbound Channel Flow</vt:lpstr>
      <vt:lpstr>Suspicious Web App Activity Detection Flow</vt:lpstr>
      <vt:lpstr>Storage Account Data Exfiltration Detection</vt:lpstr>
      <vt:lpstr>Compromised Managed Identity Detection</vt:lpstr>
      <vt:lpstr>Function App Exploitation Detection</vt:lpstr>
      <vt:lpstr>Public Exposure / Misconfiguration Detection</vt:lpstr>
      <vt:lpstr>Suspicious Deployment / Code Change Detection</vt:lpstr>
      <vt:lpstr>Malware Hosting or Upload Detection</vt:lpstr>
      <vt:lpstr>SOC Incident Intake Workflow</vt:lpstr>
      <vt:lpstr>Web App Compromise Response Flow</vt:lpstr>
      <vt:lpstr>Storage Data Exfiltration Response Flow</vt:lpstr>
      <vt:lpstr>Identity Compromise Response Flow</vt:lpstr>
      <vt:lpstr>Function App Malware Execution Response</vt:lpstr>
      <vt:lpstr>Automated SOAR Response Workflow</vt:lpstr>
      <vt:lpstr>Threat Hunting Workflow (Proactive SOC)</vt:lpstr>
      <vt:lpstr>Post-Incident Recovery Workflow</vt:lpstr>
      <vt:lpstr>Continuous Monitoring Loop (SOC Operations)</vt:lpstr>
      <vt:lpstr>s</vt:lpstr>
      <vt:lpstr>s</vt:lpstr>
      <vt:lpstr>s</vt:lpstr>
      <vt:lpstr>s</vt:lpstr>
      <vt:lpstr>s</vt:lpstr>
      <vt:lpstr>s</vt:lpstr>
      <vt:lpstr>s</vt:lpstr>
      <vt:lpstr>s</vt:lpstr>
      <vt:lpstr>s</vt:lpstr>
      <vt:lpstr>s</vt:lpstr>
      <vt:lpstr>s</vt:lpstr>
      <vt:lpstr>s</vt:lpstr>
      <vt:lpstr>s</vt:lpstr>
      <vt:lpstr>s</vt:lpstr>
      <vt:lpstr>s</vt:lpstr>
      <vt:lpstr>s</vt:lpstr>
      <vt:lpst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sandeep j0352</dc:creator>
  <cp:lastModifiedBy>sandeep j0352</cp:lastModifiedBy>
  <cp:revision>65</cp:revision>
  <dcterms:created xsi:type="dcterms:W3CDTF">2025-03-27T17:37:20Z</dcterms:created>
  <dcterms:modified xsi:type="dcterms:W3CDTF">2026-03-03T15:44:23Z</dcterms:modified>
</cp:coreProperties>
</file>