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69" r:id="rId3"/>
    <p:sldId id="257" r:id="rId4"/>
    <p:sldId id="270" r:id="rId5"/>
    <p:sldId id="271" r:id="rId6"/>
    <p:sldId id="279" r:id="rId7"/>
    <p:sldId id="275" r:id="rId8"/>
    <p:sldId id="280" r:id="rId9"/>
    <p:sldId id="281" r:id="rId10"/>
    <p:sldId id="277" r:id="rId11"/>
    <p:sldId id="278" r:id="rId12"/>
    <p:sldId id="276" r:id="rId13"/>
    <p:sldId id="272" r:id="rId14"/>
    <p:sldId id="274" r:id="rId15"/>
    <p:sldId id="273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32FF163-B6FB-4D23-824C-D4CBFE363E35}">
          <p14:sldIdLst>
            <p14:sldId id="256"/>
            <p14:sldId id="269"/>
          </p14:sldIdLst>
        </p14:section>
        <p14:section name="3-tier architecture" id="{C371DB69-0433-46FA-8932-06365CA7F358}">
          <p14:sldIdLst>
            <p14:sldId id="257"/>
            <p14:sldId id="270"/>
            <p14:sldId id="271"/>
            <p14:sldId id="279"/>
            <p14:sldId id="275"/>
            <p14:sldId id="280"/>
            <p14:sldId id="281"/>
            <p14:sldId id="277"/>
            <p14:sldId id="278"/>
            <p14:sldId id="276"/>
            <p14:sldId id="272"/>
            <p14:sldId id="274"/>
            <p14:sldId id="273"/>
          </p14:sldIdLst>
        </p14:section>
        <p14:section name="Single page application" id="{557DF319-1E5E-4283-ACE1-31A70F8825DF}">
          <p14:sldIdLst>
            <p14:sldId id="258"/>
          </p14:sldIdLst>
        </p14:section>
        <p14:section name="Micro-services architecture" id="{E5F7DAEF-D2BC-4F23-9BE3-F679758F9895}">
          <p14:sldIdLst>
            <p14:sldId id="259"/>
          </p14:sldIdLst>
        </p14:section>
        <p14:section name="Serverless Webapp" id="{FCFCEFEB-C59B-4890-909D-48C27EA57F5C}">
          <p14:sldIdLst>
            <p14:sldId id="260"/>
          </p14:sldIdLst>
        </p14:section>
        <p14:section name="Monolithic Application" id="{72C3EC8C-6A4B-4C0B-8DF9-04EC703FB652}">
          <p14:sldIdLst>
            <p14:sldId id="261"/>
          </p14:sldIdLst>
        </p14:section>
        <p14:section name="Event-Driven Web Application" id="{4246E530-7D9C-44F2-8A3B-833ED8C97C5D}">
          <p14:sldIdLst>
            <p14:sldId id="262"/>
          </p14:sldIdLst>
        </p14:section>
        <p14:section name="DevSecOps CI/CD" id="{7E9F0CD6-9470-4CAA-B8BC-FC01581A72CE}">
          <p14:sldIdLst>
            <p14:sldId id="263"/>
          </p14:sldIdLst>
        </p14:section>
        <p14:section name="Multi-Region Global" id="{5C88BF7E-6ABA-484E-A733-A34571BC79F6}">
          <p14:sldIdLst>
            <p14:sldId id="264"/>
          </p14:sldIdLst>
        </p14:section>
        <p14:section name="B2B Enterprise API Workflow" id="{AAFF3598-A79B-48C7-86B3-8398B1AEC63A}">
          <p14:sldIdLst>
            <p14:sldId id="265"/>
          </p14:sldIdLst>
        </p14:section>
        <p14:section name="Zero Trust Web Application Workflow" id="{A58574C3-9095-436A-ADF0-BEC7D12DFFA5}">
          <p14:sldIdLst>
            <p14:sldId id="266"/>
          </p14:sldIdLst>
        </p14:section>
        <p14:section name="Hybrid Cloud Workflow" id="{206974A0-0FB6-4C52-BC3A-29F814119107}">
          <p14:sldIdLst>
            <p14:sldId id="267"/>
          </p14:sldIdLst>
        </p14:section>
        <p14:section name="Data-Intensive Analytics Workflow" id="{BF1924DA-6CEA-41B3-B64A-22DABC7A97D8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9" autoAdjust="0"/>
    <p:restoredTop sz="94660" autoAdjust="0"/>
  </p:normalViewPr>
  <p:slideViewPr>
    <p:cSldViewPr snapToGrid="0">
      <p:cViewPr varScale="1">
        <p:scale>
          <a:sx n="62" d="100"/>
          <a:sy n="62" d="100"/>
        </p:scale>
        <p:origin x="548" y="44"/>
      </p:cViewPr>
      <p:guideLst/>
    </p:cSldViewPr>
  </p:slideViewPr>
  <p:outlineViewPr>
    <p:cViewPr>
      <p:scale>
        <a:sx n="33" d="100"/>
        <a:sy n="33" d="100"/>
      </p:scale>
      <p:origin x="0" y="-13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96"/>
    </p:cViewPr>
  </p:sorterViewPr>
  <p:notesViewPr>
    <p:cSldViewPr snapToGrid="0">
      <p:cViewPr varScale="1">
        <p:scale>
          <a:sx n="50" d="100"/>
          <a:sy n="50" d="100"/>
        </p:scale>
        <p:origin x="1960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66B7FC-4B80-49AE-AA46-D7FDD12F67A4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BC5E00-29F5-4A50-A88D-DC8D1C3DD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966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C5E00-29F5-4A50-A88D-DC8D1C3DD9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766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D5717-1019-2A6A-0F83-F6DCEDF75A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8259FF-9F2D-024A-0658-BB3E30DC2A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1957E-4991-6E3C-B340-360AAE41D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F23C-1310-4AE9-8A88-B97D8912F5F8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75233-36F2-6875-33E7-83BDF110A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6385B-2F16-1C38-BD37-9608432C7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069C-F76C-4E05-9370-F145EE71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935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F86B7-4A4E-FD20-4F60-4ED766F63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EB379-C316-8B21-B859-BA5CD75DE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3BFF5-A461-C2A7-2D0E-DC16DD9FB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F23C-1310-4AE9-8A88-B97D8912F5F8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D7C39-2FFA-77B1-737D-48EEE7E8F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4A56C-B296-CF96-D74A-25986BFEF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069C-F76C-4E05-9370-F145EE71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168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A651F-5F82-7ECB-295C-1D22ECF98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31BC5-8BCB-63E0-212A-A8EB9BE53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91986-FFFD-6CCC-D56C-85FF2E007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F23C-1310-4AE9-8A88-B97D8912F5F8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80FB8-3F39-DE2C-D007-0B45676A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C98D3-7488-2295-CA0C-7DE181784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069C-F76C-4E05-9370-F145EE71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849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97BFA-5400-FD51-A939-4784FB2F1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A4EB9-0338-D667-EEF5-3D5A1358B1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D1864-EB9B-0C3A-407C-774FFBE1B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87A6C5-C86C-E979-B75A-3EC8EB947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F23C-1310-4AE9-8A88-B97D8912F5F8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B6F86F-9EB5-F2AF-68CD-A554A425A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B4A8E-13F0-30C8-B0D0-D251E2C64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069C-F76C-4E05-9370-F145EE71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927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4A3EB-2215-BC37-0686-1B8F62FFA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B6208-BC2B-7C48-2E81-86AB46E0A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4F56B-2054-9B06-EE31-6705197A7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9551F0-03EA-613E-BAD1-3A650899A8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E9F872-3317-5CD9-4FC8-1538809FE9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559287-FA75-257C-B1C7-BF77CFAA5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F23C-1310-4AE9-8A88-B97D8912F5F8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110E04-29E3-A7F8-6C79-8E4190D4B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950C5-1250-C864-FD05-667CDFF75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069C-F76C-4E05-9370-F145EE71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914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7954E-6FE2-CBCC-6539-9B86661B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44FF97-E577-213F-A104-7EF35B664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F23C-1310-4AE9-8A88-B97D8912F5F8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828DAF-D6FE-BA18-3617-13378B8C4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D39D2C-27BE-2274-4BE1-23A716973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069C-F76C-4E05-9370-F145EE71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772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7F0E3C-531B-C2C4-632B-0E52BB60E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F23C-1310-4AE9-8A88-B97D8912F5F8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C56260-C65D-50DE-B219-3FE64C67D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E83A2-134E-51D5-7BDE-40E30501F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069C-F76C-4E05-9370-F145EE71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76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0B576-E207-A55F-5977-131541B6A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32343-5CDD-E9C8-0094-B9747379E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7DD739-EC47-96EA-ABD0-C1646E6FD8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D7266-E7B8-4B72-E6F7-2A65607E5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F23C-1310-4AE9-8A88-B97D8912F5F8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CC216E-FDD4-63AB-EB9E-759FA9072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5A6FA-7ED4-B62B-6C56-ABE917737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069C-F76C-4E05-9370-F145EE71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697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D081F-7576-6A53-49DF-F951CD759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E67C71-0585-E80C-6B7C-FB966F32F8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AD5B0-43D5-E2B6-BB08-776B8CBD6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E1C555-3A76-3434-E939-CD9A25C32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F23C-1310-4AE9-8A88-B97D8912F5F8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0E4BDF-8122-BF2A-A511-B226D135B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894570-7889-BBF6-252A-3387C27F3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069C-F76C-4E05-9370-F145EE71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530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78DF2-673E-64B9-0128-507F0B1BF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191409-8AC5-5836-8ED2-4621180AAD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71DFB-41C9-EE5A-D9C5-7145C18CF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F23C-1310-4AE9-8A88-B97D8912F5F8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E342C-BA32-6AA2-49BC-8D2CE5480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0F372-1FA6-B131-E53C-FF257D43F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069C-F76C-4E05-9370-F145EE71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260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F8E44F-F6E1-DB69-A7D3-F69D3402B6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2552E4-5EDA-21E4-8EC5-9D9A7E6C96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A3CD8-6D3C-C6EA-0C66-C76BD6FAE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F23C-1310-4AE9-8A88-B97D8912F5F8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05CF6-813E-1DDF-1C06-1096FB45D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72386-28A9-A9B9-2594-9A2B7B17C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069C-F76C-4E05-9370-F145EE71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052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543517-2E24-071C-FE9D-CFF8D8063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D8644-7B21-4090-EA4C-27090DC97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A7987-E5FE-0A74-E34B-9F6BCB0CD2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8F23C-1310-4AE9-8A88-B97D8912F5F8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5A1AE-3428-B6D1-D7E6-0BDA745E19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96431-1489-E0EA-8705-857C07C20C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59069C-F76C-4E05-9370-F145EE71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26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12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image" Target="../media/image12.png"/><Relationship Id="rId4" Type="http://schemas.openxmlformats.org/officeDocument/2006/relationships/image" Target="../media/image8.sv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B9DD6-B3AD-C9A0-66D4-ABA64B76AA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Enterprise web application workflows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C53BB6-785F-8153-624F-9863DEEEC4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Apps</a:t>
            </a:r>
          </a:p>
        </p:txBody>
      </p:sp>
    </p:spTree>
    <p:extLst>
      <p:ext uri="{BB962C8B-B14F-4D97-AF65-F5344CB8AC3E}">
        <p14:creationId xmlns:p14="http://schemas.microsoft.com/office/powerpoint/2010/main" val="527126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E7390-2AE7-2BA0-085E-04FA83477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5F127-B9B1-B119-AA26-C5D50E19E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75" y="180191"/>
            <a:ext cx="11757917" cy="600645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Types of enterprise webapp workflows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CB250-C2AC-6303-60DB-38BA81D85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474" y="993417"/>
            <a:ext cx="11655177" cy="5684391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IN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Traditional 3-Tier Architecture (Multi-Tier)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Single Page Application (SPA) Workflow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IN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Microservices Architecture Workflow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IN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Serverless Web Application Workflow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IN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Monolithic Application Workflow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IN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Event-Driven Web Application Workflow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DevSecOps CI/CD Workflow (Enterprise)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IN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Multi-Region Global Workflow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IN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B2B Enterprise API Workflow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Zero Trust Web Application Workflow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IN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Hybrid Cloud Workflow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IN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Data-Intensive Analytics Workflow</a:t>
            </a:r>
          </a:p>
        </p:txBody>
      </p:sp>
    </p:spTree>
    <p:extLst>
      <p:ext uri="{BB962C8B-B14F-4D97-AF65-F5344CB8AC3E}">
        <p14:creationId xmlns:p14="http://schemas.microsoft.com/office/powerpoint/2010/main" val="530651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09E95-58AE-D562-397C-CDF2B756A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76" y="180191"/>
            <a:ext cx="9159564" cy="600645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Traditional 3-Tier Architecture (Multi-Tier)</a:t>
            </a:r>
          </a:p>
        </p:txBody>
      </p:sp>
      <p:pic>
        <p:nvPicPr>
          <p:cNvPr id="6" name="Graphic 5" descr="Internet">
            <a:extLst>
              <a:ext uri="{FF2B5EF4-FFF2-40B4-BE49-F238E27FC236}">
                <a16:creationId xmlns:a16="http://schemas.microsoft.com/office/drawing/2014/main" id="{B45AE7D4-3F7B-19A5-7AC2-D6E034469C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9529" y="1149216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71253-965C-5154-E418-B8805E6A07B3}"/>
              </a:ext>
            </a:extLst>
          </p:cNvPr>
          <p:cNvSpPr txBox="1"/>
          <p:nvPr/>
        </p:nvSpPr>
        <p:spPr>
          <a:xfrm>
            <a:off x="934129" y="2583446"/>
            <a:ext cx="1382699" cy="340519"/>
          </a:xfrm>
          <a:prstGeom prst="roundRect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Web server</a:t>
            </a:r>
          </a:p>
        </p:txBody>
      </p:sp>
      <p:pic>
        <p:nvPicPr>
          <p:cNvPr id="9" name="Graphic 8" descr="Web design">
            <a:extLst>
              <a:ext uri="{FF2B5EF4-FFF2-40B4-BE49-F238E27FC236}">
                <a16:creationId xmlns:a16="http://schemas.microsoft.com/office/drawing/2014/main" id="{51013FBB-31D0-887B-E962-FDB81E3EF3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9529" y="2583446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304569-6C9D-FDFA-28E0-21149A557FDF}"/>
              </a:ext>
            </a:extLst>
          </p:cNvPr>
          <p:cNvSpPr txBox="1"/>
          <p:nvPr/>
        </p:nvSpPr>
        <p:spPr>
          <a:xfrm>
            <a:off x="938064" y="1264262"/>
            <a:ext cx="1382699" cy="340519"/>
          </a:xfrm>
          <a:prstGeom prst="roundRect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4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User browser</a:t>
            </a:r>
          </a:p>
        </p:txBody>
      </p:sp>
      <p:pic>
        <p:nvPicPr>
          <p:cNvPr id="12" name="Graphic 11" descr="Database">
            <a:extLst>
              <a:ext uri="{FF2B5EF4-FFF2-40B4-BE49-F238E27FC236}">
                <a16:creationId xmlns:a16="http://schemas.microsoft.com/office/drawing/2014/main" id="{11F3D3EA-3F10-D8C7-5F1C-BBA77E8C73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9529" y="5208828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7716D86-C374-520F-5CE4-ACF48BA9FBF0}"/>
              </a:ext>
            </a:extLst>
          </p:cNvPr>
          <p:cNvSpPr txBox="1"/>
          <p:nvPr/>
        </p:nvSpPr>
        <p:spPr>
          <a:xfrm>
            <a:off x="934129" y="5169946"/>
            <a:ext cx="1382699" cy="578882"/>
          </a:xfrm>
          <a:prstGeom prst="roundRect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Database server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0EFFC1-B8A0-D891-29F7-B99A0B4F1430}"/>
              </a:ext>
            </a:extLst>
          </p:cNvPr>
          <p:cNvSpPr txBox="1"/>
          <p:nvPr/>
        </p:nvSpPr>
        <p:spPr>
          <a:xfrm>
            <a:off x="934129" y="3792391"/>
            <a:ext cx="1382699" cy="578882"/>
          </a:xfrm>
          <a:prstGeom prst="roundRect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Application server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40AE1E-2241-6F1E-20F8-CE8CA1F136E5}"/>
              </a:ext>
            </a:extLst>
          </p:cNvPr>
          <p:cNvSpPr txBox="1"/>
          <p:nvPr/>
        </p:nvSpPr>
        <p:spPr>
          <a:xfrm>
            <a:off x="2474585" y="3792391"/>
            <a:ext cx="1533834" cy="340519"/>
          </a:xfrm>
          <a:prstGeom prst="roundRect">
            <a:avLst/>
          </a:prstGeom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Yu Gothic" panose="020B0400000000000000" pitchFamily="34" charset="-128"/>
                <a:ea typeface="Yu Gothic" panose="020B0400000000000000" pitchFamily="34" charset="-128"/>
              </a:rPr>
              <a:t>Business logic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806CE4-549D-3583-E622-E7B56E11810A}"/>
              </a:ext>
            </a:extLst>
          </p:cNvPr>
          <p:cNvSpPr txBox="1"/>
          <p:nvPr/>
        </p:nvSpPr>
        <p:spPr>
          <a:xfrm>
            <a:off x="2478520" y="1222068"/>
            <a:ext cx="1533834" cy="578882"/>
          </a:xfrm>
          <a:prstGeom prst="roundRect">
            <a:avLst/>
          </a:prstGeom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Yu Gothic" panose="020B0400000000000000" pitchFamily="34" charset="-128"/>
                <a:ea typeface="Yu Gothic" panose="020B0400000000000000" pitchFamily="34" charset="-128"/>
              </a:rPr>
              <a:t>Presentation layer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15ECC5-E1B7-B26A-098A-19E474D74731}"/>
              </a:ext>
            </a:extLst>
          </p:cNvPr>
          <p:cNvSpPr txBox="1"/>
          <p:nvPr/>
        </p:nvSpPr>
        <p:spPr>
          <a:xfrm>
            <a:off x="2474585" y="2512666"/>
            <a:ext cx="1533834" cy="340519"/>
          </a:xfrm>
          <a:prstGeom prst="roundRect">
            <a:avLst/>
          </a:prstGeom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Yu Gothic" panose="020B0400000000000000" pitchFamily="34" charset="-128"/>
                <a:ea typeface="Yu Gothic" panose="020B0400000000000000" pitchFamily="34" charset="-128"/>
              </a:rPr>
              <a:t>Load balancer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3C6851-5156-D0F8-2FA9-EC5CC3E15F94}"/>
              </a:ext>
            </a:extLst>
          </p:cNvPr>
          <p:cNvSpPr txBox="1"/>
          <p:nvPr/>
        </p:nvSpPr>
        <p:spPr>
          <a:xfrm>
            <a:off x="2474585" y="5289127"/>
            <a:ext cx="1533834" cy="340519"/>
          </a:xfrm>
          <a:prstGeom prst="roundRect">
            <a:avLst/>
          </a:prstGeom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Yu Gothic" panose="020B0400000000000000" pitchFamily="34" charset="-128"/>
                <a:ea typeface="Yu Gothic" panose="020B0400000000000000" pitchFamily="34" charset="-128"/>
              </a:rPr>
              <a:t>Data layer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8E79316-C231-0926-B07C-2E5516A90599}"/>
              </a:ext>
            </a:extLst>
          </p:cNvPr>
          <p:cNvSpPr txBox="1"/>
          <p:nvPr/>
        </p:nvSpPr>
        <p:spPr>
          <a:xfrm>
            <a:off x="1758168" y="4534963"/>
            <a:ext cx="1117320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accent2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Response back to User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3999868-15CF-EAA9-0BB2-17BA1B50E3DE}"/>
              </a:ext>
            </a:extLst>
          </p:cNvPr>
          <p:cNvCxnSpPr>
            <a:stCxn id="10" idx="2"/>
            <a:endCxn id="7" idx="0"/>
          </p:cNvCxnSpPr>
          <p:nvPr/>
        </p:nvCxnSpPr>
        <p:spPr>
          <a:xfrm flipH="1">
            <a:off x="1625479" y="1604781"/>
            <a:ext cx="3935" cy="978665"/>
          </a:xfrm>
          <a:prstGeom prst="straightConnector1">
            <a:avLst/>
          </a:prstGeom>
          <a:ln w="28575">
            <a:solidFill>
              <a:srgbClr val="002060"/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2B684FA-ABDD-68D1-C83D-020A37563BA0}"/>
              </a:ext>
            </a:extLst>
          </p:cNvPr>
          <p:cNvCxnSpPr>
            <a:cxnSpLocks/>
            <a:stCxn id="7" idx="2"/>
            <a:endCxn id="14" idx="0"/>
          </p:cNvCxnSpPr>
          <p:nvPr/>
        </p:nvCxnSpPr>
        <p:spPr>
          <a:xfrm>
            <a:off x="1625479" y="2923965"/>
            <a:ext cx="0" cy="868426"/>
          </a:xfrm>
          <a:prstGeom prst="straightConnector1">
            <a:avLst/>
          </a:prstGeom>
          <a:ln w="28575">
            <a:solidFill>
              <a:srgbClr val="002060"/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ACA0796-8773-C494-3D1A-F493C9FE92E0}"/>
              </a:ext>
            </a:extLst>
          </p:cNvPr>
          <p:cNvCxnSpPr>
            <a:cxnSpLocks/>
            <a:stCxn id="14" idx="2"/>
            <a:endCxn id="13" idx="0"/>
          </p:cNvCxnSpPr>
          <p:nvPr/>
        </p:nvCxnSpPr>
        <p:spPr>
          <a:xfrm>
            <a:off x="1625479" y="4371273"/>
            <a:ext cx="0" cy="798673"/>
          </a:xfrm>
          <a:prstGeom prst="straightConnector1">
            <a:avLst/>
          </a:prstGeom>
          <a:ln w="28575">
            <a:solidFill>
              <a:srgbClr val="002060"/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Graphic 2" descr="Internet">
            <a:extLst>
              <a:ext uri="{FF2B5EF4-FFF2-40B4-BE49-F238E27FC236}">
                <a16:creationId xmlns:a16="http://schemas.microsoft.com/office/drawing/2014/main" id="{AB8B800A-492A-77C3-782D-424B974149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38957" y="1596290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Graphic 3" descr="Web design">
            <a:extLst>
              <a:ext uri="{FF2B5EF4-FFF2-40B4-BE49-F238E27FC236}">
                <a16:creationId xmlns:a16="http://schemas.microsoft.com/office/drawing/2014/main" id="{8303AE67-F3E5-D88B-FC03-63D926CC24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38957" y="2913706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Graphic 4" descr="Database">
            <a:extLst>
              <a:ext uri="{FF2B5EF4-FFF2-40B4-BE49-F238E27FC236}">
                <a16:creationId xmlns:a16="http://schemas.microsoft.com/office/drawing/2014/main" id="{47B314FC-03E6-68D9-AA60-9D4C92F58E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91799" y="5639903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DB51858-149C-3F2C-C508-BFB32E971050}"/>
              </a:ext>
            </a:extLst>
          </p:cNvPr>
          <p:cNvSpPr txBox="1"/>
          <p:nvPr/>
        </p:nvSpPr>
        <p:spPr>
          <a:xfrm>
            <a:off x="8254024" y="463423"/>
            <a:ext cx="2796648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Level-0: </a:t>
            </a:r>
          </a:p>
          <a:p>
            <a:pPr algn="ctr"/>
            <a:r>
              <a:rPr lang="en-IN" sz="14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High-Level Context Flow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55F1D1-270C-B814-F4F6-1027A2EF9FCB}"/>
              </a:ext>
            </a:extLst>
          </p:cNvPr>
          <p:cNvSpPr txBox="1"/>
          <p:nvPr/>
        </p:nvSpPr>
        <p:spPr>
          <a:xfrm>
            <a:off x="9100374" y="3033793"/>
            <a:ext cx="1382699" cy="340519"/>
          </a:xfrm>
          <a:prstGeom prst="roundRect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Web server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6B114-40EF-47E8-21EB-D6872E51C102}"/>
              </a:ext>
            </a:extLst>
          </p:cNvPr>
          <p:cNvSpPr txBox="1"/>
          <p:nvPr/>
        </p:nvSpPr>
        <p:spPr>
          <a:xfrm>
            <a:off x="9104309" y="1714609"/>
            <a:ext cx="1369627" cy="340519"/>
          </a:xfrm>
          <a:prstGeom prst="roundRect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4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External user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F6E471-15C2-CAAC-44D0-C5FC07246278}"/>
              </a:ext>
            </a:extLst>
          </p:cNvPr>
          <p:cNvSpPr txBox="1"/>
          <p:nvPr/>
        </p:nvSpPr>
        <p:spPr>
          <a:xfrm>
            <a:off x="9100374" y="5620293"/>
            <a:ext cx="1382699" cy="578882"/>
          </a:xfrm>
          <a:prstGeom prst="roundRect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Database server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51BEBC-F1CA-1D5E-E761-7D997192F730}"/>
              </a:ext>
            </a:extLst>
          </p:cNvPr>
          <p:cNvSpPr txBox="1"/>
          <p:nvPr/>
        </p:nvSpPr>
        <p:spPr>
          <a:xfrm>
            <a:off x="9100374" y="4242738"/>
            <a:ext cx="1382699" cy="578882"/>
          </a:xfrm>
          <a:prstGeom prst="roundRect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Application server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CB9DB8-6448-2674-17F3-08733D8067A4}"/>
              </a:ext>
            </a:extLst>
          </p:cNvPr>
          <p:cNvSpPr txBox="1"/>
          <p:nvPr/>
        </p:nvSpPr>
        <p:spPr>
          <a:xfrm>
            <a:off x="7137008" y="2333878"/>
            <a:ext cx="2234032" cy="476726"/>
          </a:xfrm>
          <a:prstGeom prst="roundRect">
            <a:avLst/>
          </a:prstGeom>
          <a:ln w="19050"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100" dirty="0">
                <a:solidFill>
                  <a:schemeClr val="accent5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HTTPS Request</a:t>
            </a:r>
          </a:p>
          <a:p>
            <a:pPr algn="ctr"/>
            <a:r>
              <a:rPr lang="en-IN" sz="1100" dirty="0">
                <a:solidFill>
                  <a:schemeClr val="accent5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(Login/ Transaction/ API Call)</a:t>
            </a:r>
          </a:p>
        </p:txBody>
      </p:sp>
      <p:pic>
        <p:nvPicPr>
          <p:cNvPr id="23" name="Graphic 22" descr="User">
            <a:extLst>
              <a:ext uri="{FF2B5EF4-FFF2-40B4-BE49-F238E27FC236}">
                <a16:creationId xmlns:a16="http://schemas.microsoft.com/office/drawing/2014/main" id="{71D83ED8-E80E-0D5D-4D69-07B22094AD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65125" y="1132415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BF04548-365A-CBCF-5EFF-B2A4F30C78A6}"/>
              </a:ext>
            </a:extLst>
          </p:cNvPr>
          <p:cNvSpPr txBox="1"/>
          <p:nvPr/>
        </p:nvSpPr>
        <p:spPr>
          <a:xfrm>
            <a:off x="7613083" y="3566079"/>
            <a:ext cx="1885247" cy="476726"/>
          </a:xfrm>
          <a:prstGeom prst="roundRect">
            <a:avLst/>
          </a:prstGeom>
          <a:ln w="19050"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100" dirty="0">
                <a:solidFill>
                  <a:schemeClr val="accent4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Forward Request</a:t>
            </a:r>
          </a:p>
          <a:p>
            <a:pPr algn="ctr"/>
            <a:r>
              <a:rPr lang="en-IN" sz="1100" dirty="0">
                <a:solidFill>
                  <a:schemeClr val="accent4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(Internal secure channel)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73C1D4-F3CE-D730-9202-CF2D7ADE5346}"/>
              </a:ext>
            </a:extLst>
          </p:cNvPr>
          <p:cNvSpPr txBox="1"/>
          <p:nvPr/>
        </p:nvSpPr>
        <p:spPr>
          <a:xfrm>
            <a:off x="7865901" y="4982593"/>
            <a:ext cx="1505139" cy="476726"/>
          </a:xfrm>
          <a:prstGeom prst="roundRect">
            <a:avLst/>
          </a:prstGeom>
          <a:ln w="19050"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100" dirty="0">
                <a:solidFill>
                  <a:schemeClr val="accent3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SQL Query/ Stored procedure calls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77EFCE7-C216-299D-CD0A-51AE9C22A94B}"/>
              </a:ext>
            </a:extLst>
          </p:cNvPr>
          <p:cNvCxnSpPr>
            <a:cxnSpLocks/>
          </p:cNvCxnSpPr>
          <p:nvPr/>
        </p:nvCxnSpPr>
        <p:spPr>
          <a:xfrm flipH="1">
            <a:off x="9461190" y="2055128"/>
            <a:ext cx="3935" cy="978665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EF655CB-765A-CD33-08E1-2058B38A4A6E}"/>
              </a:ext>
            </a:extLst>
          </p:cNvPr>
          <p:cNvCxnSpPr>
            <a:cxnSpLocks/>
          </p:cNvCxnSpPr>
          <p:nvPr/>
        </p:nvCxnSpPr>
        <p:spPr>
          <a:xfrm>
            <a:off x="9461190" y="3374312"/>
            <a:ext cx="11588" cy="86026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FEE4706-3FAD-5679-66EC-2E1140F2D2EF}"/>
              </a:ext>
            </a:extLst>
          </p:cNvPr>
          <p:cNvCxnSpPr>
            <a:cxnSpLocks/>
          </p:cNvCxnSpPr>
          <p:nvPr/>
        </p:nvCxnSpPr>
        <p:spPr>
          <a:xfrm>
            <a:off x="9455973" y="4821620"/>
            <a:ext cx="0" cy="798673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2F1649C-3842-C31C-BD6A-15B426E5C457}"/>
              </a:ext>
            </a:extLst>
          </p:cNvPr>
          <p:cNvCxnSpPr>
            <a:cxnSpLocks/>
          </p:cNvCxnSpPr>
          <p:nvPr/>
        </p:nvCxnSpPr>
        <p:spPr>
          <a:xfrm flipV="1">
            <a:off x="10036325" y="4821620"/>
            <a:ext cx="0" cy="76545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4D40DA5-B525-51C6-16A7-64998708B1D6}"/>
              </a:ext>
            </a:extLst>
          </p:cNvPr>
          <p:cNvCxnSpPr>
            <a:cxnSpLocks/>
          </p:cNvCxnSpPr>
          <p:nvPr/>
        </p:nvCxnSpPr>
        <p:spPr>
          <a:xfrm flipH="1" flipV="1">
            <a:off x="10022812" y="3374312"/>
            <a:ext cx="13513" cy="860260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259505E-2FC9-A41A-0AD5-F01E2979A553}"/>
              </a:ext>
            </a:extLst>
          </p:cNvPr>
          <p:cNvCxnSpPr>
            <a:cxnSpLocks/>
          </p:cNvCxnSpPr>
          <p:nvPr/>
        </p:nvCxnSpPr>
        <p:spPr>
          <a:xfrm flipV="1">
            <a:off x="10036325" y="2055128"/>
            <a:ext cx="0" cy="978665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BD69CE0-5816-F082-D702-8999FCB24484}"/>
              </a:ext>
            </a:extLst>
          </p:cNvPr>
          <p:cNvSpPr txBox="1"/>
          <p:nvPr/>
        </p:nvSpPr>
        <p:spPr>
          <a:xfrm>
            <a:off x="10031628" y="5138892"/>
            <a:ext cx="1021433" cy="26161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IN" sz="1100" dirty="0">
                <a:solidFill>
                  <a:schemeClr val="accent2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Query Result</a:t>
            </a:r>
            <a:endParaRPr lang="en-IN" sz="1100" dirty="0">
              <a:solidFill>
                <a:schemeClr val="accent2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21E3B5-983C-3B60-BC78-749654A4F219}"/>
              </a:ext>
            </a:extLst>
          </p:cNvPr>
          <p:cNvSpPr txBox="1"/>
          <p:nvPr/>
        </p:nvSpPr>
        <p:spPr>
          <a:xfrm>
            <a:off x="10097803" y="3656125"/>
            <a:ext cx="1533833" cy="43088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sz="1100" dirty="0">
                <a:solidFill>
                  <a:schemeClr val="accent3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Processed Response (HTML/JSON)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A366198-6204-DF56-D8E3-161597D454C3}"/>
              </a:ext>
            </a:extLst>
          </p:cNvPr>
          <p:cNvSpPr txBox="1"/>
          <p:nvPr/>
        </p:nvSpPr>
        <p:spPr>
          <a:xfrm>
            <a:off x="10148604" y="2438200"/>
            <a:ext cx="1382698" cy="289441"/>
          </a:xfrm>
          <a:prstGeom prst="roundRect">
            <a:avLst/>
          </a:prstGeom>
          <a:ln w="19050"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100" dirty="0">
                <a:solidFill>
                  <a:schemeClr val="accent4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HTTPS Response</a:t>
            </a:r>
          </a:p>
        </p:txBody>
      </p:sp>
    </p:spTree>
    <p:extLst>
      <p:ext uri="{BB962C8B-B14F-4D97-AF65-F5344CB8AC3E}">
        <p14:creationId xmlns:p14="http://schemas.microsoft.com/office/powerpoint/2010/main" val="1321202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C3F52-BF42-9D71-8017-D2972881B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081C8-EFBB-0158-A942-1171E8052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76" y="180191"/>
            <a:ext cx="1761161" cy="600645"/>
          </a:xfrm>
        </p:spPr>
        <p:txBody>
          <a:bodyPr>
            <a:noAutofit/>
          </a:bodyPr>
          <a:lstStyle/>
          <a:p>
            <a:r>
              <a:rPr lang="en-IN" sz="3200" dirty="0"/>
              <a:t>Data flow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5595417-2A43-9B07-DEEE-4DEC017FC965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 flipH="1">
            <a:off x="3071791" y="524459"/>
            <a:ext cx="1" cy="4511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F633416-39D9-6647-91FA-0A4E03B224C0}"/>
              </a:ext>
            </a:extLst>
          </p:cNvPr>
          <p:cNvSpPr txBox="1"/>
          <p:nvPr/>
        </p:nvSpPr>
        <p:spPr>
          <a:xfrm>
            <a:off x="3354473" y="894573"/>
            <a:ext cx="195438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HTTPS Request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>
                <a:latin typeface="Yu Gothic" panose="020B0400000000000000" pitchFamily="34" charset="-128"/>
                <a:ea typeface="Yu Gothic" panose="020B0400000000000000" pitchFamily="34" charset="-128"/>
              </a:rPr>
              <a:t>URL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>
                <a:latin typeface="Yu Gothic" panose="020B0400000000000000" pitchFamily="34" charset="-128"/>
                <a:ea typeface="Yu Gothic" panose="020B0400000000000000" pitchFamily="34" charset="-128"/>
              </a:rPr>
              <a:t>Headers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>
                <a:latin typeface="Yu Gothic" panose="020B0400000000000000" pitchFamily="34" charset="-128"/>
                <a:ea typeface="Yu Gothic" panose="020B0400000000000000" pitchFamily="34" charset="-128"/>
              </a:rPr>
              <a:t>Cookies &amp; Session ID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>
                <a:latin typeface="Yu Gothic" panose="020B0400000000000000" pitchFamily="34" charset="-128"/>
                <a:ea typeface="Yu Gothic" panose="020B0400000000000000" pitchFamily="34" charset="-128"/>
              </a:rPr>
              <a:t>Form Data / JSON Payload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3098C45-EA54-2782-CF3E-EC8E00C7D0DA}"/>
              </a:ext>
            </a:extLst>
          </p:cNvPr>
          <p:cNvCxnSpPr>
            <a:cxnSpLocks/>
            <a:stCxn id="4" idx="2"/>
            <a:endCxn id="25" idx="0"/>
          </p:cNvCxnSpPr>
          <p:nvPr/>
        </p:nvCxnSpPr>
        <p:spPr>
          <a:xfrm>
            <a:off x="3071791" y="1549464"/>
            <a:ext cx="0" cy="4511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69C80DD-4CF0-1DAC-525F-AB4E705A5B93}"/>
              </a:ext>
            </a:extLst>
          </p:cNvPr>
          <p:cNvSpPr txBox="1"/>
          <p:nvPr/>
        </p:nvSpPr>
        <p:spPr>
          <a:xfrm>
            <a:off x="3354473" y="1985684"/>
            <a:ext cx="11993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Firewall / WAF</a:t>
            </a:r>
            <a:endParaRPr lang="en-IN" sz="1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73D299D-0E4F-7C97-4F02-0773303EE11F}"/>
              </a:ext>
            </a:extLst>
          </p:cNvPr>
          <p:cNvCxnSpPr>
            <a:cxnSpLocks/>
            <a:stCxn id="25" idx="2"/>
            <a:endCxn id="31" idx="0"/>
          </p:cNvCxnSpPr>
          <p:nvPr/>
        </p:nvCxnSpPr>
        <p:spPr>
          <a:xfrm>
            <a:off x="3071791" y="2574464"/>
            <a:ext cx="0" cy="45114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0AC637D-3015-A3D0-7CF0-026CCE030F2E}"/>
              </a:ext>
            </a:extLst>
          </p:cNvPr>
          <p:cNvSpPr txBox="1"/>
          <p:nvPr/>
        </p:nvSpPr>
        <p:spPr>
          <a:xfrm>
            <a:off x="3354473" y="2795268"/>
            <a:ext cx="226696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Load Balancer</a:t>
            </a:r>
          </a:p>
          <a:p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Session Persistence (if stateful)</a:t>
            </a:r>
          </a:p>
          <a:p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Health Check Validation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531FB14-8BEA-2C32-DA7D-72AD3711BA2F}"/>
              </a:ext>
            </a:extLst>
          </p:cNvPr>
          <p:cNvCxnSpPr>
            <a:cxnSpLocks/>
            <a:stCxn id="31" idx="2"/>
            <a:endCxn id="39" idx="0"/>
          </p:cNvCxnSpPr>
          <p:nvPr/>
        </p:nvCxnSpPr>
        <p:spPr>
          <a:xfrm>
            <a:off x="3071791" y="3599468"/>
            <a:ext cx="0" cy="4511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FAF10F5-A5CA-607B-668F-7370EB92F581}"/>
              </a:ext>
            </a:extLst>
          </p:cNvPr>
          <p:cNvSpPr txBox="1"/>
          <p:nvPr/>
        </p:nvSpPr>
        <p:spPr>
          <a:xfrm>
            <a:off x="3354473" y="3816534"/>
            <a:ext cx="242726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Web server (</a:t>
            </a:r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Nginx / Apache / IIS)</a:t>
            </a:r>
          </a:p>
          <a:p>
            <a:r>
              <a:rPr lang="en-US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Reverse Proxy Logic,</a:t>
            </a:r>
          </a:p>
          <a:p>
            <a:r>
              <a:rPr lang="en-US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Static Content Handling, </a:t>
            </a:r>
          </a:p>
          <a:p>
            <a:r>
              <a:rPr lang="en-US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Header Sanitization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4327CCA-EAC3-6FD1-C17D-689D10ECC6AC}"/>
              </a:ext>
            </a:extLst>
          </p:cNvPr>
          <p:cNvCxnSpPr>
            <a:cxnSpLocks/>
            <a:stCxn id="39" idx="2"/>
            <a:endCxn id="49" idx="0"/>
          </p:cNvCxnSpPr>
          <p:nvPr/>
        </p:nvCxnSpPr>
        <p:spPr>
          <a:xfrm>
            <a:off x="3071791" y="4624473"/>
            <a:ext cx="0" cy="45114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03085220-C2E9-7A4A-086E-4A9013ADC22D}"/>
              </a:ext>
            </a:extLst>
          </p:cNvPr>
          <p:cNvSpPr txBox="1"/>
          <p:nvPr/>
        </p:nvSpPr>
        <p:spPr>
          <a:xfrm>
            <a:off x="3354049" y="4598284"/>
            <a:ext cx="2460930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Application Server </a:t>
            </a:r>
          </a:p>
          <a:p>
            <a:r>
              <a:rPr lang="en-US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Authentication Check</a:t>
            </a:r>
          </a:p>
          <a:p>
            <a:r>
              <a:rPr lang="en-US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Authorization Check (RBAC/ABAC)</a:t>
            </a:r>
          </a:p>
          <a:p>
            <a:r>
              <a:rPr lang="en-US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Input Validation</a:t>
            </a:r>
          </a:p>
          <a:p>
            <a:r>
              <a:rPr lang="en-US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Business Logic Execution</a:t>
            </a:r>
            <a:endParaRPr lang="en-IN" sz="1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63" name="Right Brace 62">
            <a:extLst>
              <a:ext uri="{FF2B5EF4-FFF2-40B4-BE49-F238E27FC236}">
                <a16:creationId xmlns:a16="http://schemas.microsoft.com/office/drawing/2014/main" id="{6181ECD1-46EF-A0FC-67C8-D7C2BF24078F}"/>
              </a:ext>
            </a:extLst>
          </p:cNvPr>
          <p:cNvSpPr/>
          <p:nvPr/>
        </p:nvSpPr>
        <p:spPr>
          <a:xfrm>
            <a:off x="5633698" y="2028909"/>
            <a:ext cx="296085" cy="2608073"/>
          </a:xfrm>
          <a:prstGeom prst="rightBrac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1F73B72-F685-5563-1BD9-9D427B57F9F7}"/>
              </a:ext>
            </a:extLst>
          </p:cNvPr>
          <p:cNvSpPr txBox="1"/>
          <p:nvPr/>
        </p:nvSpPr>
        <p:spPr>
          <a:xfrm>
            <a:off x="6202348" y="2834191"/>
            <a:ext cx="276069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Data Handling:</a:t>
            </a:r>
          </a:p>
          <a:p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Terminates SSL (or passes through)</a:t>
            </a:r>
          </a:p>
          <a:p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Routes traffic</a:t>
            </a:r>
          </a:p>
          <a:p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Manages sessions (if sticky)</a:t>
            </a:r>
          </a:p>
          <a:p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Logs request metadata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5F054FA-724D-3EA9-0C51-1C08EDFB26C2}"/>
              </a:ext>
            </a:extLst>
          </p:cNvPr>
          <p:cNvSpPr txBox="1"/>
          <p:nvPr/>
        </p:nvSpPr>
        <p:spPr>
          <a:xfrm>
            <a:off x="5832483" y="472360"/>
            <a:ext cx="26890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Security Controls:</a:t>
            </a:r>
          </a:p>
          <a:p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TLS Encryption</a:t>
            </a:r>
          </a:p>
          <a:p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WAF filtering (SQLi, XSS, RCE protection)</a:t>
            </a:r>
          </a:p>
          <a:p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Rate limiting</a:t>
            </a:r>
          </a:p>
          <a:p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IP filtering</a:t>
            </a:r>
          </a:p>
          <a:p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Bot protection</a:t>
            </a:r>
          </a:p>
        </p:txBody>
      </p:sp>
      <p:sp>
        <p:nvSpPr>
          <p:cNvPr id="66" name="Right Brace 65">
            <a:extLst>
              <a:ext uri="{FF2B5EF4-FFF2-40B4-BE49-F238E27FC236}">
                <a16:creationId xmlns:a16="http://schemas.microsoft.com/office/drawing/2014/main" id="{6F9417FE-C011-20D4-3A1C-498615EBA710}"/>
              </a:ext>
            </a:extLst>
          </p:cNvPr>
          <p:cNvSpPr/>
          <p:nvPr/>
        </p:nvSpPr>
        <p:spPr>
          <a:xfrm>
            <a:off x="5522574" y="240276"/>
            <a:ext cx="278866" cy="1646326"/>
          </a:xfrm>
          <a:prstGeom prst="rightBrac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3A6465F-4F40-E191-F179-4BB1246BCD1B}"/>
              </a:ext>
            </a:extLst>
          </p:cNvPr>
          <p:cNvGrpSpPr/>
          <p:nvPr/>
        </p:nvGrpSpPr>
        <p:grpSpPr>
          <a:xfrm>
            <a:off x="2801791" y="141546"/>
            <a:ext cx="540000" cy="6532937"/>
            <a:chOff x="2512987" y="-12157"/>
            <a:chExt cx="540000" cy="6147459"/>
          </a:xfrm>
        </p:grpSpPr>
        <p:pic>
          <p:nvPicPr>
            <p:cNvPr id="3" name="Graphic 2" descr="User">
              <a:extLst>
                <a:ext uri="{FF2B5EF4-FFF2-40B4-BE49-F238E27FC236}">
                  <a16:creationId xmlns:a16="http://schemas.microsoft.com/office/drawing/2014/main" id="{737D381C-B745-E014-8D76-812834A00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602828" y="-12157"/>
              <a:ext cx="360319" cy="36031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" name="Graphic 3" descr="Internet">
              <a:extLst>
                <a:ext uri="{FF2B5EF4-FFF2-40B4-BE49-F238E27FC236}">
                  <a16:creationId xmlns:a16="http://schemas.microsoft.com/office/drawing/2014/main" id="{7EED6724-C7D5-0707-BE77-D0588DCA3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512987" y="772686"/>
              <a:ext cx="540000" cy="540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7DBB61E0-CFE9-206F-0EA3-F3B31BD3E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 flipV="1">
              <a:off x="2512990" y="1737210"/>
              <a:ext cx="539995" cy="539995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DC8EE4DD-9B86-3DDC-71D8-EE333C6D5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12987" y="2701729"/>
              <a:ext cx="540000" cy="540000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74465012-AADF-FEDF-5BC0-223C8BA3F21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12987" y="3666253"/>
              <a:ext cx="540000" cy="540000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6F2F7643-C818-1371-7893-4ABEF52BCE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12987" y="4630777"/>
              <a:ext cx="540000" cy="540000"/>
            </a:xfrm>
            <a:prstGeom prst="rect">
              <a:avLst/>
            </a:prstGeom>
          </p:spPr>
        </p:pic>
        <p:pic>
          <p:nvPicPr>
            <p:cNvPr id="68" name="Graphic 67" descr="Database">
              <a:extLst>
                <a:ext uri="{FF2B5EF4-FFF2-40B4-BE49-F238E27FC236}">
                  <a16:creationId xmlns:a16="http://schemas.microsoft.com/office/drawing/2014/main" id="{452F7F25-02FF-143E-8C10-A54E3A383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512987" y="5595302"/>
              <a:ext cx="540000" cy="540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BEB6E87-F633-2474-2194-D9F95C98A539}"/>
              </a:ext>
            </a:extLst>
          </p:cNvPr>
          <p:cNvCxnSpPr>
            <a:cxnSpLocks/>
            <a:stCxn id="49" idx="2"/>
            <a:endCxn id="68" idx="0"/>
          </p:cNvCxnSpPr>
          <p:nvPr/>
        </p:nvCxnSpPr>
        <p:spPr>
          <a:xfrm>
            <a:off x="3071791" y="5649477"/>
            <a:ext cx="0" cy="4511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679BF759-2B37-CE55-11FD-B0FDF15C8462}"/>
              </a:ext>
            </a:extLst>
          </p:cNvPr>
          <p:cNvSpPr txBox="1"/>
          <p:nvPr/>
        </p:nvSpPr>
        <p:spPr>
          <a:xfrm>
            <a:off x="3654234" y="5875049"/>
            <a:ext cx="1667444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Database Server </a:t>
            </a:r>
          </a:p>
          <a:p>
            <a:r>
              <a:rPr lang="en-US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Receive SQL Query</a:t>
            </a:r>
          </a:p>
          <a:p>
            <a:r>
              <a:rPr lang="en-US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Validate Schema</a:t>
            </a:r>
          </a:p>
          <a:p>
            <a:r>
              <a:rPr lang="en-US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Execute Query</a:t>
            </a:r>
          </a:p>
          <a:p>
            <a:r>
              <a:rPr lang="en-US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Access Storage Engine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A49245C-43A7-E219-71FD-AD849C8A77A4}"/>
              </a:ext>
            </a:extLst>
          </p:cNvPr>
          <p:cNvSpPr txBox="1"/>
          <p:nvPr/>
        </p:nvSpPr>
        <p:spPr>
          <a:xfrm>
            <a:off x="3120639" y="5699455"/>
            <a:ext cx="22701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4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Parameterized query / ORM call</a:t>
            </a:r>
            <a:endParaRPr lang="en-IN" sz="1100" dirty="0">
              <a:solidFill>
                <a:schemeClr val="accent4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BEF31C-D716-D014-38FE-AAE8859303B4}"/>
              </a:ext>
            </a:extLst>
          </p:cNvPr>
          <p:cNvSpPr txBox="1"/>
          <p:nvPr/>
        </p:nvSpPr>
        <p:spPr>
          <a:xfrm>
            <a:off x="8563066" y="503837"/>
            <a:ext cx="31005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Internal processes of Application layer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FECFC9-1C5F-B419-8BDC-43C366AACA3A}"/>
              </a:ext>
            </a:extLst>
          </p:cNvPr>
          <p:cNvSpPr txBox="1"/>
          <p:nvPr/>
        </p:nvSpPr>
        <p:spPr>
          <a:xfrm>
            <a:off x="8841284" y="2532151"/>
            <a:ext cx="30444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Security controls for Application layer 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EE41472-A29D-3CFF-A8B2-FE461631E1C6}"/>
              </a:ext>
            </a:extLst>
          </p:cNvPr>
          <p:cNvGrpSpPr/>
          <p:nvPr/>
        </p:nvGrpSpPr>
        <p:grpSpPr>
          <a:xfrm>
            <a:off x="9434791" y="893653"/>
            <a:ext cx="1329117" cy="1256314"/>
            <a:chOff x="9113051" y="871108"/>
            <a:chExt cx="1551200" cy="1871673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C234597-5F57-49A3-417E-78257264CFB0}"/>
                </a:ext>
              </a:extLst>
            </p:cNvPr>
            <p:cNvSpPr txBox="1"/>
            <p:nvPr/>
          </p:nvSpPr>
          <p:spPr>
            <a:xfrm>
              <a:off x="9361876" y="1376627"/>
              <a:ext cx="1085485" cy="355116"/>
            </a:xfrm>
            <a:prstGeom prst="roundRect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>
                  <a:latin typeface="Yu Gothic" panose="020B0400000000000000" pitchFamily="34" charset="-128"/>
                  <a:ea typeface="Yu Gothic" panose="020B0400000000000000" pitchFamily="34" charset="-128"/>
                </a:defRPr>
              </a:lvl1pPr>
            </a:lstStyle>
            <a:p>
              <a:r>
                <a:rPr lang="en-IN" sz="800" dirty="0"/>
                <a:t>Controller layer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46303F0-A3D2-0B54-66F1-CF52455ADD9B}"/>
                </a:ext>
              </a:extLst>
            </p:cNvPr>
            <p:cNvSpPr txBox="1"/>
            <p:nvPr/>
          </p:nvSpPr>
          <p:spPr>
            <a:xfrm>
              <a:off x="9113051" y="871108"/>
              <a:ext cx="1551200" cy="355116"/>
            </a:xfrm>
            <a:prstGeom prst="roundRect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IN" sz="800" dirty="0">
                  <a:latin typeface="Yu Gothic" panose="020B0400000000000000" pitchFamily="34" charset="-128"/>
                  <a:ea typeface="Yu Gothic" panose="020B0400000000000000" pitchFamily="34" charset="-128"/>
                </a:rPr>
                <a:t>Request object creation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424B862-F34B-9919-BC0B-D6BE182ABDBA}"/>
                </a:ext>
              </a:extLst>
            </p:cNvPr>
            <p:cNvSpPr txBox="1"/>
            <p:nvPr/>
          </p:nvSpPr>
          <p:spPr>
            <a:xfrm>
              <a:off x="9136519" y="2387665"/>
              <a:ext cx="1505866" cy="355116"/>
            </a:xfrm>
            <a:prstGeom prst="roundRect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>
                  <a:latin typeface="Yu Gothic" panose="020B0400000000000000" pitchFamily="34" charset="-128"/>
                  <a:ea typeface="Yu Gothic" panose="020B0400000000000000" pitchFamily="34" charset="-128"/>
                </a:defRPr>
              </a:lvl1pPr>
            </a:lstStyle>
            <a:p>
              <a:r>
                <a:rPr lang="en-IN" sz="800" dirty="0"/>
                <a:t>Repository / DAO layer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4D1CCDF-FA5A-61E1-8A06-16CCBF9D0BDC}"/>
                </a:ext>
              </a:extLst>
            </p:cNvPr>
            <p:cNvSpPr txBox="1"/>
            <p:nvPr/>
          </p:nvSpPr>
          <p:spPr>
            <a:xfrm>
              <a:off x="9438674" y="1882146"/>
              <a:ext cx="949474" cy="355116"/>
            </a:xfrm>
            <a:prstGeom prst="roundRect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>
                  <a:latin typeface="Yu Gothic" panose="020B0400000000000000" pitchFamily="34" charset="-128"/>
                  <a:ea typeface="Yu Gothic" panose="020B0400000000000000" pitchFamily="34" charset="-128"/>
                </a:defRPr>
              </a:lvl1pPr>
            </a:lstStyle>
            <a:p>
              <a:r>
                <a:rPr lang="en-IN" sz="800" dirty="0"/>
                <a:t>Service layer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24556B6-6D08-B496-3125-BE4E6912D9CB}"/>
              </a:ext>
            </a:extLst>
          </p:cNvPr>
          <p:cNvGrpSpPr/>
          <p:nvPr/>
        </p:nvGrpSpPr>
        <p:grpSpPr>
          <a:xfrm>
            <a:off x="9698290" y="2926259"/>
            <a:ext cx="1305332" cy="1634206"/>
            <a:chOff x="9698291" y="4258564"/>
            <a:chExt cx="1104917" cy="2059720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C84F633-13E0-F67F-D28A-6A2B55B7B75D}"/>
                </a:ext>
              </a:extLst>
            </p:cNvPr>
            <p:cNvGrpSpPr/>
            <p:nvPr/>
          </p:nvGrpSpPr>
          <p:grpSpPr>
            <a:xfrm>
              <a:off x="9730154" y="4258564"/>
              <a:ext cx="1052629" cy="1695447"/>
              <a:chOff x="9730154" y="4258564"/>
              <a:chExt cx="1052629" cy="1695447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71D8A73A-DE55-7998-CE59-8740F95D88BE}"/>
                  </a:ext>
                </a:extLst>
              </p:cNvPr>
              <p:cNvGrpSpPr/>
              <p:nvPr/>
            </p:nvGrpSpPr>
            <p:grpSpPr>
              <a:xfrm>
                <a:off x="9730154" y="4258564"/>
                <a:ext cx="1052629" cy="1331176"/>
                <a:chOff x="9315960" y="871108"/>
                <a:chExt cx="1052629" cy="1331176"/>
              </a:xfrm>
            </p:grpSpPr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FC2DD55-72FE-9503-FDC6-7DE1CB37CCB8}"/>
                    </a:ext>
                  </a:extLst>
                </p:cNvPr>
                <p:cNvSpPr txBox="1"/>
                <p:nvPr/>
              </p:nvSpPr>
              <p:spPr>
                <a:xfrm>
                  <a:off x="9356811" y="1235379"/>
                  <a:ext cx="988902" cy="238363"/>
                </a:xfrm>
                <a:prstGeom prst="roundRect">
                  <a:avLst/>
                </a:prstGeom>
                <a:ln w="19050"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>
                  <a:defPPr>
                    <a:defRPr lang="en-US"/>
                  </a:defPPr>
                  <a:lvl1pPr>
                    <a:defRPr sz="1000">
                      <a:latin typeface="Yu Gothic" panose="020B0400000000000000" pitchFamily="34" charset="-128"/>
                      <a:ea typeface="Yu Gothic" panose="020B0400000000000000" pitchFamily="34" charset="-128"/>
                    </a:defRPr>
                  </a:lvl1pPr>
                </a:lstStyle>
                <a:p>
                  <a:r>
                    <a:rPr lang="en-IN" sz="800" dirty="0"/>
                    <a:t>Output encoding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9819CD1-DB17-1CA6-1179-7C5CCB599B9A}"/>
                    </a:ext>
                  </a:extLst>
                </p:cNvPr>
                <p:cNvSpPr txBox="1"/>
                <p:nvPr/>
              </p:nvSpPr>
              <p:spPr>
                <a:xfrm>
                  <a:off x="9390308" y="871108"/>
                  <a:ext cx="936614" cy="238363"/>
                </a:xfrm>
                <a:prstGeom prst="roundRect">
                  <a:avLst/>
                </a:prstGeom>
                <a:ln w="19050"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r>
                    <a:rPr lang="en-IN" sz="800" dirty="0">
                      <a:latin typeface="Yu Gothic" panose="020B0400000000000000" pitchFamily="34" charset="-128"/>
                      <a:ea typeface="Yu Gothic" panose="020B0400000000000000" pitchFamily="34" charset="-128"/>
                    </a:rPr>
                    <a:t>Input validation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30F2F18-093A-D674-D160-BBBADCF5537E}"/>
                    </a:ext>
                  </a:extLst>
                </p:cNvPr>
                <p:cNvSpPr txBox="1"/>
                <p:nvPr/>
              </p:nvSpPr>
              <p:spPr>
                <a:xfrm>
                  <a:off x="9409916" y="1963921"/>
                  <a:ext cx="902300" cy="238363"/>
                </a:xfrm>
                <a:prstGeom prst="roundRect">
                  <a:avLst/>
                </a:prstGeom>
                <a:ln w="19050"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>
                  <a:defPPr>
                    <a:defRPr lang="en-US"/>
                  </a:defPPr>
                  <a:lvl1pPr>
                    <a:defRPr sz="1000">
                      <a:latin typeface="Yu Gothic" panose="020B0400000000000000" pitchFamily="34" charset="-128"/>
                      <a:ea typeface="Yu Gothic" panose="020B0400000000000000" pitchFamily="34" charset="-128"/>
                    </a:defRPr>
                  </a:lvl1pPr>
                </a:lstStyle>
                <a:p>
                  <a:r>
                    <a:rPr lang="en-IN" sz="800" dirty="0"/>
                    <a:t>Role validation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915A26C-74AF-EF6E-88AD-3D4373FAE0C4}"/>
                    </a:ext>
                  </a:extLst>
                </p:cNvPr>
                <p:cNvSpPr txBox="1"/>
                <p:nvPr/>
              </p:nvSpPr>
              <p:spPr>
                <a:xfrm>
                  <a:off x="9315960" y="1599650"/>
                  <a:ext cx="1052629" cy="238363"/>
                </a:xfrm>
                <a:prstGeom prst="roundRect">
                  <a:avLst/>
                </a:prstGeom>
                <a:ln w="19050"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>
                  <a:defPPr>
                    <a:defRPr lang="en-US"/>
                  </a:defPPr>
                  <a:lvl1pPr>
                    <a:defRPr sz="1000">
                      <a:latin typeface="Yu Gothic" panose="020B0400000000000000" pitchFamily="34" charset="-128"/>
                      <a:ea typeface="Yu Gothic" panose="020B0400000000000000" pitchFamily="34" charset="-128"/>
                    </a:defRPr>
                  </a:lvl1pPr>
                </a:lstStyle>
                <a:p>
                  <a:r>
                    <a:rPr lang="en-IN" sz="800" dirty="0"/>
                    <a:t>Token verification</a:t>
                  </a:r>
                </a:p>
              </p:txBody>
            </p:sp>
          </p:grp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F411D51-720C-A447-6192-010EB4E1283D}"/>
                  </a:ext>
                </a:extLst>
              </p:cNvPr>
              <p:cNvSpPr txBox="1"/>
              <p:nvPr/>
            </p:nvSpPr>
            <p:spPr>
              <a:xfrm>
                <a:off x="9876398" y="5715648"/>
                <a:ext cx="818965" cy="238363"/>
              </a:xfrm>
              <a:prstGeom prst="roundRect">
                <a:avLst/>
              </a:prstGeom>
              <a:ln w="19050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1000">
                    <a:latin typeface="Yu Gothic" panose="020B0400000000000000" pitchFamily="34" charset="-128"/>
                    <a:ea typeface="Yu Gothic" panose="020B0400000000000000" pitchFamily="34" charset="-128"/>
                  </a:defRPr>
                </a:lvl1pPr>
              </a:lstStyle>
              <a:p>
                <a:r>
                  <a:rPr lang="en-IN" sz="800" dirty="0"/>
                  <a:t>Audit logging</a:t>
                </a: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3E4FBD3-839F-FD4F-A4FB-87A38FC6A8B7}"/>
                </a:ext>
              </a:extLst>
            </p:cNvPr>
            <p:cNvSpPr txBox="1"/>
            <p:nvPr/>
          </p:nvSpPr>
          <p:spPr>
            <a:xfrm>
              <a:off x="9698291" y="6079921"/>
              <a:ext cx="1104917" cy="238363"/>
            </a:xfrm>
            <a:prstGeom prst="roundRect">
              <a:avLst/>
            </a:prstGeom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000">
                  <a:latin typeface="Yu Gothic" panose="020B0400000000000000" pitchFamily="34" charset="-128"/>
                  <a:ea typeface="Yu Gothic" panose="020B0400000000000000" pitchFamily="34" charset="-128"/>
                </a:defRPr>
              </a:lvl1pPr>
            </a:lstStyle>
            <a:p>
              <a:r>
                <a:rPr lang="en-IN" sz="800" dirty="0"/>
                <a:t>Exception handling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E3DA3D0F-9583-B342-1D01-288601DE3672}"/>
              </a:ext>
            </a:extLst>
          </p:cNvPr>
          <p:cNvSpPr txBox="1"/>
          <p:nvPr/>
        </p:nvSpPr>
        <p:spPr>
          <a:xfrm>
            <a:off x="664810" y="5888200"/>
            <a:ext cx="2124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Data Files / Tables / Indexes </a:t>
            </a:r>
            <a:endParaRPr lang="en-US" sz="1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6F3A9E4-9C8E-44D6-D76C-B4C8060267F9}"/>
              </a:ext>
            </a:extLst>
          </p:cNvPr>
          <p:cNvSpPr txBox="1"/>
          <p:nvPr/>
        </p:nvSpPr>
        <p:spPr>
          <a:xfrm>
            <a:off x="1117657" y="5253839"/>
            <a:ext cx="12186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Query result set</a:t>
            </a:r>
            <a:endParaRPr lang="en-US" sz="1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58F77FA1-1156-98FE-D9AB-0F88FABB68A7}"/>
              </a:ext>
            </a:extLst>
          </p:cNvPr>
          <p:cNvCxnSpPr>
            <a:cxnSpLocks/>
            <a:stCxn id="77" idx="1"/>
            <a:endCxn id="48" idx="2"/>
          </p:cNvCxnSpPr>
          <p:nvPr/>
        </p:nvCxnSpPr>
        <p:spPr>
          <a:xfrm rot="10800000">
            <a:off x="1726960" y="6149811"/>
            <a:ext cx="1927274" cy="19459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A90741AD-A9CA-E1E6-2223-52B1F4B9C81A}"/>
              </a:ext>
            </a:extLst>
          </p:cNvPr>
          <p:cNvCxnSpPr>
            <a:cxnSpLocks/>
            <a:stCxn id="48" idx="0"/>
            <a:endCxn id="51" idx="2"/>
          </p:cNvCxnSpPr>
          <p:nvPr/>
        </p:nvCxnSpPr>
        <p:spPr>
          <a:xfrm rot="16200000" flipV="1">
            <a:off x="1540585" y="5701824"/>
            <a:ext cx="372751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6602D8FC-A033-2176-F357-A6CFA8714543}"/>
              </a:ext>
            </a:extLst>
          </p:cNvPr>
          <p:cNvCxnSpPr>
            <a:cxnSpLocks/>
            <a:stCxn id="51" idx="0"/>
            <a:endCxn id="49" idx="1"/>
          </p:cNvCxnSpPr>
          <p:nvPr/>
        </p:nvCxnSpPr>
        <p:spPr>
          <a:xfrm rot="16200000" flipH="1">
            <a:off x="2210021" y="4770777"/>
            <a:ext cx="108708" cy="1074832"/>
          </a:xfrm>
          <a:prstGeom prst="bentConnector4">
            <a:avLst>
              <a:gd name="adj1" fmla="val -210288"/>
              <a:gd name="adj2" fmla="val 783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AFFF99E5-F7B6-AAA3-F60C-3C09EACF6A48}"/>
              </a:ext>
            </a:extLst>
          </p:cNvPr>
          <p:cNvSpPr txBox="1"/>
          <p:nvPr/>
        </p:nvSpPr>
        <p:spPr>
          <a:xfrm>
            <a:off x="5833752" y="5538187"/>
            <a:ext cx="1748942" cy="1374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10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Data Operations:</a:t>
            </a:r>
            <a:endParaRPr lang="en-IN" sz="1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IN" sz="1000" dirty="0">
                <a:latin typeface="Yu Gothic" panose="020B0400000000000000" pitchFamily="34" charset="-128"/>
                <a:ea typeface="Yu Gothic" panose="020B0400000000000000" pitchFamily="34" charset="-128"/>
              </a:rPr>
              <a:t>SELECT</a:t>
            </a: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IN" sz="1000" dirty="0">
                <a:latin typeface="Yu Gothic" panose="020B0400000000000000" pitchFamily="34" charset="-128"/>
                <a:ea typeface="Yu Gothic" panose="020B0400000000000000" pitchFamily="34" charset="-128"/>
              </a:rPr>
              <a:t>INSERT</a:t>
            </a: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IN" sz="1000" dirty="0">
                <a:latin typeface="Yu Gothic" panose="020B0400000000000000" pitchFamily="34" charset="-128"/>
                <a:ea typeface="Yu Gothic" panose="020B0400000000000000" pitchFamily="34" charset="-128"/>
              </a:rPr>
              <a:t>UPDATE</a:t>
            </a: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IN" sz="1000" dirty="0">
                <a:latin typeface="Yu Gothic" panose="020B0400000000000000" pitchFamily="34" charset="-128"/>
                <a:ea typeface="Yu Gothic" panose="020B0400000000000000" pitchFamily="34" charset="-128"/>
              </a:rPr>
              <a:t>DELETE</a:t>
            </a: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IN" sz="1000" dirty="0">
                <a:latin typeface="Yu Gothic" panose="020B0400000000000000" pitchFamily="34" charset="-128"/>
                <a:ea typeface="Yu Gothic" panose="020B0400000000000000" pitchFamily="34" charset="-128"/>
              </a:rPr>
              <a:t>Stored procedures</a:t>
            </a: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IN" sz="1000" dirty="0">
                <a:latin typeface="Yu Gothic" panose="020B0400000000000000" pitchFamily="34" charset="-128"/>
                <a:ea typeface="Yu Gothic" panose="020B0400000000000000" pitchFamily="34" charset="-128"/>
              </a:rPr>
              <a:t>Triggers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E064955-2633-78B6-FB7F-25AC1CBE55CA}"/>
              </a:ext>
            </a:extLst>
          </p:cNvPr>
          <p:cNvSpPr txBox="1"/>
          <p:nvPr/>
        </p:nvSpPr>
        <p:spPr>
          <a:xfrm>
            <a:off x="7439834" y="5484221"/>
            <a:ext cx="2185214" cy="1190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sz="10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Security Controls for Data layer:</a:t>
            </a:r>
            <a:endParaRPr lang="en-IN" sz="1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IN" sz="1000" dirty="0">
                <a:latin typeface="Yu Gothic" panose="020B0400000000000000" pitchFamily="34" charset="-128"/>
                <a:ea typeface="Yu Gothic" panose="020B0400000000000000" pitchFamily="34" charset="-128"/>
              </a:rPr>
              <a:t>Encryption at rest</a:t>
            </a: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IN" sz="1000" dirty="0">
                <a:latin typeface="Yu Gothic" panose="020B0400000000000000" pitchFamily="34" charset="-128"/>
                <a:ea typeface="Yu Gothic" panose="020B0400000000000000" pitchFamily="34" charset="-128"/>
              </a:rPr>
              <a:t>Database firewall</a:t>
            </a: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IN" sz="1000" dirty="0">
                <a:latin typeface="Yu Gothic" panose="020B0400000000000000" pitchFamily="34" charset="-128"/>
                <a:ea typeface="Yu Gothic" panose="020B0400000000000000" pitchFamily="34" charset="-128"/>
              </a:rPr>
              <a:t>Least privilege DB accounts</a:t>
            </a: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IN" sz="1000" dirty="0">
                <a:latin typeface="Yu Gothic" panose="020B0400000000000000" pitchFamily="34" charset="-128"/>
                <a:ea typeface="Yu Gothic" panose="020B0400000000000000" pitchFamily="34" charset="-128"/>
              </a:rPr>
              <a:t>Activity monitoring</a:t>
            </a: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IN" sz="1000" dirty="0">
                <a:latin typeface="Yu Gothic" panose="020B0400000000000000" pitchFamily="34" charset="-128"/>
                <a:ea typeface="Yu Gothic" panose="020B0400000000000000" pitchFamily="34" charset="-128"/>
              </a:rPr>
              <a:t>Replication / Backup</a:t>
            </a:r>
          </a:p>
        </p:txBody>
      </p:sp>
    </p:spTree>
    <p:extLst>
      <p:ext uri="{BB962C8B-B14F-4D97-AF65-F5344CB8AC3E}">
        <p14:creationId xmlns:p14="http://schemas.microsoft.com/office/powerpoint/2010/main" val="3736076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983CE-FE8F-BD99-8069-65378C1ED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927" y="118546"/>
            <a:ext cx="11747643" cy="477355"/>
          </a:xfrm>
        </p:spPr>
        <p:txBody>
          <a:bodyPr>
            <a:noAutofit/>
          </a:bodyPr>
          <a:lstStyle/>
          <a:p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E0E0F-53C1-70E7-1953-CF67568D7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927" y="767386"/>
            <a:ext cx="5613972" cy="5972068"/>
          </a:xfrm>
        </p:spPr>
        <p:txBody>
          <a:bodyPr>
            <a:normAutofit fontScale="40000" lnSpcReduction="20000"/>
          </a:bodyPr>
          <a:lstStyle/>
          <a:p>
            <a:r>
              <a:rPr lang="en-US" sz="5000" b="1" dirty="0"/>
              <a:t>Application Tier – Business Logic Processing</a:t>
            </a:r>
          </a:p>
          <a:p>
            <a:r>
              <a:rPr lang="en-IN" dirty="0"/>
              <a:t>[ Application Server ]</a:t>
            </a:r>
          </a:p>
          <a:p>
            <a:r>
              <a:rPr lang="en-IN" dirty="0"/>
              <a:t>    |</a:t>
            </a:r>
          </a:p>
          <a:p>
            <a:r>
              <a:rPr lang="en-IN" dirty="0">
                <a:highlight>
                  <a:srgbClr val="00FF00"/>
                </a:highlight>
              </a:rPr>
              <a:t>    | 1. Authentication Check</a:t>
            </a:r>
          </a:p>
          <a:p>
            <a:r>
              <a:rPr lang="en-IN" dirty="0">
                <a:highlight>
                  <a:srgbClr val="00FF00"/>
                </a:highlight>
              </a:rPr>
              <a:t>    | 2. Authorization Check (RBAC/ABAC)</a:t>
            </a:r>
          </a:p>
          <a:p>
            <a:r>
              <a:rPr lang="en-IN" dirty="0">
                <a:highlight>
                  <a:srgbClr val="00FF00"/>
                </a:highlight>
              </a:rPr>
              <a:t>    | 3. Input Validation</a:t>
            </a:r>
          </a:p>
          <a:p>
            <a:r>
              <a:rPr lang="en-IN" dirty="0">
                <a:highlight>
                  <a:srgbClr val="00FF00"/>
                </a:highlight>
              </a:rPr>
              <a:t>    | 4. Business Logic Execution</a:t>
            </a:r>
          </a:p>
          <a:p>
            <a:r>
              <a:rPr lang="en-IN" dirty="0"/>
              <a:t>    |</a:t>
            </a:r>
          </a:p>
          <a:p>
            <a:r>
              <a:rPr lang="en-IN" dirty="0"/>
              <a:t>    v</a:t>
            </a:r>
          </a:p>
          <a:p>
            <a:r>
              <a:rPr lang="en-IN" dirty="0">
                <a:highlight>
                  <a:srgbClr val="00FF00"/>
                </a:highlight>
              </a:rPr>
              <a:t>[ Data Access Layer ]</a:t>
            </a:r>
          </a:p>
          <a:p>
            <a:r>
              <a:rPr lang="en-IN" dirty="0">
                <a:highlight>
                  <a:srgbClr val="00FF00"/>
                </a:highlight>
              </a:rPr>
              <a:t>    |</a:t>
            </a:r>
          </a:p>
          <a:p>
            <a:r>
              <a:rPr lang="en-IN" dirty="0">
                <a:highlight>
                  <a:srgbClr val="00FF00"/>
                </a:highlight>
              </a:rPr>
              <a:t>    | Parameterized Query / ORM Call</a:t>
            </a:r>
          </a:p>
          <a:p>
            <a:r>
              <a:rPr lang="en-IN" dirty="0">
                <a:highlight>
                  <a:srgbClr val="00FF00"/>
                </a:highlight>
              </a:rPr>
              <a:t>    v</a:t>
            </a:r>
          </a:p>
          <a:p>
            <a:r>
              <a:rPr lang="en-IN" dirty="0">
                <a:highlight>
                  <a:srgbClr val="00FF00"/>
                </a:highlight>
              </a:rPr>
              <a:t>[ Database Server ]</a:t>
            </a:r>
          </a:p>
          <a:p>
            <a:r>
              <a:rPr lang="en-IN" b="1" dirty="0">
                <a:highlight>
                  <a:srgbClr val="00FF00"/>
                </a:highlight>
              </a:rPr>
              <a:t>Internal Processes:</a:t>
            </a:r>
            <a:endParaRPr lang="en-IN" dirty="0">
              <a:highlight>
                <a:srgbClr val="00FF00"/>
              </a:highlight>
            </a:endParaRPr>
          </a:p>
          <a:p>
            <a:r>
              <a:rPr lang="en-IN" dirty="0">
                <a:highlight>
                  <a:srgbClr val="00FF00"/>
                </a:highlight>
              </a:rPr>
              <a:t>Request Object Creation </a:t>
            </a:r>
            <a:r>
              <a:rPr lang="en-IN" dirty="0">
                <a:highlight>
                  <a:srgbClr val="00FF00"/>
                </a:highlight>
                <a:sym typeface="Wingdings" panose="05000000000000000000" pitchFamily="2" charset="2"/>
              </a:rPr>
              <a:t> </a:t>
            </a:r>
            <a:r>
              <a:rPr lang="en-IN" dirty="0">
                <a:highlight>
                  <a:srgbClr val="00FF00"/>
                </a:highlight>
              </a:rPr>
              <a:t>Controller Layer </a:t>
            </a:r>
            <a:r>
              <a:rPr lang="en-IN" dirty="0">
                <a:highlight>
                  <a:srgbClr val="00FF00"/>
                </a:highlight>
                <a:sym typeface="Wingdings" panose="05000000000000000000" pitchFamily="2" charset="2"/>
              </a:rPr>
              <a:t> </a:t>
            </a:r>
            <a:r>
              <a:rPr lang="en-IN" dirty="0">
                <a:highlight>
                  <a:srgbClr val="00FF00"/>
                </a:highlight>
              </a:rPr>
              <a:t>Service Layer </a:t>
            </a:r>
            <a:r>
              <a:rPr lang="en-IN" dirty="0">
                <a:highlight>
                  <a:srgbClr val="00FF00"/>
                </a:highlight>
                <a:sym typeface="Wingdings" panose="05000000000000000000" pitchFamily="2" charset="2"/>
              </a:rPr>
              <a:t> </a:t>
            </a:r>
            <a:r>
              <a:rPr lang="en-IN" dirty="0">
                <a:highlight>
                  <a:srgbClr val="00FF00"/>
                </a:highlight>
              </a:rPr>
              <a:t>Repository / DAO Layer</a:t>
            </a:r>
          </a:p>
          <a:p>
            <a:r>
              <a:rPr lang="en-IN" b="1" dirty="0">
                <a:highlight>
                  <a:srgbClr val="00FF00"/>
                </a:highlight>
              </a:rPr>
              <a:t>Security Controls:</a:t>
            </a:r>
            <a:endParaRPr lang="en-IN" dirty="0">
              <a:highlight>
                <a:srgbClr val="00FF00"/>
              </a:highlight>
            </a:endParaRPr>
          </a:p>
          <a:p>
            <a:pPr lvl="0"/>
            <a:r>
              <a:rPr lang="en-IN" dirty="0">
                <a:highlight>
                  <a:srgbClr val="00FF00"/>
                </a:highlight>
              </a:rPr>
              <a:t>Input validation</a:t>
            </a:r>
          </a:p>
          <a:p>
            <a:pPr lvl="0"/>
            <a:r>
              <a:rPr lang="en-IN" dirty="0">
                <a:highlight>
                  <a:srgbClr val="00FF00"/>
                </a:highlight>
              </a:rPr>
              <a:t>Output encoding</a:t>
            </a:r>
          </a:p>
          <a:p>
            <a:pPr lvl="0"/>
            <a:r>
              <a:rPr lang="en-IN" dirty="0">
                <a:highlight>
                  <a:srgbClr val="00FF00"/>
                </a:highlight>
              </a:rPr>
              <a:t>Token verification</a:t>
            </a:r>
          </a:p>
          <a:p>
            <a:pPr lvl="0"/>
            <a:r>
              <a:rPr lang="en-IN" dirty="0">
                <a:highlight>
                  <a:srgbClr val="00FF00"/>
                </a:highlight>
              </a:rPr>
              <a:t>Role validation</a:t>
            </a:r>
          </a:p>
          <a:p>
            <a:pPr lvl="0"/>
            <a:r>
              <a:rPr lang="en-IN" dirty="0">
                <a:highlight>
                  <a:srgbClr val="00FF00"/>
                </a:highlight>
              </a:rPr>
              <a:t>Audit logging</a:t>
            </a:r>
          </a:p>
          <a:p>
            <a:pPr lvl="0"/>
            <a:r>
              <a:rPr lang="en-IN" dirty="0">
                <a:highlight>
                  <a:srgbClr val="00FF00"/>
                </a:highlight>
              </a:rPr>
              <a:t>Exception handling</a:t>
            </a:r>
          </a:p>
          <a:p>
            <a:endParaRPr lang="en-IN" sz="1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EBB9AD4-ED34-3287-831E-B507156EB161}"/>
              </a:ext>
            </a:extLst>
          </p:cNvPr>
          <p:cNvSpPr txBox="1">
            <a:spLocks/>
          </p:cNvSpPr>
          <p:nvPr/>
        </p:nvSpPr>
        <p:spPr>
          <a:xfrm>
            <a:off x="5983839" y="767386"/>
            <a:ext cx="5613972" cy="5972068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5000" b="1" dirty="0">
                <a:highlight>
                  <a:srgbClr val="00FF00"/>
                </a:highlight>
              </a:rPr>
              <a:t> Data Tier – Database Processing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dirty="0">
                <a:highlight>
                  <a:srgbClr val="00FF00"/>
                </a:highlight>
              </a:rPr>
              <a:t>[ Database Server ]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dirty="0">
                <a:highlight>
                  <a:srgbClr val="00FF00"/>
                </a:highlight>
              </a:rPr>
              <a:t>| Receive SQL Query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dirty="0">
                <a:highlight>
                  <a:srgbClr val="00FF00"/>
                </a:highlight>
              </a:rPr>
              <a:t>    | Validate Schema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dirty="0">
                <a:highlight>
                  <a:srgbClr val="00FF00"/>
                </a:highlight>
              </a:rPr>
              <a:t>    | Execute Query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dirty="0">
                <a:highlight>
                  <a:srgbClr val="00FF00"/>
                </a:highlight>
              </a:rPr>
              <a:t>    | Access Storage Engine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dirty="0"/>
              <a:t>    v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dirty="0">
                <a:highlight>
                  <a:srgbClr val="00FF00"/>
                </a:highlight>
              </a:rPr>
              <a:t>[ Data Files / Tables / Indexes ]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dirty="0">
                <a:highlight>
                  <a:srgbClr val="00FF00"/>
                </a:highlight>
              </a:rPr>
              <a:t>    |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dirty="0">
                <a:highlight>
                  <a:srgbClr val="00FF00"/>
                </a:highlight>
              </a:rPr>
              <a:t>    v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dirty="0">
                <a:highlight>
                  <a:srgbClr val="00FF00"/>
                </a:highlight>
              </a:rPr>
              <a:t>[ Query Result Set ]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dirty="0">
                <a:highlight>
                  <a:srgbClr val="00FF00"/>
                </a:highlight>
              </a:rPr>
              <a:t>    |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dirty="0">
                <a:highlight>
                  <a:srgbClr val="00FF00"/>
                </a:highlight>
              </a:rPr>
              <a:t>    v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dirty="0">
                <a:highlight>
                  <a:srgbClr val="00FF00"/>
                </a:highlight>
              </a:rPr>
              <a:t>[ Application Server ]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b="1" dirty="0">
                <a:highlight>
                  <a:srgbClr val="00FF00"/>
                </a:highlight>
              </a:rPr>
              <a:t>Data Operations:</a:t>
            </a:r>
            <a:endParaRPr lang="en-IN" dirty="0">
              <a:highlight>
                <a:srgbClr val="00FF00"/>
              </a:highlight>
            </a:endParaRP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IN" dirty="0">
                <a:highlight>
                  <a:srgbClr val="00FF00"/>
                </a:highlight>
              </a:rPr>
              <a:t>SELECT</a:t>
            </a: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IN" dirty="0">
                <a:highlight>
                  <a:srgbClr val="00FF00"/>
                </a:highlight>
              </a:rPr>
              <a:t>INSERT</a:t>
            </a: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IN" dirty="0">
                <a:highlight>
                  <a:srgbClr val="00FF00"/>
                </a:highlight>
              </a:rPr>
              <a:t>UPDATE</a:t>
            </a: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IN" dirty="0">
                <a:highlight>
                  <a:srgbClr val="00FF00"/>
                </a:highlight>
              </a:rPr>
              <a:t>DELETE</a:t>
            </a: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IN" dirty="0">
                <a:highlight>
                  <a:srgbClr val="00FF00"/>
                </a:highlight>
              </a:rPr>
              <a:t>Stored procedures</a:t>
            </a: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IN" dirty="0">
                <a:highlight>
                  <a:srgbClr val="00FF00"/>
                </a:highlight>
              </a:rPr>
              <a:t>Triggers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b="1" dirty="0">
                <a:highlight>
                  <a:srgbClr val="00FF00"/>
                </a:highlight>
              </a:rPr>
              <a:t>Security Controls:</a:t>
            </a:r>
            <a:endParaRPr lang="en-IN" dirty="0">
              <a:highlight>
                <a:srgbClr val="00FF00"/>
              </a:highlight>
            </a:endParaRP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IN" dirty="0">
                <a:highlight>
                  <a:srgbClr val="00FF00"/>
                </a:highlight>
              </a:rPr>
              <a:t>Encryption at rest</a:t>
            </a: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IN" dirty="0">
                <a:highlight>
                  <a:srgbClr val="00FF00"/>
                </a:highlight>
              </a:rPr>
              <a:t>Database firewall</a:t>
            </a: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IN" dirty="0">
                <a:highlight>
                  <a:srgbClr val="00FF00"/>
                </a:highlight>
              </a:rPr>
              <a:t>Least privilege DB accounts</a:t>
            </a: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IN" dirty="0">
                <a:highlight>
                  <a:srgbClr val="00FF00"/>
                </a:highlight>
              </a:rPr>
              <a:t>Activity monitoring</a:t>
            </a: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IN" dirty="0">
                <a:highlight>
                  <a:srgbClr val="00FF00"/>
                </a:highlight>
              </a:rPr>
              <a:t>Replication / Backup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63048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AD207-AEB9-DD98-6A81-4FAD978F4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9D9BB-0249-0B82-99C0-D9F4F527A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927" y="118546"/>
            <a:ext cx="11747643" cy="477355"/>
          </a:xfrm>
        </p:spPr>
        <p:txBody>
          <a:bodyPr>
            <a:noAutofit/>
          </a:bodyPr>
          <a:lstStyle/>
          <a:p>
            <a:r>
              <a:rPr lang="en-IN" sz="2800" dirty="0"/>
              <a:t>Complete End-to-End detailed Application Flow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E120A3-F005-862B-9D6F-B3375D5FDDAE}"/>
              </a:ext>
            </a:extLst>
          </p:cNvPr>
          <p:cNvSpPr txBox="1"/>
          <p:nvPr/>
        </p:nvSpPr>
        <p:spPr>
          <a:xfrm>
            <a:off x="582689" y="986860"/>
            <a:ext cx="2466927" cy="37457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6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DNS Resolution Phase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9D8627-9C50-3677-59A4-F5463A9B77C4}"/>
              </a:ext>
            </a:extLst>
          </p:cNvPr>
          <p:cNvSpPr txBox="1"/>
          <p:nvPr/>
        </p:nvSpPr>
        <p:spPr>
          <a:xfrm>
            <a:off x="537372" y="1611871"/>
            <a:ext cx="3336064" cy="37457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6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TCP Connection Establishment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280A63-3D90-FCDA-5D34-490D9B2F356E}"/>
              </a:ext>
            </a:extLst>
          </p:cNvPr>
          <p:cNvSpPr txBox="1"/>
          <p:nvPr/>
        </p:nvSpPr>
        <p:spPr>
          <a:xfrm>
            <a:off x="537372" y="2236882"/>
            <a:ext cx="2719414" cy="37457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6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TLS / HTTPS Handshake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75455D-800E-E189-4AEF-EFF49144019E}"/>
              </a:ext>
            </a:extLst>
          </p:cNvPr>
          <p:cNvSpPr txBox="1"/>
          <p:nvPr/>
        </p:nvSpPr>
        <p:spPr>
          <a:xfrm>
            <a:off x="537372" y="2822843"/>
            <a:ext cx="2578604" cy="37457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6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HTTP Request Creation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D02235-AEFA-90A3-CD90-EA28A7635A02}"/>
              </a:ext>
            </a:extLst>
          </p:cNvPr>
          <p:cNvSpPr txBox="1"/>
          <p:nvPr/>
        </p:nvSpPr>
        <p:spPr>
          <a:xfrm>
            <a:off x="537372" y="3394784"/>
            <a:ext cx="2557563" cy="37457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6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Network Security Layer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96E4E7-2D0F-4263-C66B-3CB2CC370A26}"/>
              </a:ext>
            </a:extLst>
          </p:cNvPr>
          <p:cNvSpPr txBox="1"/>
          <p:nvPr/>
        </p:nvSpPr>
        <p:spPr>
          <a:xfrm>
            <a:off x="537372" y="4008185"/>
            <a:ext cx="3177451" cy="37457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6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Enterprise Perimeter Security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595FB9-A655-0342-67C6-C3725E2CD641}"/>
              </a:ext>
            </a:extLst>
          </p:cNvPr>
          <p:cNvSpPr txBox="1"/>
          <p:nvPr/>
        </p:nvSpPr>
        <p:spPr>
          <a:xfrm>
            <a:off x="537371" y="4563987"/>
            <a:ext cx="2371435" cy="37457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6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Load Balancing Layer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5408E5-92B7-7E29-CE1A-09F46A1284CF}"/>
              </a:ext>
            </a:extLst>
          </p:cNvPr>
          <p:cNvSpPr txBox="1"/>
          <p:nvPr/>
        </p:nvSpPr>
        <p:spPr>
          <a:xfrm>
            <a:off x="4449916" y="2822842"/>
            <a:ext cx="2309932" cy="37457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6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Database Interaction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84FC4C-D8C7-96F7-7DF2-DE9AC49AAE0B}"/>
              </a:ext>
            </a:extLst>
          </p:cNvPr>
          <p:cNvSpPr txBox="1"/>
          <p:nvPr/>
        </p:nvSpPr>
        <p:spPr>
          <a:xfrm>
            <a:off x="4603823" y="1213379"/>
            <a:ext cx="1957097" cy="37457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6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Web Server Layer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C683BB-9605-9345-F1F6-8483E4E056A7}"/>
              </a:ext>
            </a:extLst>
          </p:cNvPr>
          <p:cNvSpPr txBox="1"/>
          <p:nvPr/>
        </p:nvSpPr>
        <p:spPr>
          <a:xfrm>
            <a:off x="4553231" y="1761064"/>
            <a:ext cx="3209821" cy="37457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6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Application Server Processing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BC5A80-2968-BB9D-F46C-BD62AB4B4CB2}"/>
              </a:ext>
            </a:extLst>
          </p:cNvPr>
          <p:cNvSpPr txBox="1"/>
          <p:nvPr/>
        </p:nvSpPr>
        <p:spPr>
          <a:xfrm>
            <a:off x="4490996" y="2308749"/>
            <a:ext cx="2766350" cy="37457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6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Business Logic Execution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3BD591-30C8-ECBE-650C-2F85195E4E75}"/>
              </a:ext>
            </a:extLst>
          </p:cNvPr>
          <p:cNvSpPr txBox="1"/>
          <p:nvPr/>
        </p:nvSpPr>
        <p:spPr>
          <a:xfrm>
            <a:off x="4456393" y="3348975"/>
            <a:ext cx="3544852" cy="37457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6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Application Response Processing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80F297-E7AE-9CCD-7E88-76EC4B60FE3C}"/>
              </a:ext>
            </a:extLst>
          </p:cNvPr>
          <p:cNvSpPr txBox="1"/>
          <p:nvPr/>
        </p:nvSpPr>
        <p:spPr>
          <a:xfrm>
            <a:off x="4456393" y="3931111"/>
            <a:ext cx="3060918" cy="37457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Response Path Back to User</a:t>
            </a:r>
            <a:endParaRPr lang="en-IN" sz="1600" b="1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C76961-FFAF-2AEA-F9CE-77A4819B92BD}"/>
              </a:ext>
            </a:extLst>
          </p:cNvPr>
          <p:cNvSpPr txBox="1"/>
          <p:nvPr/>
        </p:nvSpPr>
        <p:spPr>
          <a:xfrm>
            <a:off x="4435410" y="4442957"/>
            <a:ext cx="2195018" cy="37457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6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Browser Processing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C9C3DE-2F3E-A214-214A-63A9584299AE}"/>
              </a:ext>
            </a:extLst>
          </p:cNvPr>
          <p:cNvSpPr txBox="1"/>
          <p:nvPr/>
        </p:nvSpPr>
        <p:spPr>
          <a:xfrm>
            <a:off x="9017761" y="150003"/>
            <a:ext cx="2748547" cy="648956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accent4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User</a:t>
            </a:r>
          </a:p>
          <a:p>
            <a:pPr algn="ctr"/>
            <a:r>
              <a:rPr lang="en-IN" sz="1600" dirty="0">
                <a:solidFill>
                  <a:schemeClr val="accent4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↓</a:t>
            </a:r>
          </a:p>
          <a:p>
            <a:pPr algn="ctr"/>
            <a:r>
              <a:rPr lang="en-IN" sz="1600" dirty="0">
                <a:solidFill>
                  <a:schemeClr val="accent4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Browser</a:t>
            </a:r>
          </a:p>
          <a:p>
            <a:pPr algn="ctr"/>
            <a:r>
              <a:rPr lang="en-IN" sz="1600" dirty="0">
                <a:solidFill>
                  <a:schemeClr val="accent4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↓</a:t>
            </a:r>
          </a:p>
          <a:p>
            <a:pPr algn="ctr"/>
            <a:r>
              <a:rPr lang="en-IN" sz="1600" dirty="0">
                <a:solidFill>
                  <a:schemeClr val="accent4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DNS</a:t>
            </a:r>
          </a:p>
          <a:p>
            <a:pPr algn="ctr"/>
            <a:r>
              <a:rPr lang="en-IN" sz="1600" dirty="0">
                <a:solidFill>
                  <a:schemeClr val="accent4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↓</a:t>
            </a:r>
          </a:p>
          <a:p>
            <a:pPr algn="ctr"/>
            <a:r>
              <a:rPr lang="en-IN" sz="1600" dirty="0">
                <a:solidFill>
                  <a:schemeClr val="accent4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TCP/TLS</a:t>
            </a:r>
          </a:p>
          <a:p>
            <a:pPr algn="ctr"/>
            <a:r>
              <a:rPr lang="en-IN" sz="1600" dirty="0">
                <a:solidFill>
                  <a:schemeClr val="accent4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↓</a:t>
            </a:r>
          </a:p>
          <a:p>
            <a:pPr algn="ctr"/>
            <a:r>
              <a:rPr lang="en-IN" sz="1600" dirty="0">
                <a:solidFill>
                  <a:schemeClr val="accent4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Firewall</a:t>
            </a:r>
          </a:p>
          <a:p>
            <a:pPr algn="ctr"/>
            <a:r>
              <a:rPr lang="en-IN" sz="1600" dirty="0">
                <a:solidFill>
                  <a:schemeClr val="accent4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↓</a:t>
            </a:r>
          </a:p>
          <a:p>
            <a:pPr algn="ctr"/>
            <a:r>
              <a:rPr lang="en-IN" sz="1600" dirty="0">
                <a:solidFill>
                  <a:schemeClr val="accent4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WAF</a:t>
            </a:r>
          </a:p>
          <a:p>
            <a:pPr algn="ctr"/>
            <a:r>
              <a:rPr lang="en-IN" sz="1600" dirty="0">
                <a:solidFill>
                  <a:schemeClr val="accent4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↓</a:t>
            </a:r>
          </a:p>
          <a:p>
            <a:pPr algn="ctr"/>
            <a:r>
              <a:rPr lang="en-IN" sz="1600" dirty="0">
                <a:solidFill>
                  <a:schemeClr val="accent4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Load Balancer</a:t>
            </a:r>
          </a:p>
          <a:p>
            <a:pPr algn="ctr"/>
            <a:r>
              <a:rPr lang="en-IN" sz="1600" dirty="0">
                <a:solidFill>
                  <a:schemeClr val="accent4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↓</a:t>
            </a:r>
          </a:p>
          <a:p>
            <a:pPr algn="ctr"/>
            <a:r>
              <a:rPr lang="en-IN" sz="1600" dirty="0">
                <a:solidFill>
                  <a:schemeClr val="accent4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Web Server</a:t>
            </a:r>
          </a:p>
          <a:p>
            <a:pPr algn="ctr"/>
            <a:r>
              <a:rPr lang="en-IN" sz="1600" dirty="0">
                <a:solidFill>
                  <a:schemeClr val="accent4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↓</a:t>
            </a:r>
          </a:p>
          <a:p>
            <a:pPr algn="ctr"/>
            <a:r>
              <a:rPr lang="en-IN" sz="1600" dirty="0">
                <a:solidFill>
                  <a:schemeClr val="accent4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Application Server</a:t>
            </a:r>
          </a:p>
          <a:p>
            <a:pPr algn="ctr"/>
            <a:r>
              <a:rPr lang="en-IN" sz="1600" dirty="0">
                <a:solidFill>
                  <a:schemeClr val="accent4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↓</a:t>
            </a:r>
          </a:p>
          <a:p>
            <a:pPr algn="ctr"/>
            <a:r>
              <a:rPr lang="en-IN" sz="1600" dirty="0">
                <a:solidFill>
                  <a:schemeClr val="accent4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Database</a:t>
            </a:r>
          </a:p>
          <a:p>
            <a:pPr algn="ctr"/>
            <a:r>
              <a:rPr lang="en-IN" sz="1600" dirty="0">
                <a:solidFill>
                  <a:schemeClr val="accent4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↓</a:t>
            </a:r>
          </a:p>
          <a:p>
            <a:pPr algn="ctr"/>
            <a:r>
              <a:rPr lang="en-IN" sz="1600" dirty="0">
                <a:solidFill>
                  <a:schemeClr val="accent4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Application Logic</a:t>
            </a:r>
          </a:p>
          <a:p>
            <a:pPr algn="ctr"/>
            <a:r>
              <a:rPr lang="en-IN" sz="1600" dirty="0">
                <a:solidFill>
                  <a:schemeClr val="accent4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↓</a:t>
            </a:r>
          </a:p>
          <a:p>
            <a:pPr algn="ctr"/>
            <a:r>
              <a:rPr lang="en-IN" sz="1600" dirty="0">
                <a:solidFill>
                  <a:schemeClr val="accent4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Response</a:t>
            </a:r>
          </a:p>
          <a:p>
            <a:pPr algn="ctr"/>
            <a:r>
              <a:rPr lang="en-IN" sz="1600" dirty="0">
                <a:solidFill>
                  <a:schemeClr val="accent4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↓</a:t>
            </a:r>
          </a:p>
          <a:p>
            <a:pPr algn="ctr"/>
            <a:r>
              <a:rPr lang="en-IN" sz="1600" dirty="0">
                <a:solidFill>
                  <a:schemeClr val="accent4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Browser Rendering</a:t>
            </a:r>
          </a:p>
        </p:txBody>
      </p:sp>
    </p:spTree>
    <p:extLst>
      <p:ext uri="{BB962C8B-B14F-4D97-AF65-F5344CB8AC3E}">
        <p14:creationId xmlns:p14="http://schemas.microsoft.com/office/powerpoint/2010/main" val="1125533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822E3-3018-A874-5E0F-29DD4D36C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883F086-9817-5421-5D85-83C98ABE00B7}"/>
              </a:ext>
            </a:extLst>
          </p:cNvPr>
          <p:cNvSpPr txBox="1"/>
          <p:nvPr/>
        </p:nvSpPr>
        <p:spPr>
          <a:xfrm>
            <a:off x="3841764" y="91713"/>
            <a:ext cx="3344563" cy="919401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2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User enters URL in address bar</a:t>
            </a:r>
          </a:p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https://example.com/login</a:t>
            </a:r>
          </a:p>
          <a:p>
            <a:r>
              <a:rPr lang="en-IN" sz="12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OR</a:t>
            </a:r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</a:p>
          <a:p>
            <a:r>
              <a:rPr lang="en-IN" sz="12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Submits form </a:t>
            </a:r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(POST request)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D869A4-1B0F-420B-011D-71E1C18B30F2}"/>
              </a:ext>
            </a:extLst>
          </p:cNvPr>
          <p:cNvSpPr txBox="1"/>
          <p:nvPr/>
        </p:nvSpPr>
        <p:spPr>
          <a:xfrm>
            <a:off x="7397394" y="3939422"/>
            <a:ext cx="4530903" cy="1123712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DNS request sent to recursive resolver</a:t>
            </a:r>
          </a:p>
          <a:p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Request sent to: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ISP DNS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Corporate DNS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Public DNS (Google 8.8.8.8 / Cloudflare 1.1.1.1)</a:t>
            </a:r>
            <a:endParaRPr lang="en-IN" sz="1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79BBB5-ED95-7103-5581-123BBD7762BA}"/>
              </a:ext>
            </a:extLst>
          </p:cNvPr>
          <p:cNvSpPr txBox="1"/>
          <p:nvPr/>
        </p:nvSpPr>
        <p:spPr>
          <a:xfrm>
            <a:off x="7702965" y="2152411"/>
            <a:ext cx="3914454" cy="1328023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2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Recursive DNS lookup occurs</a:t>
            </a:r>
          </a:p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Resolver performs lookup: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Root DNS server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TLD DNS server (.com)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Authoritative DNS server</a:t>
            </a:r>
          </a:p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Example: example.com → 34.102.55.10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959C56-2077-808A-AF94-FF58ACD25D2B}"/>
              </a:ext>
            </a:extLst>
          </p:cNvPr>
          <p:cNvSpPr txBox="1"/>
          <p:nvPr/>
        </p:nvSpPr>
        <p:spPr>
          <a:xfrm>
            <a:off x="7556473" y="946249"/>
            <a:ext cx="4207438" cy="715089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2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DNS response returned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highlight>
                  <a:srgbClr val="00FF00"/>
                </a:highlight>
                <a:latin typeface="Yu Gothic" panose="020B0400000000000000" pitchFamily="34" charset="-128"/>
                <a:ea typeface="Yu Gothic" panose="020B0400000000000000" pitchFamily="34" charset="-128"/>
              </a:rPr>
              <a:t>Resolver sends IP address back to client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Browser caches DNS result (TTL based)</a:t>
            </a:r>
            <a:endParaRPr lang="en-IN" sz="1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0FC03A-F2FF-7087-6790-9DE217B2CFD6}"/>
              </a:ext>
            </a:extLst>
          </p:cNvPr>
          <p:cNvSpPr txBox="1"/>
          <p:nvPr/>
        </p:nvSpPr>
        <p:spPr>
          <a:xfrm>
            <a:off x="1023165" y="913618"/>
            <a:ext cx="2290882" cy="1123712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2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Browser parses URL: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Protocol → https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Domain → example.com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Path → /login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Query parameters (if any)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7AC595-A9FF-84DC-21D3-1D9CEFE6F9F4}"/>
              </a:ext>
            </a:extLst>
          </p:cNvPr>
          <p:cNvSpPr txBox="1"/>
          <p:nvPr/>
        </p:nvSpPr>
        <p:spPr>
          <a:xfrm>
            <a:off x="207455" y="2627338"/>
            <a:ext cx="3914454" cy="919401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2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Browser checks if: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URL exists in browser cache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DNS already resolved in DNS cache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Existing connection available (HTTP keep-alive)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A4226C8-8C03-390B-7A6C-8644E919D798}"/>
              </a:ext>
            </a:extLst>
          </p:cNvPr>
          <p:cNvSpPr txBox="1"/>
          <p:nvPr/>
        </p:nvSpPr>
        <p:spPr>
          <a:xfrm>
            <a:off x="498200" y="4044539"/>
            <a:ext cx="3353512" cy="919401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2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Browser checks local DNS cache:</a:t>
            </a:r>
          </a:p>
          <a:p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Browser cache checked first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If found </a:t>
            </a:r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 Cached IP used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If not found  OS resolver used</a:t>
            </a:r>
            <a:endParaRPr lang="en-US" sz="1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8D9EC2-0497-F00B-AE7B-3F063FA0D9FF}"/>
              </a:ext>
            </a:extLst>
          </p:cNvPr>
          <p:cNvSpPr txBox="1"/>
          <p:nvPr/>
        </p:nvSpPr>
        <p:spPr>
          <a:xfrm>
            <a:off x="3647325" y="5522122"/>
            <a:ext cx="4450505" cy="1123712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2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OS DNS resolver checks:</a:t>
            </a:r>
          </a:p>
          <a:p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OS DNS cache checked</a:t>
            </a:r>
          </a:p>
          <a:p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Hosts file checked </a:t>
            </a:r>
            <a:endParaRPr lang="en-US" sz="1200" dirty="0">
              <a:latin typeface="Yu Gothic" panose="020B0400000000000000" pitchFamily="34" charset="-128"/>
              <a:ea typeface="Yu Gothic" panose="020B0400000000000000" pitchFamily="34" charset="-128"/>
              <a:sym typeface="Wingdings" panose="05000000000000000000" pitchFamily="2" charset="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/etc/hosts  Linux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C:/Windows/System32/drivers/etc/hosts  Windows</a:t>
            </a:r>
            <a:endParaRPr lang="en-US" sz="1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pic>
        <p:nvPicPr>
          <p:cNvPr id="29" name="Graphic 28" descr="Internet">
            <a:extLst>
              <a:ext uri="{FF2B5EF4-FFF2-40B4-BE49-F238E27FC236}">
                <a16:creationId xmlns:a16="http://schemas.microsoft.com/office/drawing/2014/main" id="{ECB96201-DB20-1ED9-2A51-9B75EE9F1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462" y="230333"/>
            <a:ext cx="540000" cy="540000"/>
          </a:xfrm>
          <a:prstGeom prst="rect">
            <a:avLst/>
          </a:prstGeom>
          <a:effectLst/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DEE4ED9-6601-DA0B-208B-6B0DF7659AC7}"/>
              </a:ext>
            </a:extLst>
          </p:cNvPr>
          <p:cNvSpPr txBox="1"/>
          <p:nvPr/>
        </p:nvSpPr>
        <p:spPr>
          <a:xfrm>
            <a:off x="4119483" y="2037330"/>
            <a:ext cx="34591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DNS Resolution phase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3FD5B4A4-3708-F9CC-77C8-6A3C2FD4D945}"/>
              </a:ext>
            </a:extLst>
          </p:cNvPr>
          <p:cNvCxnSpPr>
            <a:cxnSpLocks/>
            <a:stCxn id="5" idx="1"/>
            <a:endCxn id="24" idx="0"/>
          </p:cNvCxnSpPr>
          <p:nvPr/>
        </p:nvCxnSpPr>
        <p:spPr>
          <a:xfrm rot="10800000" flipV="1">
            <a:off x="2168606" y="551414"/>
            <a:ext cx="1673158" cy="362204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5DF22608-2EA1-051C-6573-09F472506384}"/>
              </a:ext>
            </a:extLst>
          </p:cNvPr>
          <p:cNvCxnSpPr>
            <a:cxnSpLocks/>
            <a:stCxn id="11" idx="0"/>
            <a:endCxn id="5" idx="3"/>
          </p:cNvCxnSpPr>
          <p:nvPr/>
        </p:nvCxnSpPr>
        <p:spPr>
          <a:xfrm rot="16200000" flipV="1">
            <a:off x="8225843" y="-488101"/>
            <a:ext cx="394835" cy="2473865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CA0B14D0-9BB8-DB1B-499F-98E57EFADF02}"/>
              </a:ext>
            </a:extLst>
          </p:cNvPr>
          <p:cNvCxnSpPr>
            <a:cxnSpLocks/>
            <a:stCxn id="24" idx="2"/>
            <a:endCxn id="26" idx="0"/>
          </p:cNvCxnSpPr>
          <p:nvPr/>
        </p:nvCxnSpPr>
        <p:spPr>
          <a:xfrm rot="5400000">
            <a:off x="1871640" y="2330372"/>
            <a:ext cx="590008" cy="392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7C50CAF6-8335-92C1-BC0B-7FD85A739BA3}"/>
              </a:ext>
            </a:extLst>
          </p:cNvPr>
          <p:cNvCxnSpPr>
            <a:cxnSpLocks/>
            <a:stCxn id="27" idx="2"/>
            <a:endCxn id="28" idx="1"/>
          </p:cNvCxnSpPr>
          <p:nvPr/>
        </p:nvCxnSpPr>
        <p:spPr>
          <a:xfrm rot="16200000" flipH="1">
            <a:off x="2351121" y="4787774"/>
            <a:ext cx="1120038" cy="1472369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6FE97007-B4B1-56E0-24F2-0A468B8EEC13}"/>
              </a:ext>
            </a:extLst>
          </p:cNvPr>
          <p:cNvCxnSpPr>
            <a:cxnSpLocks/>
            <a:stCxn id="28" idx="3"/>
            <a:endCxn id="6" idx="2"/>
          </p:cNvCxnSpPr>
          <p:nvPr/>
        </p:nvCxnSpPr>
        <p:spPr>
          <a:xfrm flipV="1">
            <a:off x="8097830" y="5063134"/>
            <a:ext cx="1565016" cy="1020844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89410BDF-BB12-779D-5846-73B353B4A34D}"/>
              </a:ext>
            </a:extLst>
          </p:cNvPr>
          <p:cNvCxnSpPr>
            <a:cxnSpLocks/>
            <a:stCxn id="6" idx="0"/>
            <a:endCxn id="9" idx="2"/>
          </p:cNvCxnSpPr>
          <p:nvPr/>
        </p:nvCxnSpPr>
        <p:spPr>
          <a:xfrm rot="16200000" flipV="1">
            <a:off x="9432025" y="3708601"/>
            <a:ext cx="458988" cy="265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B12E28F4-AECD-36C4-D623-5EF241D45FA4}"/>
              </a:ext>
            </a:extLst>
          </p:cNvPr>
          <p:cNvCxnSpPr>
            <a:cxnSpLocks/>
            <a:stCxn id="9" idx="0"/>
            <a:endCxn id="11" idx="2"/>
          </p:cNvCxnSpPr>
          <p:nvPr/>
        </p:nvCxnSpPr>
        <p:spPr>
          <a:xfrm rot="5400000" flipH="1" flipV="1">
            <a:off x="9414656" y="1906875"/>
            <a:ext cx="491073" cy="1270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F6D67C72-0EAB-4DBF-929A-20DF494598C3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rot="16200000" flipH="1">
            <a:off x="1920919" y="3790502"/>
            <a:ext cx="497800" cy="1027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696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E351E-3BB5-947A-C584-2C35B3BF5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423EA0-F13F-A9A2-D17F-D5A7955B60F0}"/>
              </a:ext>
            </a:extLst>
          </p:cNvPr>
          <p:cNvSpPr txBox="1"/>
          <p:nvPr/>
        </p:nvSpPr>
        <p:spPr>
          <a:xfrm>
            <a:off x="4950820" y="661822"/>
            <a:ext cx="1012719" cy="306467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chemeClr val="accent4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Browser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B6AEBD-ED34-05B6-CAA3-3B8EDE310DE2}"/>
              </a:ext>
            </a:extLst>
          </p:cNvPr>
          <p:cNvSpPr txBox="1"/>
          <p:nvPr/>
        </p:nvSpPr>
        <p:spPr>
          <a:xfrm>
            <a:off x="104854" y="2412326"/>
            <a:ext cx="3273246" cy="919401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2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Browser initiates TCP Connection</a:t>
            </a:r>
          </a:p>
          <a:p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Browser sends: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TCP SYN → destination IP: 34.102.55.10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port: 443</a:t>
            </a:r>
            <a:endParaRPr lang="en-US" sz="1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4FD2C8-50CD-D3E2-A167-88899E2E9A6B}"/>
              </a:ext>
            </a:extLst>
          </p:cNvPr>
          <p:cNvSpPr txBox="1"/>
          <p:nvPr/>
        </p:nvSpPr>
        <p:spPr>
          <a:xfrm>
            <a:off x="4112252" y="2709807"/>
            <a:ext cx="2689857" cy="510778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Server responds with SYN-ACK</a:t>
            </a:r>
          </a:p>
          <a:p>
            <a:pPr algn="ctr"/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SYN-ACK returned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3136ED-95E6-33B9-B057-6EFF7B18A3F1}"/>
              </a:ext>
            </a:extLst>
          </p:cNvPr>
          <p:cNvSpPr txBox="1"/>
          <p:nvPr/>
        </p:nvSpPr>
        <p:spPr>
          <a:xfrm>
            <a:off x="8009800" y="2716157"/>
            <a:ext cx="2542951" cy="510778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2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Browser sends ACK</a:t>
            </a:r>
          </a:p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TCP 3-way handshake complete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079D83-63D4-F1AF-80A1-771324CC6C03}"/>
              </a:ext>
            </a:extLst>
          </p:cNvPr>
          <p:cNvSpPr txBox="1"/>
          <p:nvPr/>
        </p:nvSpPr>
        <p:spPr>
          <a:xfrm>
            <a:off x="3004372" y="116297"/>
            <a:ext cx="57389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6"/>
                </a:solidFill>
              </a:rPr>
              <a:t>TCP Connection Establishment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CBECAA56-364C-8B03-358D-C3C6D12F06AE}"/>
              </a:ext>
            </a:extLst>
          </p:cNvPr>
          <p:cNvCxnSpPr>
            <a:cxnSpLocks/>
            <a:stCxn id="5" idx="1"/>
            <a:endCxn id="24" idx="0"/>
          </p:cNvCxnSpPr>
          <p:nvPr/>
        </p:nvCxnSpPr>
        <p:spPr>
          <a:xfrm rot="10800000" flipV="1">
            <a:off x="1741478" y="815056"/>
            <a:ext cx="3209343" cy="1597270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76A532C8-1FA4-A02B-BB39-86A43200C3AB}"/>
              </a:ext>
            </a:extLst>
          </p:cNvPr>
          <p:cNvCxnSpPr>
            <a:cxnSpLocks/>
            <a:stCxn id="117" idx="0"/>
            <a:endCxn id="26" idx="2"/>
          </p:cNvCxnSpPr>
          <p:nvPr/>
        </p:nvCxnSpPr>
        <p:spPr>
          <a:xfrm rot="5400000" flipH="1" flipV="1">
            <a:off x="4829739" y="3848028"/>
            <a:ext cx="1254885" cy="1270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7A95E280-3009-A5BB-15E9-EDB87FFEBBC1}"/>
              </a:ext>
            </a:extLst>
          </p:cNvPr>
          <p:cNvCxnSpPr>
            <a:cxnSpLocks/>
            <a:stCxn id="27" idx="2"/>
            <a:endCxn id="117" idx="3"/>
          </p:cNvCxnSpPr>
          <p:nvPr/>
        </p:nvCxnSpPr>
        <p:spPr>
          <a:xfrm rot="5400000">
            <a:off x="7075203" y="2473708"/>
            <a:ext cx="1452847" cy="2959300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5A9EA99F-B890-CA75-90BF-2B51A3951F82}"/>
              </a:ext>
            </a:extLst>
          </p:cNvPr>
          <p:cNvCxnSpPr>
            <a:cxnSpLocks/>
            <a:stCxn id="26" idx="0"/>
            <a:endCxn id="5" idx="2"/>
          </p:cNvCxnSpPr>
          <p:nvPr/>
        </p:nvCxnSpPr>
        <p:spPr>
          <a:xfrm rot="16200000" flipV="1">
            <a:off x="4586422" y="1839047"/>
            <a:ext cx="1741518" cy="1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EA52EB25-0D15-1BFB-6C04-8655338BE704}"/>
              </a:ext>
            </a:extLst>
          </p:cNvPr>
          <p:cNvSpPr txBox="1"/>
          <p:nvPr/>
        </p:nvSpPr>
        <p:spPr>
          <a:xfrm>
            <a:off x="4592385" y="4475470"/>
            <a:ext cx="1729591" cy="408623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accent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Server</a:t>
            </a:r>
            <a:endParaRPr lang="en-IN" dirty="0">
              <a:solidFill>
                <a:schemeClr val="accent6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cxnSp>
        <p:nvCxnSpPr>
          <p:cNvPr id="133" name="Connector: Elbow 132">
            <a:extLst>
              <a:ext uri="{FF2B5EF4-FFF2-40B4-BE49-F238E27FC236}">
                <a16:creationId xmlns:a16="http://schemas.microsoft.com/office/drawing/2014/main" id="{6E579460-14CE-EE38-0A10-6CC67266B245}"/>
              </a:ext>
            </a:extLst>
          </p:cNvPr>
          <p:cNvCxnSpPr>
            <a:cxnSpLocks/>
            <a:stCxn id="24" idx="2"/>
            <a:endCxn id="117" idx="1"/>
          </p:cNvCxnSpPr>
          <p:nvPr/>
        </p:nvCxnSpPr>
        <p:spPr>
          <a:xfrm rot="16200000" flipH="1">
            <a:off x="2492904" y="2580300"/>
            <a:ext cx="1348055" cy="2850908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: Elbow 145">
            <a:extLst>
              <a:ext uri="{FF2B5EF4-FFF2-40B4-BE49-F238E27FC236}">
                <a16:creationId xmlns:a16="http://schemas.microsoft.com/office/drawing/2014/main" id="{4F6009EE-6A62-AC24-42BA-CF657FCFDED3}"/>
              </a:ext>
            </a:extLst>
          </p:cNvPr>
          <p:cNvCxnSpPr>
            <a:cxnSpLocks/>
            <a:stCxn id="5" idx="3"/>
            <a:endCxn id="27" idx="0"/>
          </p:cNvCxnSpPr>
          <p:nvPr/>
        </p:nvCxnSpPr>
        <p:spPr>
          <a:xfrm>
            <a:off x="5963539" y="815056"/>
            <a:ext cx="3317737" cy="1901101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5616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4DA7E-7B1F-C667-C2B6-2BE28EDC8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DAA81D2-C240-DA03-A036-52536B7658C6}"/>
              </a:ext>
            </a:extLst>
          </p:cNvPr>
          <p:cNvSpPr txBox="1"/>
          <p:nvPr/>
        </p:nvSpPr>
        <p:spPr>
          <a:xfrm>
            <a:off x="5406371" y="2722027"/>
            <a:ext cx="1603529" cy="408623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accent4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Browser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8D33CC-D5E2-CACF-195A-06264B47625C}"/>
              </a:ext>
            </a:extLst>
          </p:cNvPr>
          <p:cNvSpPr txBox="1"/>
          <p:nvPr/>
        </p:nvSpPr>
        <p:spPr>
          <a:xfrm>
            <a:off x="4773019" y="947746"/>
            <a:ext cx="2870232" cy="1532334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2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Certificate validation by browser</a:t>
            </a:r>
          </a:p>
          <a:p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Browser verifies: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Certificate issued by trusted CA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Certificate chain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Domain matches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Certificate not expired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Revocation status (OCSP)</a:t>
            </a:r>
            <a:endParaRPr lang="en-IN" sz="1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935274D3-DC93-0F63-05E8-E8616F44B332}"/>
              </a:ext>
            </a:extLst>
          </p:cNvPr>
          <p:cNvCxnSpPr>
            <a:cxnSpLocks/>
            <a:stCxn id="5" idx="1"/>
            <a:endCxn id="50" idx="0"/>
          </p:cNvCxnSpPr>
          <p:nvPr/>
        </p:nvCxnSpPr>
        <p:spPr>
          <a:xfrm rot="10800000" flipV="1">
            <a:off x="1683617" y="2926338"/>
            <a:ext cx="3722754" cy="1081225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861692EC-CBBD-5DB1-A5FB-6A3E6B3F9AB2}"/>
              </a:ext>
            </a:extLst>
          </p:cNvPr>
          <p:cNvSpPr txBox="1"/>
          <p:nvPr/>
        </p:nvSpPr>
        <p:spPr>
          <a:xfrm>
            <a:off x="213630" y="4007564"/>
            <a:ext cx="2939973" cy="1736646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2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TLS handshake begins</a:t>
            </a:r>
          </a:p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Browser sends:</a:t>
            </a:r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 ClientHello</a:t>
            </a:r>
          </a:p>
          <a:p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Includes: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TLS versions supported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Cipher suites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Random value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SNI (Server Name Indication)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ALPN (HTTP/1.1 or HTTP/2)</a:t>
            </a:r>
            <a:endParaRPr lang="en-IN" sz="1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C482B48-6E42-B0E0-3F7B-832ED2853BAA}"/>
              </a:ext>
            </a:extLst>
          </p:cNvPr>
          <p:cNvSpPr txBox="1"/>
          <p:nvPr/>
        </p:nvSpPr>
        <p:spPr>
          <a:xfrm>
            <a:off x="3771392" y="6110808"/>
            <a:ext cx="1729591" cy="408623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accent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Server</a:t>
            </a:r>
            <a:endParaRPr lang="en-IN" dirty="0">
              <a:solidFill>
                <a:schemeClr val="accent6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6FF8F3F-7760-E41A-0331-F126CA25AC0D}"/>
              </a:ext>
            </a:extLst>
          </p:cNvPr>
          <p:cNvSpPr txBox="1"/>
          <p:nvPr/>
        </p:nvSpPr>
        <p:spPr>
          <a:xfrm>
            <a:off x="3234030" y="4011019"/>
            <a:ext cx="2804318" cy="1328023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2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Server responds with ServerHello</a:t>
            </a:r>
          </a:p>
          <a:p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Server sends: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Selected TLS version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Selected cipher suite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Server certificate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Public key</a:t>
            </a:r>
            <a:endParaRPr lang="en-IN" sz="1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1FBCFF7F-71E9-DEAE-4CF4-E5A2F4072F6F}"/>
              </a:ext>
            </a:extLst>
          </p:cNvPr>
          <p:cNvCxnSpPr>
            <a:cxnSpLocks/>
            <a:stCxn id="50" idx="2"/>
            <a:endCxn id="117" idx="1"/>
          </p:cNvCxnSpPr>
          <p:nvPr/>
        </p:nvCxnSpPr>
        <p:spPr>
          <a:xfrm rot="16200000" flipH="1">
            <a:off x="2442049" y="4985777"/>
            <a:ext cx="570910" cy="2087775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D0D17DE9-2AE2-B149-B2B5-42E1092223D9}"/>
              </a:ext>
            </a:extLst>
          </p:cNvPr>
          <p:cNvCxnSpPr>
            <a:cxnSpLocks/>
            <a:stCxn id="117" idx="0"/>
            <a:endCxn id="118" idx="2"/>
          </p:cNvCxnSpPr>
          <p:nvPr/>
        </p:nvCxnSpPr>
        <p:spPr>
          <a:xfrm rot="5400000" flipH="1" flipV="1">
            <a:off x="4250305" y="5724925"/>
            <a:ext cx="771766" cy="1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894292F0-7CAD-A98B-BDE3-4BBB638A5EE4}"/>
              </a:ext>
            </a:extLst>
          </p:cNvPr>
          <p:cNvCxnSpPr>
            <a:cxnSpLocks/>
            <a:stCxn id="118" idx="0"/>
            <a:endCxn id="5" idx="2"/>
          </p:cNvCxnSpPr>
          <p:nvPr/>
        </p:nvCxnSpPr>
        <p:spPr>
          <a:xfrm rot="5400000" flipH="1" flipV="1">
            <a:off x="4981978" y="2784862"/>
            <a:ext cx="880369" cy="157194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B742216A-D46D-E9F3-A30D-82DDC4463043}"/>
              </a:ext>
            </a:extLst>
          </p:cNvPr>
          <p:cNvCxnSpPr>
            <a:cxnSpLocks/>
            <a:stCxn id="5" idx="0"/>
            <a:endCxn id="11" idx="2"/>
          </p:cNvCxnSpPr>
          <p:nvPr/>
        </p:nvCxnSpPr>
        <p:spPr>
          <a:xfrm rot="16200000" flipV="1">
            <a:off x="6087163" y="2601053"/>
            <a:ext cx="241947" cy="1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643E49C-0CDC-B485-383F-84A47F656A74}"/>
              </a:ext>
            </a:extLst>
          </p:cNvPr>
          <p:cNvSpPr txBox="1"/>
          <p:nvPr/>
        </p:nvSpPr>
        <p:spPr>
          <a:xfrm>
            <a:off x="6375835" y="4011663"/>
            <a:ext cx="3220224" cy="1328023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2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Session key establishment</a:t>
            </a:r>
          </a:p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Both sides derive shared symmetric key</a:t>
            </a:r>
          </a:p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Using: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RSA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Diffie-Hellman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ECDHE</a:t>
            </a: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99CF17F3-3028-8ED3-F4CE-CD75D66B0717}"/>
              </a:ext>
            </a:extLst>
          </p:cNvPr>
          <p:cNvCxnSpPr>
            <a:cxnSpLocks/>
            <a:stCxn id="5" idx="2"/>
            <a:endCxn id="34" idx="0"/>
          </p:cNvCxnSpPr>
          <p:nvPr/>
        </p:nvCxnSpPr>
        <p:spPr>
          <a:xfrm rot="16200000" flipH="1">
            <a:off x="6656535" y="2682250"/>
            <a:ext cx="881013" cy="1777811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4DC69083-2E87-2852-BBEA-30F93170EF0F}"/>
              </a:ext>
            </a:extLst>
          </p:cNvPr>
          <p:cNvCxnSpPr>
            <a:cxnSpLocks/>
            <a:stCxn id="34" idx="2"/>
            <a:endCxn id="117" idx="3"/>
          </p:cNvCxnSpPr>
          <p:nvPr/>
        </p:nvCxnSpPr>
        <p:spPr>
          <a:xfrm rot="5400000">
            <a:off x="6255748" y="4584921"/>
            <a:ext cx="975434" cy="2484964"/>
          </a:xfrm>
          <a:prstGeom prst="bentConnector2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6DBD9150-0F90-7E00-5A3F-C7150975E9C1}"/>
              </a:ext>
            </a:extLst>
          </p:cNvPr>
          <p:cNvSpPr txBox="1"/>
          <p:nvPr/>
        </p:nvSpPr>
        <p:spPr>
          <a:xfrm>
            <a:off x="9715538" y="4011018"/>
            <a:ext cx="2356597" cy="715089"/>
          </a:xfrm>
          <a:prstGeom prst="roundRect">
            <a:avLst/>
          </a:prstGeom>
          <a:solidFill>
            <a:srgbClr val="00B050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2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Secure channel established</a:t>
            </a:r>
          </a:p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Now all traffic uses: </a:t>
            </a:r>
          </a:p>
          <a:p>
            <a:r>
              <a:rPr lang="en-IN" sz="1200" dirty="0"/>
              <a:t>AES / ChaCha20 encryption</a:t>
            </a:r>
            <a:endParaRPr lang="en-IN" sz="1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5B6E81EC-C403-A914-AADC-F27B35298D59}"/>
              </a:ext>
            </a:extLst>
          </p:cNvPr>
          <p:cNvCxnSpPr>
            <a:cxnSpLocks/>
            <a:stCxn id="5" idx="3"/>
            <a:endCxn id="58" idx="0"/>
          </p:cNvCxnSpPr>
          <p:nvPr/>
        </p:nvCxnSpPr>
        <p:spPr>
          <a:xfrm>
            <a:off x="7009900" y="2926339"/>
            <a:ext cx="3883937" cy="1084679"/>
          </a:xfrm>
          <a:prstGeom prst="bentConnector2">
            <a:avLst/>
          </a:prstGeom>
          <a:ln w="28575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45B19E4B-46ED-C383-1FA0-1F8601BAF83A}"/>
              </a:ext>
            </a:extLst>
          </p:cNvPr>
          <p:cNvCxnSpPr>
            <a:cxnSpLocks/>
            <a:stCxn id="58" idx="2"/>
            <a:endCxn id="117" idx="3"/>
          </p:cNvCxnSpPr>
          <p:nvPr/>
        </p:nvCxnSpPr>
        <p:spPr>
          <a:xfrm rot="5400000">
            <a:off x="7402904" y="2824186"/>
            <a:ext cx="1589013" cy="5392854"/>
          </a:xfrm>
          <a:prstGeom prst="bentConnector2">
            <a:avLst/>
          </a:prstGeom>
          <a:ln w="28575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71F9D7F2-48F7-9B47-1726-BFEE3E3ABECE}"/>
              </a:ext>
            </a:extLst>
          </p:cNvPr>
          <p:cNvSpPr txBox="1"/>
          <p:nvPr/>
        </p:nvSpPr>
        <p:spPr>
          <a:xfrm>
            <a:off x="2809739" y="175980"/>
            <a:ext cx="64572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accent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TLS / HTTPS Handshake</a:t>
            </a:r>
          </a:p>
        </p:txBody>
      </p:sp>
    </p:spTree>
    <p:extLst>
      <p:ext uri="{BB962C8B-B14F-4D97-AF65-F5344CB8AC3E}">
        <p14:creationId xmlns:p14="http://schemas.microsoft.com/office/powerpoint/2010/main" val="3701109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6F577-5F5D-CA86-139F-76D6F20EE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EC8980B-95AD-31D6-153D-BF9D9B92F05D}"/>
              </a:ext>
            </a:extLst>
          </p:cNvPr>
          <p:cNvSpPr txBox="1"/>
          <p:nvPr/>
        </p:nvSpPr>
        <p:spPr>
          <a:xfrm>
            <a:off x="5614093" y="661894"/>
            <a:ext cx="1175701" cy="40862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0070C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Browser</a:t>
            </a:r>
            <a:endParaRPr lang="en-IN" dirty="0">
              <a:solidFill>
                <a:srgbClr val="0070C0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A4ED86-FDA3-7207-5A82-A966AE705D82}"/>
              </a:ext>
            </a:extLst>
          </p:cNvPr>
          <p:cNvSpPr txBox="1"/>
          <p:nvPr/>
        </p:nvSpPr>
        <p:spPr>
          <a:xfrm>
            <a:off x="9973462" y="4800156"/>
            <a:ext cx="2079423" cy="1532334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50" b="1" dirty="0">
                <a:latin typeface="Yu Gothic" panose="020B0400000000000000" pitchFamily="34" charset="-128"/>
                <a:ea typeface="Yu Gothic" panose="020B0400000000000000" pitchFamily="34" charset="-128"/>
              </a:rPr>
              <a:t>DNS request sent to recursive resolver</a:t>
            </a:r>
          </a:p>
          <a:p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Request sent to: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ISP DNS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Corporate DNS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Public DNS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Google 8.8.8.8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Cloudflare 1.1.1.1</a:t>
            </a:r>
            <a:endParaRPr lang="en-IN" sz="105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5899F6-72E4-5B3B-1AD4-615C546A49E3}"/>
              </a:ext>
            </a:extLst>
          </p:cNvPr>
          <p:cNvSpPr txBox="1"/>
          <p:nvPr/>
        </p:nvSpPr>
        <p:spPr>
          <a:xfrm>
            <a:off x="8388672" y="2929934"/>
            <a:ext cx="2721557" cy="1174790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050" b="1" dirty="0">
                <a:latin typeface="Yu Gothic" panose="020B0400000000000000" pitchFamily="34" charset="-128"/>
                <a:ea typeface="Yu Gothic" panose="020B0400000000000000" pitchFamily="34" charset="-128"/>
              </a:rPr>
              <a:t>Recursive DNS lookup occurs</a:t>
            </a:r>
          </a:p>
          <a:p>
            <a:r>
              <a:rPr lang="en-IN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Resolver performs lookup: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Root DNS server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TLD DNS server (.com)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Authoritative DNS server</a:t>
            </a:r>
          </a:p>
          <a:p>
            <a:r>
              <a:rPr lang="en-IN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Example: </a:t>
            </a:r>
            <a:r>
              <a:rPr lang="en-IN" sz="1000" dirty="0">
                <a:latin typeface="Yu Gothic" panose="020B0400000000000000" pitchFamily="34" charset="-128"/>
                <a:ea typeface="Yu Gothic" panose="020B0400000000000000" pitchFamily="34" charset="-128"/>
              </a:rPr>
              <a:t>example.com → 34.102.55.10</a:t>
            </a:r>
            <a:endParaRPr lang="en-IN" sz="105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0B944F-502A-DEF4-F41C-B2F3AD94EF58}"/>
              </a:ext>
            </a:extLst>
          </p:cNvPr>
          <p:cNvSpPr txBox="1"/>
          <p:nvPr/>
        </p:nvSpPr>
        <p:spPr>
          <a:xfrm>
            <a:off x="8479125" y="1943557"/>
            <a:ext cx="2988673" cy="664012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050" b="1" dirty="0">
                <a:latin typeface="Yu Gothic" panose="020B0400000000000000" pitchFamily="34" charset="-128"/>
                <a:ea typeface="Yu Gothic" panose="020B0400000000000000" pitchFamily="34" charset="-128"/>
              </a:rPr>
              <a:t>DNS response returned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Resolver sends IP address back to client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Browser caches DNS result (TTL based)</a:t>
            </a:r>
            <a:endParaRPr lang="en-IN" sz="105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F166AB-FC44-1253-234B-08D4E91A4D9D}"/>
              </a:ext>
            </a:extLst>
          </p:cNvPr>
          <p:cNvSpPr txBox="1"/>
          <p:nvPr/>
        </p:nvSpPr>
        <p:spPr>
          <a:xfrm>
            <a:off x="157679" y="1326339"/>
            <a:ext cx="2721557" cy="260496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050" b="1" dirty="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Browser constructs HTTP request</a:t>
            </a:r>
          </a:p>
          <a:p>
            <a:r>
              <a:rPr lang="en-IN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Example request:</a:t>
            </a:r>
          </a:p>
          <a:p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GET /login HTTP/1.1</a:t>
            </a:r>
          </a:p>
          <a:p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Host: example.com</a:t>
            </a:r>
          </a:p>
          <a:p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User-Agent: Chrome</a:t>
            </a:r>
          </a:p>
          <a:p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Accept: text/html</a:t>
            </a:r>
          </a:p>
          <a:p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Cookie: </a:t>
            </a:r>
            <a:r>
              <a:rPr lang="en-US" sz="1050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sessionid</a:t>
            </a:r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=abc123</a:t>
            </a:r>
          </a:p>
          <a:p>
            <a:endParaRPr lang="en-US" sz="105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r>
              <a:rPr lang="en-US" sz="1050" b="1" dirty="0">
                <a:latin typeface="Yu Gothic" panose="020B0400000000000000" pitchFamily="34" charset="-128"/>
                <a:ea typeface="Yu Gothic" panose="020B0400000000000000" pitchFamily="34" charset="-128"/>
              </a:rPr>
              <a:t>Or POST requests:</a:t>
            </a:r>
          </a:p>
          <a:p>
            <a:r>
              <a:rPr lang="fr-FR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POST /login</a:t>
            </a:r>
          </a:p>
          <a:p>
            <a:r>
              <a:rPr lang="fr-FR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Content-Type: application/</a:t>
            </a:r>
            <a:r>
              <a:rPr lang="fr-FR" sz="1050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json</a:t>
            </a:r>
            <a:endParaRPr lang="fr-FR" sz="105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endParaRPr lang="fr-FR" sz="105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r>
              <a:rPr lang="en-US" sz="1050" b="1" dirty="0">
                <a:latin typeface="Yu Gothic" panose="020B0400000000000000" pitchFamily="34" charset="-128"/>
                <a:ea typeface="Yu Gothic" panose="020B0400000000000000" pitchFamily="34" charset="-128"/>
              </a:rPr>
              <a:t>Payload may contain:</a:t>
            </a:r>
          </a:p>
          <a:p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Form data, JSON, tokens etc.</a:t>
            </a:r>
            <a:endParaRPr lang="en-IN" sz="105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D9F3D5-57A6-1828-7139-299B7F064B9A}"/>
              </a:ext>
            </a:extLst>
          </p:cNvPr>
          <p:cNvSpPr txBox="1"/>
          <p:nvPr/>
        </p:nvSpPr>
        <p:spPr>
          <a:xfrm>
            <a:off x="6454647" y="3947531"/>
            <a:ext cx="2749272" cy="817245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050" b="1" dirty="0">
                <a:latin typeface="Yu Gothic" panose="020B0400000000000000" pitchFamily="34" charset="-128"/>
                <a:ea typeface="Yu Gothic" panose="020B0400000000000000" pitchFamily="34" charset="-128"/>
              </a:rPr>
              <a:t>Browser checks local DNS cache:</a:t>
            </a:r>
          </a:p>
          <a:p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Browser cache checked first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If found </a:t>
            </a:r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 Cached IP used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If not found  OS resolver used</a:t>
            </a:r>
            <a:endParaRPr lang="en-US" sz="105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A26BB2-9AA5-6D8E-0142-5156EBCD8ECB}"/>
              </a:ext>
            </a:extLst>
          </p:cNvPr>
          <p:cNvSpPr txBox="1"/>
          <p:nvPr/>
        </p:nvSpPr>
        <p:spPr>
          <a:xfrm>
            <a:off x="1572322" y="5067285"/>
            <a:ext cx="2988673" cy="1174790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050" b="1" dirty="0">
                <a:latin typeface="Yu Gothic" panose="020B0400000000000000" pitchFamily="34" charset="-128"/>
                <a:ea typeface="Yu Gothic" panose="020B0400000000000000" pitchFamily="34" charset="-128"/>
              </a:rPr>
              <a:t>OS DNS resolver checks:</a:t>
            </a:r>
          </a:p>
          <a:p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OS DNS cache checked</a:t>
            </a:r>
          </a:p>
          <a:p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Hosts file checked </a:t>
            </a:r>
            <a:endParaRPr lang="en-US" sz="1050" dirty="0">
              <a:latin typeface="Yu Gothic" panose="020B0400000000000000" pitchFamily="34" charset="-128"/>
              <a:ea typeface="Yu Gothic" panose="020B0400000000000000" pitchFamily="34" charset="-128"/>
              <a:sym typeface="Wingdings" panose="05000000000000000000" pitchFamily="2" charset="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/etc/hosts  Linux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C:/Windows/System32/drivers/etc/hosts  Windows</a:t>
            </a:r>
            <a:endParaRPr lang="en-US" sz="105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4BD1DEB-8B34-A285-7243-318B3C3B9C91}"/>
              </a:ext>
            </a:extLst>
          </p:cNvPr>
          <p:cNvSpPr txBox="1"/>
          <p:nvPr/>
        </p:nvSpPr>
        <p:spPr>
          <a:xfrm>
            <a:off x="157680" y="138674"/>
            <a:ext cx="43236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HTTP Request Creation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27B9D500-CD69-ACD8-D0DD-B46574F4E8E9}"/>
              </a:ext>
            </a:extLst>
          </p:cNvPr>
          <p:cNvCxnSpPr>
            <a:cxnSpLocks/>
            <a:stCxn id="5" idx="1"/>
            <a:endCxn id="24" idx="0"/>
          </p:cNvCxnSpPr>
          <p:nvPr/>
        </p:nvCxnSpPr>
        <p:spPr>
          <a:xfrm rot="10800000" flipV="1">
            <a:off x="1518459" y="866205"/>
            <a:ext cx="4095635" cy="460133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1F253C3A-70E8-AE63-5A18-DCBBBA7BA706}"/>
              </a:ext>
            </a:extLst>
          </p:cNvPr>
          <p:cNvCxnSpPr>
            <a:cxnSpLocks/>
            <a:stCxn id="11" idx="0"/>
            <a:endCxn id="5" idx="2"/>
          </p:cNvCxnSpPr>
          <p:nvPr/>
        </p:nvCxnSpPr>
        <p:spPr>
          <a:xfrm rot="16200000" flipV="1">
            <a:off x="7651183" y="-378722"/>
            <a:ext cx="873040" cy="3771518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23B85A0E-7479-6BF8-5658-9147AD0070EA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 rot="5400000">
            <a:off x="5296717" y="2534718"/>
            <a:ext cx="302509" cy="476262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EA8BB422-CC82-7FE5-5F70-FDFB730FFFB3}"/>
              </a:ext>
            </a:extLst>
          </p:cNvPr>
          <p:cNvCxnSpPr>
            <a:cxnSpLocks/>
            <a:stCxn id="28" idx="2"/>
            <a:endCxn id="6" idx="2"/>
          </p:cNvCxnSpPr>
          <p:nvPr/>
        </p:nvCxnSpPr>
        <p:spPr>
          <a:xfrm rot="16200000" flipH="1">
            <a:off x="6994709" y="2314024"/>
            <a:ext cx="90415" cy="7946515"/>
          </a:xfrm>
          <a:prstGeom prst="bentConnector3">
            <a:avLst>
              <a:gd name="adj1" fmla="val 35283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1B88A731-BFF0-3191-967D-EE427E7C73C8}"/>
              </a:ext>
            </a:extLst>
          </p:cNvPr>
          <p:cNvCxnSpPr>
            <a:cxnSpLocks/>
            <a:stCxn id="6" idx="0"/>
            <a:endCxn id="9" idx="2"/>
          </p:cNvCxnSpPr>
          <p:nvPr/>
        </p:nvCxnSpPr>
        <p:spPr>
          <a:xfrm rot="16200000" flipV="1">
            <a:off x="10033597" y="3820578"/>
            <a:ext cx="695432" cy="1263723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BD19E43C-511A-7B05-2E60-B96BA6B15A4F}"/>
              </a:ext>
            </a:extLst>
          </p:cNvPr>
          <p:cNvCxnSpPr>
            <a:cxnSpLocks/>
            <a:stCxn id="9" idx="0"/>
            <a:endCxn id="11" idx="2"/>
          </p:cNvCxnSpPr>
          <p:nvPr/>
        </p:nvCxnSpPr>
        <p:spPr>
          <a:xfrm rot="5400000" flipH="1" flipV="1">
            <a:off x="9700274" y="2656747"/>
            <a:ext cx="322365" cy="224011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6548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33064-BB24-2663-B0A0-703D8F2A6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457E692-F32E-C81D-384A-C44D55CC59F3}"/>
              </a:ext>
            </a:extLst>
          </p:cNvPr>
          <p:cNvSpPr txBox="1"/>
          <p:nvPr/>
        </p:nvSpPr>
        <p:spPr>
          <a:xfrm>
            <a:off x="3579376" y="91713"/>
            <a:ext cx="2749272" cy="817245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050" b="1" dirty="0">
                <a:latin typeface="Yu Gothic" panose="020B0400000000000000" pitchFamily="34" charset="-128"/>
                <a:ea typeface="Yu Gothic" panose="020B0400000000000000" pitchFamily="34" charset="-128"/>
              </a:rPr>
              <a:t>User enters URL in address bar</a:t>
            </a:r>
          </a:p>
          <a:p>
            <a:r>
              <a:rPr lang="en-IN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https://example.com/login</a:t>
            </a:r>
          </a:p>
          <a:p>
            <a:r>
              <a:rPr lang="en-IN" sz="1050" b="1" dirty="0">
                <a:latin typeface="Yu Gothic" panose="020B0400000000000000" pitchFamily="34" charset="-128"/>
                <a:ea typeface="Yu Gothic" panose="020B0400000000000000" pitchFamily="34" charset="-128"/>
              </a:rPr>
              <a:t>OR</a:t>
            </a:r>
            <a:r>
              <a:rPr lang="en-IN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</a:p>
          <a:p>
            <a:r>
              <a:rPr lang="en-IN" sz="1050" b="1" dirty="0">
                <a:latin typeface="Yu Gothic" panose="020B0400000000000000" pitchFamily="34" charset="-128"/>
                <a:ea typeface="Yu Gothic" panose="020B0400000000000000" pitchFamily="34" charset="-128"/>
              </a:rPr>
              <a:t>Submits form </a:t>
            </a:r>
            <a:r>
              <a:rPr lang="en-IN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(POST request)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B5275E-F7DE-14D6-6F86-24CDDF79C857}"/>
              </a:ext>
            </a:extLst>
          </p:cNvPr>
          <p:cNvSpPr txBox="1"/>
          <p:nvPr/>
        </p:nvSpPr>
        <p:spPr>
          <a:xfrm>
            <a:off x="3387727" y="4656790"/>
            <a:ext cx="2079423" cy="1532334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50" b="1" dirty="0">
                <a:latin typeface="Yu Gothic" panose="020B0400000000000000" pitchFamily="34" charset="-128"/>
                <a:ea typeface="Yu Gothic" panose="020B0400000000000000" pitchFamily="34" charset="-128"/>
              </a:rPr>
              <a:t>DNS request sent to recursive resolver</a:t>
            </a:r>
          </a:p>
          <a:p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Request sent to: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ISP DNS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Corporate DNS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Public DNS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Google 8.8.8.8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Cloudflare 1.1.1.1</a:t>
            </a:r>
            <a:endParaRPr lang="en-IN" sz="105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1255F3-8092-604D-FB2C-0AF71DC671C3}"/>
              </a:ext>
            </a:extLst>
          </p:cNvPr>
          <p:cNvSpPr txBox="1"/>
          <p:nvPr/>
        </p:nvSpPr>
        <p:spPr>
          <a:xfrm>
            <a:off x="9539620" y="6530436"/>
            <a:ext cx="2398950" cy="306467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Request hits perimeter firewall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841F6C-4FA6-C8D3-66D7-5FD3B0C63B1C}"/>
              </a:ext>
            </a:extLst>
          </p:cNvPr>
          <p:cNvSpPr txBox="1"/>
          <p:nvPr/>
        </p:nvSpPr>
        <p:spPr>
          <a:xfrm>
            <a:off x="3066659" y="3075642"/>
            <a:ext cx="2721557" cy="1174790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050" b="1" dirty="0">
                <a:latin typeface="Yu Gothic" panose="020B0400000000000000" pitchFamily="34" charset="-128"/>
                <a:ea typeface="Yu Gothic" panose="020B0400000000000000" pitchFamily="34" charset="-128"/>
              </a:rPr>
              <a:t>Recursive DNS lookup occurs</a:t>
            </a:r>
          </a:p>
          <a:p>
            <a:r>
              <a:rPr lang="en-IN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Resolver performs lookup: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Root DNS server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TLD DNS server (.com)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Authoritative DNS server</a:t>
            </a:r>
          </a:p>
          <a:p>
            <a:r>
              <a:rPr lang="en-IN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Example: </a:t>
            </a:r>
            <a:r>
              <a:rPr lang="en-IN" sz="1000" dirty="0">
                <a:latin typeface="Yu Gothic" panose="020B0400000000000000" pitchFamily="34" charset="-128"/>
                <a:ea typeface="Yu Gothic" panose="020B0400000000000000" pitchFamily="34" charset="-128"/>
              </a:rPr>
              <a:t>example.com → 34.102.55.10</a:t>
            </a:r>
            <a:endParaRPr lang="en-IN" sz="105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ACEAED-EFBD-2D77-5755-1C78A76F2D19}"/>
              </a:ext>
            </a:extLst>
          </p:cNvPr>
          <p:cNvSpPr txBox="1"/>
          <p:nvPr/>
        </p:nvSpPr>
        <p:spPr>
          <a:xfrm>
            <a:off x="2933100" y="1942181"/>
            <a:ext cx="2988673" cy="664012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050" b="1" dirty="0">
                <a:latin typeface="Yu Gothic" panose="020B0400000000000000" pitchFamily="34" charset="-128"/>
                <a:ea typeface="Yu Gothic" panose="020B0400000000000000" pitchFamily="34" charset="-128"/>
              </a:rPr>
              <a:t>DNS response returned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Resolver sends IP address back to client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Browser caches DNS result (TTL based)</a:t>
            </a:r>
            <a:endParaRPr lang="en-IN" sz="105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4088E9-63D6-3DA0-DF70-B2CD65349ADB}"/>
              </a:ext>
            </a:extLst>
          </p:cNvPr>
          <p:cNvSpPr txBox="1"/>
          <p:nvPr/>
        </p:nvSpPr>
        <p:spPr>
          <a:xfrm>
            <a:off x="9579046" y="1191532"/>
            <a:ext cx="2533041" cy="510778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Browser sends ACK</a:t>
            </a:r>
          </a:p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TCP 3-way handshake complete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A9FF01-A5F7-E8EF-86A9-B2C898BF8EF6}"/>
              </a:ext>
            </a:extLst>
          </p:cNvPr>
          <p:cNvSpPr txBox="1"/>
          <p:nvPr/>
        </p:nvSpPr>
        <p:spPr>
          <a:xfrm>
            <a:off x="8158714" y="2224598"/>
            <a:ext cx="2464413" cy="510778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Server responds with SYN-ACK</a:t>
            </a:r>
          </a:p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SYN-ACK returned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DE4FAC-5394-8EB1-2F48-7F5B10CCABB3}"/>
              </a:ext>
            </a:extLst>
          </p:cNvPr>
          <p:cNvSpPr txBox="1"/>
          <p:nvPr/>
        </p:nvSpPr>
        <p:spPr>
          <a:xfrm>
            <a:off x="6463457" y="5756605"/>
            <a:ext cx="1905305" cy="306467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Business logic executes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B7CDE0-63A0-3B62-9B4C-C66BAB7CED3B}"/>
              </a:ext>
            </a:extLst>
          </p:cNvPr>
          <p:cNvSpPr txBox="1"/>
          <p:nvPr/>
        </p:nvSpPr>
        <p:spPr>
          <a:xfrm>
            <a:off x="5641614" y="6377202"/>
            <a:ext cx="2517100" cy="306467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Application prepares SQL query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9959F7-6C0E-190A-F793-8CD5F41C49DE}"/>
              </a:ext>
            </a:extLst>
          </p:cNvPr>
          <p:cNvSpPr txBox="1"/>
          <p:nvPr/>
        </p:nvSpPr>
        <p:spPr>
          <a:xfrm>
            <a:off x="8621538" y="362777"/>
            <a:ext cx="1915016" cy="306467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Connection established.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3AC458-5849-B876-527A-B0E9A7F96B21}"/>
              </a:ext>
            </a:extLst>
          </p:cNvPr>
          <p:cNvSpPr txBox="1"/>
          <p:nvPr/>
        </p:nvSpPr>
        <p:spPr>
          <a:xfrm>
            <a:off x="8699620" y="3931111"/>
            <a:ext cx="2322880" cy="306467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Result returned to application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64CE51-12F6-84C6-63B0-F448F97079E6}"/>
              </a:ext>
            </a:extLst>
          </p:cNvPr>
          <p:cNvSpPr txBox="1"/>
          <p:nvPr/>
        </p:nvSpPr>
        <p:spPr>
          <a:xfrm>
            <a:off x="8678637" y="4442957"/>
            <a:ext cx="2505771" cy="306467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App processes &amp; formats output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91F7D0-3B78-A997-8E2A-04D2967335D9}"/>
              </a:ext>
            </a:extLst>
          </p:cNvPr>
          <p:cNvSpPr txBox="1"/>
          <p:nvPr/>
        </p:nvSpPr>
        <p:spPr>
          <a:xfrm>
            <a:off x="8678637" y="4910321"/>
            <a:ext cx="2565655" cy="306467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Response returned to web server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490913-9BAD-96D5-30EE-0D9383597D71}"/>
              </a:ext>
            </a:extLst>
          </p:cNvPr>
          <p:cNvSpPr txBox="1"/>
          <p:nvPr/>
        </p:nvSpPr>
        <p:spPr>
          <a:xfrm>
            <a:off x="8734223" y="5491387"/>
            <a:ext cx="2678951" cy="306467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Webserver sends HTTPS response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C8AE16-E28C-42E5-0A5F-262F704E27D8}"/>
              </a:ext>
            </a:extLst>
          </p:cNvPr>
          <p:cNvSpPr txBox="1"/>
          <p:nvPr/>
        </p:nvSpPr>
        <p:spPr>
          <a:xfrm>
            <a:off x="8734223" y="6063072"/>
            <a:ext cx="1961953" cy="306467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Browser renders content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1DDD6A-174B-0031-1716-68B10D3E1F38}"/>
              </a:ext>
            </a:extLst>
          </p:cNvPr>
          <p:cNvSpPr txBox="1"/>
          <p:nvPr/>
        </p:nvSpPr>
        <p:spPr>
          <a:xfrm>
            <a:off x="368644" y="450905"/>
            <a:ext cx="2050568" cy="996017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050" b="1" dirty="0">
                <a:latin typeface="Yu Gothic" panose="020B0400000000000000" pitchFamily="34" charset="-128"/>
                <a:ea typeface="Yu Gothic" panose="020B0400000000000000" pitchFamily="34" charset="-128"/>
              </a:rPr>
              <a:t>Browser parses URL: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Protocol → https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Domain → example.com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Path → /login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Query parameters (if any)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7CB4F8-F18B-1A8C-1320-C1F8F6B69466}"/>
              </a:ext>
            </a:extLst>
          </p:cNvPr>
          <p:cNvSpPr txBox="1"/>
          <p:nvPr/>
        </p:nvSpPr>
        <p:spPr>
          <a:xfrm>
            <a:off x="29566" y="1826825"/>
            <a:ext cx="2749272" cy="996017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050" b="1" dirty="0">
                <a:latin typeface="Yu Gothic" panose="020B0400000000000000" pitchFamily="34" charset="-128"/>
                <a:ea typeface="Yu Gothic" panose="020B0400000000000000" pitchFamily="34" charset="-128"/>
              </a:rPr>
              <a:t>Browser checks if: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URL exists in browser cache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DNS already resolved in DNS cache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Existing connection available (HTTP keep-alive)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AD44B8-A5A1-36E3-690B-D23711DA98E2}"/>
              </a:ext>
            </a:extLst>
          </p:cNvPr>
          <p:cNvSpPr txBox="1"/>
          <p:nvPr/>
        </p:nvSpPr>
        <p:spPr>
          <a:xfrm>
            <a:off x="47653" y="3361008"/>
            <a:ext cx="2749272" cy="817245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050" b="1" dirty="0">
                <a:latin typeface="Yu Gothic" panose="020B0400000000000000" pitchFamily="34" charset="-128"/>
                <a:ea typeface="Yu Gothic" panose="020B0400000000000000" pitchFamily="34" charset="-128"/>
              </a:rPr>
              <a:t>Browser checks local DNS cache:</a:t>
            </a:r>
          </a:p>
          <a:p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Browser cache checked first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If found </a:t>
            </a:r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 Cached IP used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If not found  OS resolver used</a:t>
            </a:r>
            <a:endParaRPr lang="en-US" sz="105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BB4012-7D22-893D-A22A-14B500F29C77}"/>
              </a:ext>
            </a:extLst>
          </p:cNvPr>
          <p:cNvSpPr txBox="1"/>
          <p:nvPr/>
        </p:nvSpPr>
        <p:spPr>
          <a:xfrm>
            <a:off x="0" y="4800156"/>
            <a:ext cx="2988673" cy="1174790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050" b="1" dirty="0">
                <a:latin typeface="Yu Gothic" panose="020B0400000000000000" pitchFamily="34" charset="-128"/>
                <a:ea typeface="Yu Gothic" panose="020B0400000000000000" pitchFamily="34" charset="-128"/>
              </a:rPr>
              <a:t>OS DNS resolver checks:</a:t>
            </a:r>
          </a:p>
          <a:p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OS DNS cache checked</a:t>
            </a:r>
          </a:p>
          <a:p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</a:rPr>
              <a:t>Hosts file checked </a:t>
            </a:r>
            <a:endParaRPr lang="en-US" sz="1050" dirty="0">
              <a:latin typeface="Yu Gothic" panose="020B0400000000000000" pitchFamily="34" charset="-128"/>
              <a:ea typeface="Yu Gothic" panose="020B0400000000000000" pitchFamily="34" charset="-128"/>
              <a:sym typeface="Wingdings" panose="05000000000000000000" pitchFamily="2" charset="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/etc/hosts  Linux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C:/Windows/System32/drivers/etc/hosts  Windows</a:t>
            </a:r>
            <a:endParaRPr lang="en-US" sz="105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pic>
        <p:nvPicPr>
          <p:cNvPr id="29" name="Graphic 28" descr="Internet">
            <a:extLst>
              <a:ext uri="{FF2B5EF4-FFF2-40B4-BE49-F238E27FC236}">
                <a16:creationId xmlns:a16="http://schemas.microsoft.com/office/drawing/2014/main" id="{B0A590C9-6AFF-E406-80EA-53D158E518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33844" y="230335"/>
            <a:ext cx="540000" cy="540000"/>
          </a:xfrm>
          <a:prstGeom prst="rect">
            <a:avLst/>
          </a:prstGeom>
          <a:effectLst/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B98749B-9299-2B9A-992B-6EAFEAE95945}"/>
              </a:ext>
            </a:extLst>
          </p:cNvPr>
          <p:cNvSpPr txBox="1"/>
          <p:nvPr/>
        </p:nvSpPr>
        <p:spPr>
          <a:xfrm>
            <a:off x="6003844" y="1108083"/>
            <a:ext cx="2988674" cy="851297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1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Browser initiates TCP connection:</a:t>
            </a:r>
          </a:p>
          <a:p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Browser sends:</a:t>
            </a:r>
          </a:p>
          <a:p>
            <a:r>
              <a:rPr lang="fr-FR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TCP SYN → destination IP: 34.102.55.10</a:t>
            </a:r>
          </a:p>
          <a:p>
            <a:r>
              <a:rPr lang="fr-FR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port: 443</a:t>
            </a:r>
            <a:endParaRPr lang="en-IN" sz="1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2E8AA3A-C13D-5471-9FFF-5E402C2F03EE}"/>
              </a:ext>
            </a:extLst>
          </p:cNvPr>
          <p:cNvSpPr txBox="1"/>
          <p:nvPr/>
        </p:nvSpPr>
        <p:spPr>
          <a:xfrm>
            <a:off x="2406316" y="1103372"/>
            <a:ext cx="228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1"/>
                </a:solidFill>
              </a:rPr>
              <a:t>DNS Resolution phase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B791BDEA-3DC3-FA0D-B3A6-D49C2DA14AC1}"/>
              </a:ext>
            </a:extLst>
          </p:cNvPr>
          <p:cNvCxnSpPr>
            <a:cxnSpLocks/>
            <a:stCxn id="5" idx="1"/>
            <a:endCxn id="24" idx="0"/>
          </p:cNvCxnSpPr>
          <p:nvPr/>
        </p:nvCxnSpPr>
        <p:spPr>
          <a:xfrm rot="10800000">
            <a:off x="1393928" y="450906"/>
            <a:ext cx="2185448" cy="49431"/>
          </a:xfrm>
          <a:prstGeom prst="bentConnector4">
            <a:avLst>
              <a:gd name="adj1" fmla="val 26543"/>
              <a:gd name="adj2" fmla="val 56246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F0C3ABE8-3D54-30F5-16E2-9F5B8BFE038E}"/>
              </a:ext>
            </a:extLst>
          </p:cNvPr>
          <p:cNvCxnSpPr>
            <a:cxnSpLocks/>
            <a:stCxn id="11" idx="0"/>
            <a:endCxn id="5" idx="2"/>
          </p:cNvCxnSpPr>
          <p:nvPr/>
        </p:nvCxnSpPr>
        <p:spPr>
          <a:xfrm rot="5400000" flipH="1" flipV="1">
            <a:off x="4174113" y="1162283"/>
            <a:ext cx="1033223" cy="52657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2D59DC42-04DA-1D2E-F5C8-7CDB99B6BAF9}"/>
              </a:ext>
            </a:extLst>
          </p:cNvPr>
          <p:cNvCxnSpPr>
            <a:cxnSpLocks/>
            <a:stCxn id="24" idx="2"/>
            <a:endCxn id="26" idx="0"/>
          </p:cNvCxnSpPr>
          <p:nvPr/>
        </p:nvCxnSpPr>
        <p:spPr>
          <a:xfrm rot="16200000" flipH="1">
            <a:off x="1209114" y="1631736"/>
            <a:ext cx="379903" cy="1027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D1F19CD6-61B5-6554-EDF0-0E942C068AF4}"/>
              </a:ext>
            </a:extLst>
          </p:cNvPr>
          <p:cNvCxnSpPr>
            <a:cxnSpLocks/>
          </p:cNvCxnSpPr>
          <p:nvPr/>
        </p:nvCxnSpPr>
        <p:spPr>
          <a:xfrm rot="16200000" flipV="1">
            <a:off x="5320270" y="4766600"/>
            <a:ext cx="935892" cy="842454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2A89480C-4E54-CB09-2AB6-43DAADFCE877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 rot="16200000" flipH="1">
            <a:off x="1147362" y="4453180"/>
            <a:ext cx="621903" cy="72048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70654096-6FB1-E416-1585-0F6B8C98AF7E}"/>
              </a:ext>
            </a:extLst>
          </p:cNvPr>
          <p:cNvCxnSpPr>
            <a:cxnSpLocks/>
            <a:stCxn id="28" idx="2"/>
            <a:endCxn id="6" idx="2"/>
          </p:cNvCxnSpPr>
          <p:nvPr/>
        </p:nvCxnSpPr>
        <p:spPr>
          <a:xfrm rot="16200000" flipH="1">
            <a:off x="2853799" y="4615484"/>
            <a:ext cx="214178" cy="2933102"/>
          </a:xfrm>
          <a:prstGeom prst="bentConnector3">
            <a:avLst>
              <a:gd name="adj1" fmla="val 20673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11E4E84A-96BD-1D3F-6AAE-40CD1EF68066}"/>
              </a:ext>
            </a:extLst>
          </p:cNvPr>
          <p:cNvCxnSpPr>
            <a:cxnSpLocks/>
            <a:stCxn id="6" idx="0"/>
            <a:endCxn id="9" idx="2"/>
          </p:cNvCxnSpPr>
          <p:nvPr/>
        </p:nvCxnSpPr>
        <p:spPr>
          <a:xfrm rot="16200000" flipV="1">
            <a:off x="4224260" y="4453610"/>
            <a:ext cx="406358" cy="1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89C1BB56-D578-D539-068A-B0B4F8937886}"/>
              </a:ext>
            </a:extLst>
          </p:cNvPr>
          <p:cNvCxnSpPr>
            <a:cxnSpLocks/>
          </p:cNvCxnSpPr>
          <p:nvPr/>
        </p:nvCxnSpPr>
        <p:spPr>
          <a:xfrm rot="16200000" flipV="1">
            <a:off x="6072065" y="5348625"/>
            <a:ext cx="935892" cy="842454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F74368B2-5A02-B290-BF65-746AE65E7838}"/>
              </a:ext>
            </a:extLst>
          </p:cNvPr>
          <p:cNvCxnSpPr>
            <a:cxnSpLocks/>
            <a:stCxn id="9" idx="0"/>
            <a:endCxn id="11" idx="2"/>
          </p:cNvCxnSpPr>
          <p:nvPr/>
        </p:nvCxnSpPr>
        <p:spPr>
          <a:xfrm rot="16200000" flipV="1">
            <a:off x="4192714" y="2840917"/>
            <a:ext cx="469449" cy="1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02A11FC6-B95D-C957-C7EC-7B913BDB4DD7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 rot="16200000" flipH="1">
            <a:off x="1144162" y="3082881"/>
            <a:ext cx="538166" cy="1808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7996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A2042-F1B7-2924-4C75-1DF8C7C7A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C00D7-90EA-D794-4784-F018935D4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927" y="118546"/>
            <a:ext cx="11747643" cy="477355"/>
          </a:xfrm>
        </p:spPr>
        <p:txBody>
          <a:bodyPr>
            <a:noAutofit/>
          </a:bodyPr>
          <a:lstStyle/>
          <a:p>
            <a:r>
              <a:rPr lang="en-IN" sz="2800" dirty="0"/>
              <a:t>Complete End-to-End Detailed Flow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7227E9-B426-9AA1-8616-49252D321CB8}"/>
              </a:ext>
            </a:extLst>
          </p:cNvPr>
          <p:cNvSpPr txBox="1"/>
          <p:nvPr/>
        </p:nvSpPr>
        <p:spPr>
          <a:xfrm>
            <a:off x="537372" y="986860"/>
            <a:ext cx="2555944" cy="306467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User enters URL or submits 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ADAF56-FFAD-E86F-374E-AFFF36431333}"/>
              </a:ext>
            </a:extLst>
          </p:cNvPr>
          <p:cNvSpPr txBox="1"/>
          <p:nvPr/>
        </p:nvSpPr>
        <p:spPr>
          <a:xfrm>
            <a:off x="537372" y="1611871"/>
            <a:ext cx="2296984" cy="306467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Browser sends HTTP request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B968D5-6ED0-11D8-D5BB-455B6071C271}"/>
              </a:ext>
            </a:extLst>
          </p:cNvPr>
          <p:cNvSpPr txBox="1"/>
          <p:nvPr/>
        </p:nvSpPr>
        <p:spPr>
          <a:xfrm>
            <a:off x="537372" y="2236882"/>
            <a:ext cx="2398950" cy="306467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Request hits perimeter firewall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F3C290-819B-1024-3FFE-D68B85CE89B5}"/>
              </a:ext>
            </a:extLst>
          </p:cNvPr>
          <p:cNvSpPr txBox="1"/>
          <p:nvPr/>
        </p:nvSpPr>
        <p:spPr>
          <a:xfrm>
            <a:off x="537372" y="2822843"/>
            <a:ext cx="2742073" cy="306467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WAF inspects for malicious payload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8046F4-F188-0BD4-72CB-0999587C80D1}"/>
              </a:ext>
            </a:extLst>
          </p:cNvPr>
          <p:cNvSpPr txBox="1"/>
          <p:nvPr/>
        </p:nvSpPr>
        <p:spPr>
          <a:xfrm>
            <a:off x="537372" y="3394784"/>
            <a:ext cx="3075485" cy="306467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Load balancer selects healthy web node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CD61A7-67AC-AD50-8704-B29A8DE689F1}"/>
              </a:ext>
            </a:extLst>
          </p:cNvPr>
          <p:cNvSpPr txBox="1"/>
          <p:nvPr/>
        </p:nvSpPr>
        <p:spPr>
          <a:xfrm>
            <a:off x="537372" y="4008185"/>
            <a:ext cx="2225769" cy="306467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Web server receives request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E44F3A-B0F6-315F-214B-A36FFE438B74}"/>
              </a:ext>
            </a:extLst>
          </p:cNvPr>
          <p:cNvSpPr txBox="1"/>
          <p:nvPr/>
        </p:nvSpPr>
        <p:spPr>
          <a:xfrm>
            <a:off x="537371" y="4563987"/>
            <a:ext cx="2656292" cy="306467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Web server forwards to app server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67F021-520B-1885-8737-DEC4D810924A}"/>
              </a:ext>
            </a:extLst>
          </p:cNvPr>
          <p:cNvSpPr txBox="1"/>
          <p:nvPr/>
        </p:nvSpPr>
        <p:spPr>
          <a:xfrm>
            <a:off x="4449916" y="2822842"/>
            <a:ext cx="3059300" cy="306467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Query sent over secure internal network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CC81C3-918B-26E8-B0D7-623BAAC388E5}"/>
              </a:ext>
            </a:extLst>
          </p:cNvPr>
          <p:cNvSpPr txBox="1"/>
          <p:nvPr/>
        </p:nvSpPr>
        <p:spPr>
          <a:xfrm>
            <a:off x="4603823" y="1213379"/>
            <a:ext cx="1492177" cy="306467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Application server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834EC1-0FF2-75A7-D75F-81AF12190429}"/>
              </a:ext>
            </a:extLst>
          </p:cNvPr>
          <p:cNvSpPr txBox="1"/>
          <p:nvPr/>
        </p:nvSpPr>
        <p:spPr>
          <a:xfrm>
            <a:off x="4553231" y="1761064"/>
            <a:ext cx="1905305" cy="306467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Business logic executes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FBBD1A-2040-7B88-6EAC-76EAFE334770}"/>
              </a:ext>
            </a:extLst>
          </p:cNvPr>
          <p:cNvSpPr txBox="1"/>
          <p:nvPr/>
        </p:nvSpPr>
        <p:spPr>
          <a:xfrm>
            <a:off x="4490996" y="2308749"/>
            <a:ext cx="2517100" cy="306467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Application prepares SQL query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02AB8B-7785-1153-D330-EBC6D26E9235}"/>
              </a:ext>
            </a:extLst>
          </p:cNvPr>
          <p:cNvSpPr txBox="1"/>
          <p:nvPr/>
        </p:nvSpPr>
        <p:spPr>
          <a:xfrm>
            <a:off x="4456393" y="3348975"/>
            <a:ext cx="2010508" cy="306467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Database executes query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E15FE5-8716-BE59-D9EF-00FB535395F7}"/>
              </a:ext>
            </a:extLst>
          </p:cNvPr>
          <p:cNvSpPr txBox="1"/>
          <p:nvPr/>
        </p:nvSpPr>
        <p:spPr>
          <a:xfrm>
            <a:off x="4456393" y="3931111"/>
            <a:ext cx="2322880" cy="306467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Result returned to application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808F0C-4204-2BA7-2420-193023C19D2F}"/>
              </a:ext>
            </a:extLst>
          </p:cNvPr>
          <p:cNvSpPr txBox="1"/>
          <p:nvPr/>
        </p:nvSpPr>
        <p:spPr>
          <a:xfrm>
            <a:off x="4435410" y="4442957"/>
            <a:ext cx="2505771" cy="306467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App processes &amp; formats output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77DD1F-D005-450E-A63E-F6343446A074}"/>
              </a:ext>
            </a:extLst>
          </p:cNvPr>
          <p:cNvSpPr txBox="1"/>
          <p:nvPr/>
        </p:nvSpPr>
        <p:spPr>
          <a:xfrm>
            <a:off x="4435410" y="4910321"/>
            <a:ext cx="2565655" cy="306467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Response returned to web server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1BF403-BBA1-3123-F9ED-60A9ECB8F146}"/>
              </a:ext>
            </a:extLst>
          </p:cNvPr>
          <p:cNvSpPr txBox="1"/>
          <p:nvPr/>
        </p:nvSpPr>
        <p:spPr>
          <a:xfrm>
            <a:off x="4490996" y="5491387"/>
            <a:ext cx="2678951" cy="306467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Webserver sends HTTPS response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262E3D-CF4B-E58C-D98B-2C47B18D5DC2}"/>
              </a:ext>
            </a:extLst>
          </p:cNvPr>
          <p:cNvSpPr txBox="1"/>
          <p:nvPr/>
        </p:nvSpPr>
        <p:spPr>
          <a:xfrm>
            <a:off x="4490996" y="6063072"/>
            <a:ext cx="1961953" cy="306467"/>
          </a:xfrm>
          <a:prstGeom prst="roundRect">
            <a:avLst/>
          </a:prstGeom>
          <a:ln w="190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Browser renders content</a:t>
            </a:r>
          </a:p>
        </p:txBody>
      </p:sp>
    </p:spTree>
    <p:extLst>
      <p:ext uri="{BB962C8B-B14F-4D97-AF65-F5344CB8AC3E}">
        <p14:creationId xmlns:p14="http://schemas.microsoft.com/office/powerpoint/2010/main" val="2332968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A1BD9-CD09-9310-5D71-C0BF5AF2C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9EB1D-B29D-FDA4-5F2D-8A1A80F19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927" y="118546"/>
            <a:ext cx="11747643" cy="477355"/>
          </a:xfrm>
        </p:spPr>
        <p:txBody>
          <a:bodyPr>
            <a:noAutofit/>
          </a:bodyPr>
          <a:lstStyle/>
          <a:p>
            <a:r>
              <a:rPr lang="en-IN" sz="2800" dirty="0"/>
              <a:t>Complete End-to-End Detailed Flow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7109D-0069-DCF0-22F9-EBCB9FCF5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927" y="767386"/>
            <a:ext cx="5613972" cy="5972068"/>
          </a:xfrm>
        </p:spPr>
        <p:txBody>
          <a:bodyPr>
            <a:normAutofit fontScale="47500" lnSpcReduction="20000"/>
          </a:bodyPr>
          <a:lstStyle/>
          <a:p>
            <a:r>
              <a:rPr lang="en-IN" dirty="0"/>
              <a:t>1. User enters URL or submits form</a:t>
            </a:r>
          </a:p>
          <a:p>
            <a:r>
              <a:rPr lang="en-IN" dirty="0"/>
              <a:t>2. Browser sends HTTPS request</a:t>
            </a:r>
          </a:p>
          <a:p>
            <a:r>
              <a:rPr lang="en-IN" dirty="0"/>
              <a:t>3. Request hits perimeter firewall</a:t>
            </a:r>
          </a:p>
          <a:p>
            <a:r>
              <a:rPr lang="en-IN" dirty="0"/>
              <a:t>4. WAF inspects for malicious payload</a:t>
            </a:r>
          </a:p>
          <a:p>
            <a:r>
              <a:rPr lang="en-IN" dirty="0"/>
              <a:t>5. Load balancer selects healthy web node</a:t>
            </a:r>
          </a:p>
          <a:p>
            <a:r>
              <a:rPr lang="en-IN" dirty="0"/>
              <a:t>6. Web server receives request</a:t>
            </a:r>
          </a:p>
          <a:p>
            <a:r>
              <a:rPr lang="en-IN" dirty="0"/>
              <a:t>7. Web server forwards to application server</a:t>
            </a:r>
          </a:p>
          <a:p>
            <a:r>
              <a:rPr lang="en-IN" dirty="0"/>
              <a:t>8. Application server:</a:t>
            </a:r>
          </a:p>
          <a:p>
            <a:r>
              <a:rPr lang="en-IN" dirty="0"/>
              <a:t>      - Authenticates user</a:t>
            </a:r>
          </a:p>
          <a:p>
            <a:r>
              <a:rPr lang="en-IN" dirty="0"/>
              <a:t>      - Validates session/token</a:t>
            </a:r>
          </a:p>
          <a:p>
            <a:r>
              <a:rPr lang="en-IN" dirty="0"/>
              <a:t>      - Checks authorization</a:t>
            </a:r>
          </a:p>
          <a:p>
            <a:r>
              <a:rPr lang="en-IN" dirty="0"/>
              <a:t>      - Validates input</a:t>
            </a:r>
          </a:p>
          <a:p>
            <a:r>
              <a:rPr lang="en-IN" dirty="0"/>
              <a:t>9. Business logic executes</a:t>
            </a:r>
          </a:p>
          <a:p>
            <a:r>
              <a:rPr lang="en-IN" dirty="0"/>
              <a:t>10. Application prepares SQL query</a:t>
            </a:r>
          </a:p>
          <a:p>
            <a:r>
              <a:rPr lang="en-IN" dirty="0"/>
              <a:t>11. Query sent over secure internal network</a:t>
            </a:r>
          </a:p>
          <a:p>
            <a:r>
              <a:rPr lang="en-IN" dirty="0"/>
              <a:t>12. Database executes query</a:t>
            </a:r>
          </a:p>
          <a:p>
            <a:r>
              <a:rPr lang="en-IN" dirty="0"/>
              <a:t>13. Result returned to application</a:t>
            </a:r>
          </a:p>
          <a:p>
            <a:r>
              <a:rPr lang="en-IN" dirty="0"/>
              <a:t>14. Application processes and formats output</a:t>
            </a:r>
          </a:p>
          <a:p>
            <a:r>
              <a:rPr lang="en-IN" dirty="0"/>
              <a:t>15. Response returned to web server</a:t>
            </a:r>
          </a:p>
          <a:p>
            <a:r>
              <a:rPr lang="en-IN" dirty="0"/>
              <a:t>16. Web server sends HTTPS response</a:t>
            </a:r>
          </a:p>
          <a:p>
            <a:r>
              <a:rPr lang="en-IN" dirty="0"/>
              <a:t>17. Browser renders content</a:t>
            </a:r>
          </a:p>
          <a:p>
            <a:endParaRPr lang="en-IN" sz="1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6914CD-4F60-ABA1-B407-4F0843021CA6}"/>
              </a:ext>
            </a:extLst>
          </p:cNvPr>
          <p:cNvSpPr txBox="1">
            <a:spLocks/>
          </p:cNvSpPr>
          <p:nvPr/>
        </p:nvSpPr>
        <p:spPr>
          <a:xfrm>
            <a:off x="5983839" y="767386"/>
            <a:ext cx="5613972" cy="597206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1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✅ Logging &amp; Monitoring Flow</a:t>
            </a:r>
            <a:endParaRPr lang="en-IN" sz="1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1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Web Server Logs  ---&gt;  SIEM</a:t>
            </a:r>
          </a:p>
          <a:p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Application Logs ---&gt;  Log Aggregator</a:t>
            </a:r>
          </a:p>
          <a:p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DB Logs          ---&gt;  Monitoring System</a:t>
            </a:r>
          </a:p>
          <a:p>
            <a:r>
              <a:rPr lang="en-IN" sz="11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✅ Caching Layer (Optional but common)</a:t>
            </a:r>
            <a:endParaRPr lang="en-IN" sz="1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[ Application Server ] </a:t>
            </a:r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 </a:t>
            </a:r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[ Cache (Redis / Memcached) ] </a:t>
            </a:r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 </a:t>
            </a:r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[ Database ]</a:t>
            </a:r>
          </a:p>
          <a:p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Flow:</a:t>
            </a:r>
          </a:p>
          <a:p>
            <a:pPr lvl="1"/>
            <a:r>
              <a:rPr lang="en-IN" sz="700" dirty="0">
                <a:latin typeface="Yu Gothic" panose="020B0400000000000000" pitchFamily="34" charset="-128"/>
                <a:ea typeface="Yu Gothic" panose="020B0400000000000000" pitchFamily="34" charset="-128"/>
              </a:rPr>
              <a:t>Check cache</a:t>
            </a:r>
          </a:p>
          <a:p>
            <a:pPr lvl="1"/>
            <a:r>
              <a:rPr lang="en-IN" sz="700" dirty="0">
                <a:latin typeface="Yu Gothic" panose="020B0400000000000000" pitchFamily="34" charset="-128"/>
                <a:ea typeface="Yu Gothic" panose="020B0400000000000000" pitchFamily="34" charset="-128"/>
              </a:rPr>
              <a:t>If hit → return data</a:t>
            </a:r>
          </a:p>
          <a:p>
            <a:pPr lvl="1"/>
            <a:r>
              <a:rPr lang="en-IN" sz="700" dirty="0">
                <a:latin typeface="Yu Gothic" panose="020B0400000000000000" pitchFamily="34" charset="-128"/>
                <a:ea typeface="Yu Gothic" panose="020B0400000000000000" pitchFamily="34" charset="-128"/>
              </a:rPr>
              <a:t>If miss → query DB → update cache</a:t>
            </a:r>
          </a:p>
          <a:p>
            <a:pPr lvl="0"/>
            <a:endParaRPr lang="en-IN" sz="1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r>
              <a:rPr lang="en-IN" sz="20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✅ High Availability (HA Version)</a:t>
            </a:r>
            <a:endParaRPr lang="en-IN" sz="2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        +----------------------+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        |   Load Balancer      |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        +----------+-----------+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                   |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+------------------+------------------+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|                                     |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[ Web/App Server 1 ]                 [ Web/App Server 2 ]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|                                     |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+------------------+------------------+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                   |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           [ Primary Database ]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                   |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           [ Replica Database ]</a:t>
            </a:r>
          </a:p>
          <a:p>
            <a:pPr lvl="0"/>
            <a:endParaRPr lang="en-IN" sz="1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1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44238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EBF0F-2815-AB60-FD1F-D45F371C3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04CE6-3490-58E7-B137-BDF3564B8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927" y="118546"/>
            <a:ext cx="11747643" cy="477355"/>
          </a:xfrm>
        </p:spPr>
        <p:txBody>
          <a:bodyPr>
            <a:noAutofit/>
          </a:bodyPr>
          <a:lstStyle/>
          <a:p>
            <a:r>
              <a:rPr lang="en-IN" sz="2800" dirty="0"/>
              <a:t>High availability webapp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E3AEA-4D52-D3C4-6F45-30908FB54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927" y="767386"/>
            <a:ext cx="5613972" cy="5972068"/>
          </a:xfrm>
        </p:spPr>
        <p:txBody>
          <a:bodyPr>
            <a:normAutofit fontScale="47500" lnSpcReduction="20000"/>
          </a:bodyPr>
          <a:lstStyle/>
          <a:p>
            <a:r>
              <a:rPr lang="en-IN" dirty="0"/>
              <a:t>1. User enters URL or submits form</a:t>
            </a:r>
          </a:p>
          <a:p>
            <a:r>
              <a:rPr lang="en-IN" dirty="0"/>
              <a:t>2. Browser sends HTTPS request</a:t>
            </a:r>
          </a:p>
          <a:p>
            <a:r>
              <a:rPr lang="en-IN" dirty="0"/>
              <a:t>3. Request hits perimeter firewall</a:t>
            </a:r>
          </a:p>
          <a:p>
            <a:r>
              <a:rPr lang="en-IN" dirty="0"/>
              <a:t>4. WAF inspects for malicious payload</a:t>
            </a:r>
          </a:p>
          <a:p>
            <a:r>
              <a:rPr lang="en-IN" dirty="0"/>
              <a:t>5. Load balancer selects healthy web node</a:t>
            </a:r>
          </a:p>
          <a:p>
            <a:r>
              <a:rPr lang="en-IN" dirty="0"/>
              <a:t>6. Web server receives request</a:t>
            </a:r>
          </a:p>
          <a:p>
            <a:r>
              <a:rPr lang="en-IN" dirty="0"/>
              <a:t>7. Web server forwards to application server</a:t>
            </a:r>
          </a:p>
          <a:p>
            <a:r>
              <a:rPr lang="en-IN" dirty="0"/>
              <a:t>8. Application server:</a:t>
            </a:r>
          </a:p>
          <a:p>
            <a:r>
              <a:rPr lang="en-IN" dirty="0"/>
              <a:t>      - Authenticates user</a:t>
            </a:r>
          </a:p>
          <a:p>
            <a:r>
              <a:rPr lang="en-IN" dirty="0"/>
              <a:t>      - Validates session/token</a:t>
            </a:r>
          </a:p>
          <a:p>
            <a:r>
              <a:rPr lang="en-IN" dirty="0"/>
              <a:t>      - Checks authorization</a:t>
            </a:r>
          </a:p>
          <a:p>
            <a:r>
              <a:rPr lang="en-IN" dirty="0"/>
              <a:t>      - Validates input</a:t>
            </a:r>
          </a:p>
          <a:p>
            <a:r>
              <a:rPr lang="en-IN" dirty="0"/>
              <a:t>9. Business logic executes</a:t>
            </a:r>
          </a:p>
          <a:p>
            <a:r>
              <a:rPr lang="en-IN" dirty="0"/>
              <a:t>10. Application prepares SQL query</a:t>
            </a:r>
          </a:p>
          <a:p>
            <a:r>
              <a:rPr lang="en-IN" dirty="0"/>
              <a:t>11. Query sent over secure internal network</a:t>
            </a:r>
          </a:p>
          <a:p>
            <a:r>
              <a:rPr lang="en-IN" dirty="0"/>
              <a:t>12. Database executes query</a:t>
            </a:r>
          </a:p>
          <a:p>
            <a:r>
              <a:rPr lang="en-IN" dirty="0"/>
              <a:t>13. Result returned to application</a:t>
            </a:r>
          </a:p>
          <a:p>
            <a:r>
              <a:rPr lang="en-IN" dirty="0"/>
              <a:t>14. Application processes and formats output</a:t>
            </a:r>
          </a:p>
          <a:p>
            <a:r>
              <a:rPr lang="en-IN" dirty="0"/>
              <a:t>15. Response returned to web server</a:t>
            </a:r>
          </a:p>
          <a:p>
            <a:r>
              <a:rPr lang="en-IN" dirty="0"/>
              <a:t>16. Web server sends HTTPS response</a:t>
            </a:r>
          </a:p>
          <a:p>
            <a:r>
              <a:rPr lang="en-IN" dirty="0"/>
              <a:t>17. Browser renders content</a:t>
            </a:r>
          </a:p>
          <a:p>
            <a:endParaRPr lang="en-IN" sz="1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2F98410-5EF7-1988-42F1-3D33CFB48728}"/>
              </a:ext>
            </a:extLst>
          </p:cNvPr>
          <p:cNvSpPr txBox="1">
            <a:spLocks/>
          </p:cNvSpPr>
          <p:nvPr/>
        </p:nvSpPr>
        <p:spPr>
          <a:xfrm>
            <a:off x="5983839" y="767386"/>
            <a:ext cx="5613972" cy="597206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1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✅ Logging &amp; Monitoring Flow</a:t>
            </a:r>
            <a:endParaRPr lang="en-IN" sz="1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1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Web Server Logs  ---&gt;  SIEM</a:t>
            </a:r>
          </a:p>
          <a:p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Application Logs ---&gt;  Log Aggregator</a:t>
            </a:r>
          </a:p>
          <a:p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DB Logs          ---&gt;  Monitoring System</a:t>
            </a:r>
          </a:p>
          <a:p>
            <a:r>
              <a:rPr lang="en-IN" sz="11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✅ Caching Layer (Optional but common)</a:t>
            </a:r>
            <a:endParaRPr lang="en-IN" sz="1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[ Application Server ] </a:t>
            </a:r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 </a:t>
            </a:r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[ Cache (Redis / Memcached) ] </a:t>
            </a:r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 </a:t>
            </a:r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[ Database ]</a:t>
            </a:r>
          </a:p>
          <a:p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Flow:</a:t>
            </a:r>
          </a:p>
          <a:p>
            <a:pPr lvl="1"/>
            <a:r>
              <a:rPr lang="en-IN" sz="700" dirty="0">
                <a:latin typeface="Yu Gothic" panose="020B0400000000000000" pitchFamily="34" charset="-128"/>
                <a:ea typeface="Yu Gothic" panose="020B0400000000000000" pitchFamily="34" charset="-128"/>
              </a:rPr>
              <a:t>Check cache</a:t>
            </a:r>
          </a:p>
          <a:p>
            <a:pPr lvl="1"/>
            <a:r>
              <a:rPr lang="en-IN" sz="700" dirty="0">
                <a:latin typeface="Yu Gothic" panose="020B0400000000000000" pitchFamily="34" charset="-128"/>
                <a:ea typeface="Yu Gothic" panose="020B0400000000000000" pitchFamily="34" charset="-128"/>
              </a:rPr>
              <a:t>If hit → return data</a:t>
            </a:r>
          </a:p>
          <a:p>
            <a:pPr lvl="1"/>
            <a:r>
              <a:rPr lang="en-IN" sz="700" dirty="0">
                <a:latin typeface="Yu Gothic" panose="020B0400000000000000" pitchFamily="34" charset="-128"/>
                <a:ea typeface="Yu Gothic" panose="020B0400000000000000" pitchFamily="34" charset="-128"/>
              </a:rPr>
              <a:t>If miss → query DB → update cache</a:t>
            </a:r>
          </a:p>
          <a:p>
            <a:pPr lvl="0"/>
            <a:endParaRPr lang="en-IN" sz="1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r>
              <a:rPr lang="en-IN" sz="20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✅ High Availability (HA Version)</a:t>
            </a:r>
            <a:endParaRPr lang="en-IN" sz="2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        +----------------------+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        |   Load Balancer      |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        +----------+-----------+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                   |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+------------------+------------------+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|                                     |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[ Web/App Server 1 ]                 [ Web/App Server 2 ]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|                                     |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+------------------+------------------+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                   |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           [ Primary Database ]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                   |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           [ Replica Database ]</a:t>
            </a:r>
          </a:p>
          <a:p>
            <a:pPr lvl="0"/>
            <a:endParaRPr lang="en-IN" sz="1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1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76450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719C9-0645-E7FB-7EB6-EFB25E3B3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F423A-1EFB-919C-3CBE-78E15C7DE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927" y="118546"/>
            <a:ext cx="11747643" cy="477355"/>
          </a:xfrm>
        </p:spPr>
        <p:txBody>
          <a:bodyPr>
            <a:noAutofit/>
          </a:bodyPr>
          <a:lstStyle/>
          <a:p>
            <a:r>
              <a:rPr lang="en-IN" sz="2800" dirty="0"/>
              <a:t>Complete End-to-End Detailed Flow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78FC6-A8E2-4210-73C2-D6E17BADF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927" y="767386"/>
            <a:ext cx="5613972" cy="8353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Data Flow Classification (Security View)</a:t>
            </a:r>
            <a:endParaRPr lang="en-IN" sz="1100" b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5795961-6E78-E93C-538E-3958A473E7BC}"/>
              </a:ext>
            </a:extLst>
          </p:cNvPr>
          <p:cNvSpPr txBox="1">
            <a:spLocks/>
          </p:cNvSpPr>
          <p:nvPr/>
        </p:nvSpPr>
        <p:spPr>
          <a:xfrm>
            <a:off x="5983839" y="357223"/>
            <a:ext cx="5613972" cy="2046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b="1" dirty="0"/>
              <a:t>📌 Final Enterprise Data Flow Summary</a:t>
            </a:r>
            <a:endParaRPr lang="en-IN" sz="1200" dirty="0"/>
          </a:p>
          <a:p>
            <a:r>
              <a:rPr lang="en-IN" sz="1200" dirty="0"/>
              <a:t>User → WAF → Load Balancer → Web Server → Application Server → Database</a:t>
            </a:r>
          </a:p>
          <a:p>
            <a:r>
              <a:rPr lang="en-IN" sz="1200" dirty="0"/>
              <a:t>                                                        ↑</a:t>
            </a:r>
          </a:p>
          <a:p>
            <a:r>
              <a:rPr lang="en-IN" sz="1200" dirty="0"/>
              <a:t>                                            Logging / Monitoring</a:t>
            </a:r>
          </a:p>
          <a:p>
            <a:r>
              <a:rPr lang="en-IN" sz="1200" dirty="0"/>
              <a:t>                                                        ↑</a:t>
            </a:r>
          </a:p>
          <a:p>
            <a:r>
              <a:rPr lang="en-IN" sz="1200" dirty="0"/>
              <a:t>                                                  Security Controls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19AC1C8-5061-02F6-1715-BFE97C1698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134755"/>
              </p:ext>
            </p:extLst>
          </p:nvPr>
        </p:nvGraphicFramePr>
        <p:xfrm>
          <a:off x="594189" y="1335151"/>
          <a:ext cx="4750942" cy="12801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00129">
                  <a:extLst>
                    <a:ext uri="{9D8B030D-6E8A-4147-A177-3AD203B41FA5}">
                      <a16:colId xmlns:a16="http://schemas.microsoft.com/office/drawing/2014/main" val="2710564923"/>
                    </a:ext>
                  </a:extLst>
                </a:gridCol>
                <a:gridCol w="1694897">
                  <a:extLst>
                    <a:ext uri="{9D8B030D-6E8A-4147-A177-3AD203B41FA5}">
                      <a16:colId xmlns:a16="http://schemas.microsoft.com/office/drawing/2014/main" val="2246001218"/>
                    </a:ext>
                  </a:extLst>
                </a:gridCol>
                <a:gridCol w="1355916">
                  <a:extLst>
                    <a:ext uri="{9D8B030D-6E8A-4147-A177-3AD203B41FA5}">
                      <a16:colId xmlns:a16="http://schemas.microsoft.com/office/drawing/2014/main" val="25177247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Data Type</a:t>
                      </a:r>
                      <a:endParaRPr lang="en-IN" sz="12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Flow Path</a:t>
                      </a:r>
                      <a:endParaRPr lang="en-IN" sz="12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Risk</a:t>
                      </a:r>
                      <a:endParaRPr lang="en-IN" sz="12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09027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Credentials</a:t>
                      </a:r>
                      <a:endParaRPr lang="en-IN" sz="12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Browser → App</a:t>
                      </a:r>
                      <a:endParaRPr lang="en-IN" sz="1200" kern="100" dirty="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Credential theft</a:t>
                      </a:r>
                      <a:endParaRPr lang="en-IN" sz="12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470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Session Cookie</a:t>
                      </a:r>
                      <a:endParaRPr lang="en-IN" sz="12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Browser ↔ Web</a:t>
                      </a:r>
                      <a:endParaRPr lang="en-IN" sz="12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Session hijacking</a:t>
                      </a:r>
                      <a:endParaRPr lang="en-IN" sz="12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78551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Business Data</a:t>
                      </a:r>
                      <a:endParaRPr lang="en-IN" sz="12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App ↔ DB</a:t>
                      </a:r>
                      <a:endParaRPr lang="en-IN" sz="12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SQL injection</a:t>
                      </a:r>
                      <a:endParaRPr lang="en-IN" sz="12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2962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Logs</a:t>
                      </a:r>
                      <a:endParaRPr lang="en-IN" sz="12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App → SIEM</a:t>
                      </a:r>
                      <a:endParaRPr lang="en-IN" sz="12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Log tampering</a:t>
                      </a:r>
                      <a:endParaRPr lang="en-IN" sz="12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5338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Secrets</a:t>
                      </a:r>
                      <a:endParaRPr lang="en-IN" sz="12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App Config</a:t>
                      </a:r>
                      <a:endParaRPr lang="en-IN" sz="12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Secret leakage</a:t>
                      </a:r>
                      <a:endParaRPr lang="en-IN" sz="1200" kern="100" dirty="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99164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AD0BADD-5793-5D5B-3BC4-CA4A65466571}"/>
              </a:ext>
            </a:extLst>
          </p:cNvPr>
          <p:cNvSpPr txBox="1"/>
          <p:nvPr/>
        </p:nvSpPr>
        <p:spPr>
          <a:xfrm>
            <a:off x="594189" y="3195263"/>
            <a:ext cx="3618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🔹 Where Attacks Typically Happen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19F2356-605C-398B-AEFC-232B65139F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587839"/>
              </p:ext>
            </p:extLst>
          </p:nvPr>
        </p:nvGraphicFramePr>
        <p:xfrm>
          <a:off x="930667" y="4006432"/>
          <a:ext cx="3836541" cy="170688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532372">
                  <a:extLst>
                    <a:ext uri="{9D8B030D-6E8A-4147-A177-3AD203B41FA5}">
                      <a16:colId xmlns:a16="http://schemas.microsoft.com/office/drawing/2014/main" val="3614372456"/>
                    </a:ext>
                  </a:extLst>
                </a:gridCol>
                <a:gridCol w="2304169">
                  <a:extLst>
                    <a:ext uri="{9D8B030D-6E8A-4147-A177-3AD203B41FA5}">
                      <a16:colId xmlns:a16="http://schemas.microsoft.com/office/drawing/2014/main" val="40744716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Layer</a:t>
                      </a:r>
                      <a:endParaRPr lang="en-IN" sz="16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Common Attacks</a:t>
                      </a:r>
                      <a:endParaRPr lang="en-IN" sz="16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3535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Browser</a:t>
                      </a:r>
                      <a:endParaRPr lang="en-IN" sz="16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XSS</a:t>
                      </a:r>
                      <a:endParaRPr lang="en-IN" sz="16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7400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Web Server</a:t>
                      </a:r>
                      <a:endParaRPr lang="en-IN" sz="16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Request smuggling</a:t>
                      </a:r>
                      <a:endParaRPr lang="en-IN" sz="16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00979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App Server</a:t>
                      </a:r>
                      <a:endParaRPr lang="en-IN" sz="16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kern="100" dirty="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RCE, deserialization</a:t>
                      </a:r>
                      <a:endParaRPr lang="en-IN" sz="1600" kern="100" dirty="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8119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Database</a:t>
                      </a:r>
                      <a:endParaRPr lang="en-IN" sz="16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SQL injection</a:t>
                      </a:r>
                      <a:endParaRPr lang="en-IN" sz="16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4879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Network</a:t>
                      </a:r>
                      <a:endParaRPr lang="en-IN" sz="16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kern="100" dirty="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MITM (if misconfigured)</a:t>
                      </a:r>
                      <a:endParaRPr lang="en-IN" sz="1600" kern="100" dirty="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52695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2822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AD1FF-C93D-F3C3-4872-A01623AA2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3405F-E6D0-C7EE-291B-4D8B86A8B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75" y="180191"/>
            <a:ext cx="11757917" cy="600645"/>
          </a:xfrm>
        </p:spPr>
        <p:txBody>
          <a:bodyPr>
            <a:noAutofit/>
          </a:bodyPr>
          <a:lstStyle/>
          <a:p>
            <a:r>
              <a:rPr lang="en-US" sz="3200" dirty="0"/>
              <a:t>Single Page Application (SPA) Workflow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21440-2E98-1B47-FD95-2853E5648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475" y="993417"/>
            <a:ext cx="11757916" cy="568439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User Browser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SPA Frontend (React/Angular/Vue)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REST / GraphQL API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Backend Services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Database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JSON Response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Dynamic UI Update ]</a:t>
            </a:r>
          </a:p>
        </p:txBody>
      </p:sp>
    </p:spTree>
    <p:extLst>
      <p:ext uri="{BB962C8B-B14F-4D97-AF65-F5344CB8AC3E}">
        <p14:creationId xmlns:p14="http://schemas.microsoft.com/office/powerpoint/2010/main" val="82206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D37B7-7004-1AF0-5209-148FA238A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1678A-1EC4-B4E5-07FD-3879020C3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75" y="180191"/>
            <a:ext cx="11757917" cy="600645"/>
          </a:xfrm>
        </p:spPr>
        <p:txBody>
          <a:bodyPr>
            <a:noAutofit/>
          </a:bodyPr>
          <a:lstStyle/>
          <a:p>
            <a:r>
              <a:rPr lang="en-US" sz="3200" dirty="0"/>
              <a:t>Microservices Architecture Workflow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CCEA6-D2D7-387C-1739-D76E48A07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475" y="993417"/>
            <a:ext cx="4925604" cy="568439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Client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API Gateway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+----------------------+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          |   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          </a:t>
            </a:r>
            <a:r>
              <a:rPr lang="en-IN" sz="1400" dirty="0" err="1"/>
              <a:t>v</a:t>
            </a:r>
            <a:r>
              <a:rPr lang="en-IN" sz="1400" dirty="0"/>
              <a:t>           </a:t>
            </a:r>
            <a:r>
              <a:rPr lang="en-IN" sz="1400" dirty="0" err="1"/>
              <a:t>v</a:t>
            </a:r>
            <a:endParaRPr lang="en-IN" sz="14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Service A ] [ Service B ] [ Service C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              |      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              </a:t>
            </a:r>
            <a:r>
              <a:rPr lang="en-IN" sz="1400" dirty="0" err="1"/>
              <a:t>v</a:t>
            </a:r>
            <a:r>
              <a:rPr lang="en-IN" sz="1400" dirty="0"/>
              <a:t>              </a:t>
            </a:r>
            <a:r>
              <a:rPr lang="en-IN" sz="1400" dirty="0" err="1"/>
              <a:t>v</a:t>
            </a:r>
            <a:endParaRPr lang="en-IN" sz="14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[ DB A ]        [ DB B ]       [ DB C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+------------------------------+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    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    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     [ Aggregated Response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    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    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        [ Client ]</a:t>
            </a:r>
          </a:p>
        </p:txBody>
      </p:sp>
    </p:spTree>
    <p:extLst>
      <p:ext uri="{BB962C8B-B14F-4D97-AF65-F5344CB8AC3E}">
        <p14:creationId xmlns:p14="http://schemas.microsoft.com/office/powerpoint/2010/main" val="18896829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9F2FD-1F34-4C07-61C0-44696395E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67C74-8201-8EC2-BA73-154E2C89D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75" y="180191"/>
            <a:ext cx="11757917" cy="600645"/>
          </a:xfrm>
        </p:spPr>
        <p:txBody>
          <a:bodyPr>
            <a:noAutofit/>
          </a:bodyPr>
          <a:lstStyle/>
          <a:p>
            <a:r>
              <a:rPr lang="en-US" sz="3200" dirty="0"/>
              <a:t>Serverless Web Application Workflow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86C33-BEB0-23B1-9178-F22425EC2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475" y="993417"/>
            <a:ext cx="4925604" cy="568439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User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CDN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Static Frontend Hosting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API Gateway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Serverless Function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Cloud Database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Response to User ]</a:t>
            </a:r>
          </a:p>
        </p:txBody>
      </p:sp>
    </p:spTree>
    <p:extLst>
      <p:ext uri="{BB962C8B-B14F-4D97-AF65-F5344CB8AC3E}">
        <p14:creationId xmlns:p14="http://schemas.microsoft.com/office/powerpoint/2010/main" val="41676790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23AAD-38C8-454C-EAE7-367510386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8188F-DD5A-AB4A-206F-20AC49AF2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75" y="180191"/>
            <a:ext cx="11757917" cy="600645"/>
          </a:xfrm>
        </p:spPr>
        <p:txBody>
          <a:bodyPr>
            <a:noAutofit/>
          </a:bodyPr>
          <a:lstStyle/>
          <a:p>
            <a:r>
              <a:rPr lang="en-US" sz="3200" dirty="0"/>
              <a:t>Monolithic Application Workflow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A2D85-6694-5ADE-3525-E85078CAD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475" y="993417"/>
            <a:ext cx="4925604" cy="568439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Client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Monolithic Application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(UI + Logic + Data Access)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Database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Response ]</a:t>
            </a:r>
          </a:p>
        </p:txBody>
      </p:sp>
    </p:spTree>
    <p:extLst>
      <p:ext uri="{BB962C8B-B14F-4D97-AF65-F5344CB8AC3E}">
        <p14:creationId xmlns:p14="http://schemas.microsoft.com/office/powerpoint/2010/main" val="424153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BD03D-83F6-B03A-98AD-0C9E48717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1FC64-694C-90C8-A130-91113048D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75" y="180191"/>
            <a:ext cx="11757917" cy="600645"/>
          </a:xfrm>
        </p:spPr>
        <p:txBody>
          <a:bodyPr>
            <a:noAutofit/>
          </a:bodyPr>
          <a:lstStyle/>
          <a:p>
            <a:r>
              <a:rPr lang="en-US" sz="3200" dirty="0"/>
              <a:t>Event-Driven Web Application Workflow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EE44D-DA61-B9A4-6291-CF1D73F11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475" y="993417"/>
            <a:ext cx="4925604" cy="568439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User Action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Web Application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Event / Message Queue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+------------------------+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|                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v                        </a:t>
            </a:r>
            <a:r>
              <a:rPr lang="en-IN" sz="1400" dirty="0" err="1"/>
              <a:t>v</a:t>
            </a:r>
            <a:endParaRPr lang="en-IN" sz="14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Consumer Service A ]   [ Consumer Service B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|                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v                        </a:t>
            </a:r>
            <a:r>
              <a:rPr lang="en-IN" sz="1400" dirty="0" err="1"/>
              <a:t>v</a:t>
            </a:r>
            <a:endParaRPr lang="en-IN" sz="14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[ Database ]            [ Notification Service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                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                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                   [ WebSocket Update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                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                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                      [ User ]</a:t>
            </a:r>
          </a:p>
        </p:txBody>
      </p:sp>
    </p:spTree>
    <p:extLst>
      <p:ext uri="{BB962C8B-B14F-4D97-AF65-F5344CB8AC3E}">
        <p14:creationId xmlns:p14="http://schemas.microsoft.com/office/powerpoint/2010/main" val="18799984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E657F-522F-3628-433D-FA262D737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311C1-6885-2ACA-2E53-BFCAA34E2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75" y="180191"/>
            <a:ext cx="11757917" cy="600645"/>
          </a:xfrm>
        </p:spPr>
        <p:txBody>
          <a:bodyPr>
            <a:noAutofit/>
          </a:bodyPr>
          <a:lstStyle/>
          <a:p>
            <a:r>
              <a:rPr lang="en-US" sz="3200" dirty="0"/>
              <a:t>DevSecOps CI/CD Workflow (Enterprise)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32242-30A4-C189-E287-39A899A93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475" y="993417"/>
            <a:ext cx="4925604" cy="568439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Developer Commit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Source Control (Git)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CI Pipeline Triggered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+--&gt; SAST Scan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+--&gt; Dependency Scan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Build &amp; Containerization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+--&gt; Container Security Scan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Deploy to Staging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+--&gt; DAST / Integration Tests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Production Deployment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Continuous Monitoring ]</a:t>
            </a:r>
          </a:p>
        </p:txBody>
      </p:sp>
    </p:spTree>
    <p:extLst>
      <p:ext uri="{BB962C8B-B14F-4D97-AF65-F5344CB8AC3E}">
        <p14:creationId xmlns:p14="http://schemas.microsoft.com/office/powerpoint/2010/main" val="41048396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8018A-0CFD-116E-09E9-9871FEA60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8CE8A-EBBA-71CC-BB92-4BCA15BED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75" y="180191"/>
            <a:ext cx="11757917" cy="600645"/>
          </a:xfrm>
        </p:spPr>
        <p:txBody>
          <a:bodyPr>
            <a:noAutofit/>
          </a:bodyPr>
          <a:lstStyle/>
          <a:p>
            <a:r>
              <a:rPr lang="en-US" sz="3200" dirty="0"/>
              <a:t>Multi-Region Global Workflow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0A8BE-9F5F-F4AE-91C2-0E7E8D86C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475" y="993417"/>
            <a:ext cx="4925604" cy="568439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User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Global DNS (Geo Routing)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+------------------------------+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                      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                              </a:t>
            </a:r>
            <a:r>
              <a:rPr lang="en-IN" sz="1400" dirty="0" err="1"/>
              <a:t>v</a:t>
            </a:r>
            <a:endParaRPr lang="en-IN" sz="14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Region A ]                  [ Region B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                      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Load Balancer ]            [ Load Balancer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                      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App Cluster ]              [ App Cluster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                      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Regional DB ] &lt;----Replication----&gt; [ Regional DB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Response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8766513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B6B45-42E8-1241-88F4-9E5C562B9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3FE0F-A403-B80B-7CBF-4BFD3E0FE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75" y="180191"/>
            <a:ext cx="11757917" cy="600645"/>
          </a:xfrm>
        </p:spPr>
        <p:txBody>
          <a:bodyPr>
            <a:noAutofit/>
          </a:bodyPr>
          <a:lstStyle/>
          <a:p>
            <a:r>
              <a:rPr lang="en-US" sz="3200" dirty="0"/>
              <a:t>B2B Enterprise API Workflow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68D66-3083-0AC3-9A90-EC75B22C3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475" y="993417"/>
            <a:ext cx="4925604" cy="568439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Partner System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Secure API Endpoint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+--&gt; </a:t>
            </a:r>
            <a:r>
              <a:rPr lang="en-IN" sz="1400" dirty="0" err="1"/>
              <a:t>mTLS</a:t>
            </a:r>
            <a:r>
              <a:rPr lang="en-IN" sz="1400" dirty="0"/>
              <a:t> / OAuth Validation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+--&gt; Rate Limiting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+--&gt; Policy Enforcement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Backend Processing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Audit Logging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Response to Partner ]</a:t>
            </a:r>
          </a:p>
        </p:txBody>
      </p:sp>
    </p:spTree>
    <p:extLst>
      <p:ext uri="{BB962C8B-B14F-4D97-AF65-F5344CB8AC3E}">
        <p14:creationId xmlns:p14="http://schemas.microsoft.com/office/powerpoint/2010/main" val="10588098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E5B1F-44DB-785A-97EB-E3679112B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D4D73-87F1-8B52-5532-1E52E121F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75" y="180191"/>
            <a:ext cx="11757917" cy="600645"/>
          </a:xfrm>
        </p:spPr>
        <p:txBody>
          <a:bodyPr>
            <a:noAutofit/>
          </a:bodyPr>
          <a:lstStyle/>
          <a:p>
            <a:r>
              <a:rPr lang="en-US" sz="3200" dirty="0"/>
              <a:t>Zero Trust Web Application Workflow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C532B-0B1F-72BA-9D83-592F20D5C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475" y="993417"/>
            <a:ext cx="4925604" cy="568439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User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Identity Provider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+--&gt; MFA Verification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+--&gt; Device Compliance Check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+--&gt; Conditional Access Policy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Policy Decision Point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Micro-Segmented Application Access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Continuous Monitoring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596809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41C74-71B9-D04D-45E8-D7AA2A793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B20AB-206E-A3EB-DE62-06074359E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75" y="180191"/>
            <a:ext cx="11757917" cy="600645"/>
          </a:xfrm>
        </p:spPr>
        <p:txBody>
          <a:bodyPr>
            <a:noAutofit/>
          </a:bodyPr>
          <a:lstStyle/>
          <a:p>
            <a:r>
              <a:rPr lang="en-US" sz="3200" dirty="0"/>
              <a:t>Hybrid Cloud Workflow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B6E20-A852-B845-98AE-17B41070B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475" y="993417"/>
            <a:ext cx="4925604" cy="568439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User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Cloud Frontend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Secure Tunnel (VPN / Private Link)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On-Prem Application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On-Prem Database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Response to User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5171840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CF72B-F280-3075-FA93-2A5E9A7F9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5F374-6F43-D808-AADA-A777F1A4C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75" y="180191"/>
            <a:ext cx="11757917" cy="600645"/>
          </a:xfrm>
        </p:spPr>
        <p:txBody>
          <a:bodyPr>
            <a:noAutofit/>
          </a:bodyPr>
          <a:lstStyle/>
          <a:p>
            <a:r>
              <a:rPr lang="en-US" sz="3200" dirty="0"/>
              <a:t>Data-Intensive Analytics Workflow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6835D-6A23-3F96-CE08-5A6E69B5C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475" y="993417"/>
            <a:ext cx="4925604" cy="568439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User Dashboard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API Layer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Data Warehouse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Aggregation Engine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Caching Layer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Visualization Response ]</a:t>
            </a:r>
          </a:p>
        </p:txBody>
      </p:sp>
    </p:spTree>
    <p:extLst>
      <p:ext uri="{BB962C8B-B14F-4D97-AF65-F5344CB8AC3E}">
        <p14:creationId xmlns:p14="http://schemas.microsoft.com/office/powerpoint/2010/main" val="423157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2749</Words>
  <Application>Microsoft Office PowerPoint</Application>
  <PresentationFormat>Widescreen</PresentationFormat>
  <Paragraphs>735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Yu Gothic</vt:lpstr>
      <vt:lpstr>Arial</vt:lpstr>
      <vt:lpstr>Calibri</vt:lpstr>
      <vt:lpstr>Calibri Light</vt:lpstr>
      <vt:lpstr>Wingdings</vt:lpstr>
      <vt:lpstr>Office Theme</vt:lpstr>
      <vt:lpstr>Enterprise web application workflows </vt:lpstr>
      <vt:lpstr>Types of enterprise webapp workflows</vt:lpstr>
      <vt:lpstr>Traditional 3-Tier Architecture (Multi-Tier)</vt:lpstr>
      <vt:lpstr>Data flow</vt:lpstr>
      <vt:lpstr>PowerPoint Presentation</vt:lpstr>
      <vt:lpstr>Complete End-to-End detailed Application Flow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Complete End-to-End Detailed Flow </vt:lpstr>
      <vt:lpstr>Complete End-to-End Detailed Flow </vt:lpstr>
      <vt:lpstr>High availability webapp</vt:lpstr>
      <vt:lpstr>Complete End-to-End Detailed Flow </vt:lpstr>
      <vt:lpstr>Single Page Application (SPA) Workflow</vt:lpstr>
      <vt:lpstr>Microservices Architecture Workflow</vt:lpstr>
      <vt:lpstr>Serverless Web Application Workflow</vt:lpstr>
      <vt:lpstr>Monolithic Application Workflow</vt:lpstr>
      <vt:lpstr>Event-Driven Web Application Workflow</vt:lpstr>
      <vt:lpstr>DevSecOps CI/CD Workflow (Enterprise)</vt:lpstr>
      <vt:lpstr>Multi-Region Global Workflow</vt:lpstr>
      <vt:lpstr>B2B Enterprise API Workflow</vt:lpstr>
      <vt:lpstr>Zero Trust Web Application Workflow</vt:lpstr>
      <vt:lpstr>Hybrid Cloud Workflow</vt:lpstr>
      <vt:lpstr>Data-Intensive Analytics 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sandeep j0352</dc:creator>
  <cp:lastModifiedBy>sandeep j0352</cp:lastModifiedBy>
  <cp:revision>202</cp:revision>
  <dcterms:created xsi:type="dcterms:W3CDTF">2026-03-03T15:45:56Z</dcterms:created>
  <dcterms:modified xsi:type="dcterms:W3CDTF">2026-03-04T13:22:36Z</dcterms:modified>
</cp:coreProperties>
</file>